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93D"/>
        </a:solidFill>
      </p:bgPr>
    </p:bg>
    <p:spTree>
      <p:nvGrpSpPr>
        <p:cNvPr id="1" name=""/>
        <p:cNvGrpSpPr/>
        <p:nvPr/>
      </p:nvGrpSpPr>
      <p:grpSpPr>
        <a:xfrm>
          <a:off x="0" y="0"/>
          <a:ext cx="0" cy="0"/>
          <a:chOff x="0" y="0"/>
          <a:chExt cx="0" cy="0"/>
        </a:xfrm>
      </p:grpSpPr>
      <p:sp>
        <p:nvSpPr>
          <p:cNvPr id="2" name="Shape 0"/>
          <p:cNvSpPr/>
          <p:nvPr/>
        </p:nvSpPr>
        <p:spPr>
          <a:xfrm>
            <a:off x="0" y="2194560"/>
            <a:ext cx="457200" cy="2468880"/>
          </a:xfrm>
          <a:prstGeom prst="rect">
            <a:avLst/>
          </a:prstGeom>
          <a:solidFill>
            <a:srgbClr val="B85042"/>
          </a:solidFill>
          <a:ln w="12700">
            <a:solidFill>
              <a:srgbClr val="B85042"/>
            </a:solidFill>
            <a:prstDash val="solid"/>
          </a:ln>
        </p:spPr>
      </p:sp>
      <p:sp>
        <p:nvSpPr>
          <p:cNvPr id="3" name="Text 1"/>
          <p:cNvSpPr/>
          <p:nvPr/>
        </p:nvSpPr>
        <p:spPr>
          <a:xfrm>
            <a:off x="914400" y="2286000"/>
            <a:ext cx="10515600" cy="640080"/>
          </a:xfrm>
          <a:prstGeom prst="rect">
            <a:avLst/>
          </a:prstGeom>
          <a:noFill/>
          <a:ln/>
        </p:spPr>
        <p:txBody>
          <a:bodyPr wrap="square" lIns="0" tIns="0" rIns="0" bIns="0" rtlCol="0" anchor="ctr"/>
          <a:lstStyle/>
          <a:p>
            <a:pPr indent="0" marL="0">
              <a:buNone/>
            </a:pPr>
            <a:r>
              <a:rPr lang="en-US" sz="2000" spc="800" kern="0" dirty="0">
                <a:solidFill>
                  <a:srgbClr val="CADCFC"/>
                </a:solidFill>
                <a:latin typeface="Calibri" pitchFamily="34" charset="0"/>
                <a:ea typeface="Calibri" pitchFamily="34" charset="-122"/>
                <a:cs typeface="Calibri" pitchFamily="34" charset="-120"/>
              </a:rPr>
              <a:t>ETHICAL DECISION-MAKING</a:t>
            </a:r>
            <a:endParaRPr lang="en-US" sz="2000" dirty="0"/>
          </a:p>
        </p:txBody>
      </p:sp>
      <p:sp>
        <p:nvSpPr>
          <p:cNvPr id="4" name="Text 2"/>
          <p:cNvSpPr/>
          <p:nvPr/>
        </p:nvSpPr>
        <p:spPr>
          <a:xfrm>
            <a:off x="914400" y="2743200"/>
            <a:ext cx="10515600" cy="1280160"/>
          </a:xfrm>
          <a:prstGeom prst="rect">
            <a:avLst/>
          </a:prstGeom>
          <a:noFill/>
          <a:ln/>
        </p:spPr>
        <p:txBody>
          <a:bodyPr wrap="square" lIns="0" tIns="0" rIns="0" bIns="0" rtlCol="0" anchor="ctr"/>
          <a:lstStyle/>
          <a:p>
            <a:pPr indent="0" marL="0">
              <a:buNone/>
            </a:pPr>
            <a:r>
              <a:rPr lang="en-US" sz="8000" b="1" i="1" dirty="0">
                <a:solidFill>
                  <a:srgbClr val="FFFFFF"/>
                </a:solidFill>
                <a:latin typeface="Cambria" pitchFamily="34" charset="0"/>
                <a:ea typeface="Cambria" pitchFamily="34" charset="-122"/>
                <a:cs typeface="Cambria" pitchFamily="34" charset="-120"/>
              </a:rPr>
              <a:t>Simulator</a:t>
            </a:r>
            <a:endParaRPr lang="en-US" sz="8000" dirty="0"/>
          </a:p>
        </p:txBody>
      </p:sp>
      <p:sp>
        <p:nvSpPr>
          <p:cNvPr id="5" name="Text 3"/>
          <p:cNvSpPr/>
          <p:nvPr/>
        </p:nvSpPr>
        <p:spPr>
          <a:xfrm>
            <a:off x="914400" y="4206240"/>
            <a:ext cx="10515600" cy="45720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Leader-Follower Dynamics in Ambiguous Orders</a:t>
            </a:r>
            <a:endParaRPr lang="en-US" sz="2200" dirty="0"/>
          </a:p>
        </p:txBody>
      </p:sp>
      <p:sp>
        <p:nvSpPr>
          <p:cNvPr id="6" name="Text 4"/>
          <p:cNvSpPr/>
          <p:nvPr/>
        </p:nvSpPr>
        <p:spPr>
          <a:xfrm>
            <a:off x="914400" y="6035040"/>
            <a:ext cx="10515600" cy="274320"/>
          </a:xfrm>
          <a:prstGeom prst="rect">
            <a:avLst/>
          </a:prstGeom>
          <a:noFill/>
          <a:ln/>
        </p:spPr>
        <p:txBody>
          <a:bodyPr wrap="square" lIns="0" tIns="0" rIns="0" bIns="0" rtlCol="0" anchor="ctr"/>
          <a:lstStyle/>
          <a:p>
            <a:pPr indent="0" marL="0">
              <a:buNone/>
            </a:pPr>
            <a:r>
              <a:rPr lang="en-US" sz="1200" spc="200" kern="0" dirty="0">
                <a:solidFill>
                  <a:srgbClr val="94A3B8"/>
                </a:solidFill>
                <a:latin typeface="Calibri" pitchFamily="34" charset="0"/>
                <a:ea typeface="Calibri" pitchFamily="34" charset="-122"/>
                <a:cs typeface="Calibri" pitchFamily="34" charset="-120"/>
              </a:rPr>
              <a:t>Five-Scenario Course Package  |  Field-Grade PME  |  v1.0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COURSE OVERVIEW</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two-part simulator for moral decision-making under pressure</a:t>
            </a:r>
            <a:endParaRPr lang="en-US" sz="3200" dirty="0"/>
          </a:p>
        </p:txBody>
      </p:sp>
      <p:sp>
        <p:nvSpPr>
          <p:cNvPr id="5" name="Shape 3"/>
          <p:cNvSpPr/>
          <p:nvPr/>
        </p:nvSpPr>
        <p:spPr>
          <a:xfrm>
            <a:off x="548640" y="2011680"/>
            <a:ext cx="5394960" cy="338328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109728" cy="3383280"/>
          </a:xfrm>
          <a:prstGeom prst="rect">
            <a:avLst/>
          </a:prstGeom>
          <a:solidFill>
            <a:srgbClr val="1E2761"/>
          </a:solidFill>
          <a:ln w="12700">
            <a:solidFill>
              <a:srgbClr val="1E2761"/>
            </a:solidFill>
            <a:prstDash val="solid"/>
          </a:ln>
        </p:spPr>
      </p:sp>
      <p:sp>
        <p:nvSpPr>
          <p:cNvPr id="7" name="Text 5"/>
          <p:cNvSpPr/>
          <p:nvPr/>
        </p:nvSpPr>
        <p:spPr>
          <a:xfrm>
            <a:off x="822960" y="2240280"/>
            <a:ext cx="493776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PHASE ONE</a:t>
            </a:r>
            <a:endParaRPr lang="en-US" sz="1000" dirty="0"/>
          </a:p>
        </p:txBody>
      </p:sp>
      <p:sp>
        <p:nvSpPr>
          <p:cNvPr id="8" name="Text 6"/>
          <p:cNvSpPr/>
          <p:nvPr/>
        </p:nvSpPr>
        <p:spPr>
          <a:xfrm>
            <a:off x="822960" y="2514600"/>
            <a:ext cx="493776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Receipt of the Order</a:t>
            </a:r>
            <a:endParaRPr lang="en-US" sz="2400" dirty="0"/>
          </a:p>
        </p:txBody>
      </p:sp>
      <p:sp>
        <p:nvSpPr>
          <p:cNvPr id="9" name="Text 7"/>
          <p:cNvSpPr/>
          <p:nvPr/>
        </p:nvSpPr>
        <p:spPr>
          <a:xfrm>
            <a:off x="822960" y="3291840"/>
            <a:ext cx="4937760" cy="1920240"/>
          </a:xfrm>
          <a:prstGeom prst="rect">
            <a:avLst/>
          </a:prstGeom>
          <a:noFill/>
          <a:ln/>
        </p:spPr>
        <p:txBody>
          <a:bodyPr wrap="square" rtlCol="0" anchor="t"/>
          <a:lstStyle/>
          <a:p>
            <a:pPr indent="0" marL="0">
              <a:spcAft>
                <a:spcPts val="600"/>
              </a:spcAft>
              <a:buNone/>
            </a:pPr>
            <a:r>
              <a:rPr lang="en-US" sz="1400" dirty="0">
                <a:solidFill>
                  <a:srgbClr val="14193D"/>
                </a:solidFill>
                <a:latin typeface="Calibri" pitchFamily="34" charset="0"/>
                <a:ea typeface="Calibri" pitchFamily="34" charset="-122"/>
                <a:cs typeface="Calibri" pitchFamily="34" charset="-120"/>
              </a:rPr>
              <a:t>A respected senior leader issues a direction that is borderline rather than obviously illegal.</a:t>
            </a:r>
            <a:endParaRPr lang="en-US" sz="1400" dirty="0"/>
          </a:p>
          <a:p>
            <a:pPr indent="0" marL="0">
              <a:spcAft>
                <a:spcPts val="600"/>
              </a:spcAft>
              <a:buNone/>
            </a:pPr>
            <a:endParaRPr lang="en-US" sz="1400" dirty="0"/>
          </a:p>
          <a:p>
            <a:pPr indent="0" marL="0">
              <a:spcAft>
                <a:spcPts val="600"/>
              </a:spcAft>
              <a:buNone/>
            </a:pPr>
            <a:r>
              <a:rPr lang="en-US" sz="1400" dirty="0">
                <a:solidFill>
                  <a:srgbClr val="14193D"/>
                </a:solidFill>
                <a:latin typeface="Calibri" pitchFamily="34" charset="0"/>
                <a:ea typeface="Calibri" pitchFamily="34" charset="-122"/>
                <a:cs typeface="Calibri" pitchFamily="34" charset="-120"/>
              </a:rPr>
              <a:t>The leader is sympathetic, accomplished, and under real pressure. The student is not facing a villain. The ambiguity is the point.</a:t>
            </a:r>
            <a:endParaRPr lang="en-US" sz="1400" dirty="0"/>
          </a:p>
        </p:txBody>
      </p:sp>
      <p:sp>
        <p:nvSpPr>
          <p:cNvPr id="10" name="Shape 8"/>
          <p:cNvSpPr/>
          <p:nvPr/>
        </p:nvSpPr>
        <p:spPr>
          <a:xfrm>
            <a:off x="6217920" y="2011680"/>
            <a:ext cx="5394960" cy="338328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1" name="Shape 9"/>
          <p:cNvSpPr/>
          <p:nvPr/>
        </p:nvSpPr>
        <p:spPr>
          <a:xfrm>
            <a:off x="6217920" y="2011680"/>
            <a:ext cx="109728" cy="3383280"/>
          </a:xfrm>
          <a:prstGeom prst="rect">
            <a:avLst/>
          </a:prstGeom>
          <a:solidFill>
            <a:srgbClr val="B85042"/>
          </a:solidFill>
          <a:ln w="12700">
            <a:solidFill>
              <a:srgbClr val="B85042"/>
            </a:solidFill>
            <a:prstDash val="solid"/>
          </a:ln>
        </p:spPr>
      </p:sp>
      <p:sp>
        <p:nvSpPr>
          <p:cNvPr id="12" name="Text 10"/>
          <p:cNvSpPr/>
          <p:nvPr/>
        </p:nvSpPr>
        <p:spPr>
          <a:xfrm>
            <a:off x="6492240" y="2240280"/>
            <a:ext cx="493776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PHASE TWO</a:t>
            </a:r>
            <a:endParaRPr lang="en-US" sz="1000" dirty="0"/>
          </a:p>
        </p:txBody>
      </p:sp>
      <p:sp>
        <p:nvSpPr>
          <p:cNvPr id="13" name="Text 11"/>
          <p:cNvSpPr/>
          <p:nvPr/>
        </p:nvSpPr>
        <p:spPr>
          <a:xfrm>
            <a:off x="6492240" y="2514600"/>
            <a:ext cx="493776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Engagement of Subordinates</a:t>
            </a:r>
            <a:endParaRPr lang="en-US" sz="2400" dirty="0"/>
          </a:p>
        </p:txBody>
      </p:sp>
      <p:sp>
        <p:nvSpPr>
          <p:cNvPr id="14" name="Text 12"/>
          <p:cNvSpPr/>
          <p:nvPr/>
        </p:nvSpPr>
        <p:spPr>
          <a:xfrm>
            <a:off x="6492240" y="3291840"/>
            <a:ext cx="4937760" cy="1920240"/>
          </a:xfrm>
          <a:prstGeom prst="rect">
            <a:avLst/>
          </a:prstGeom>
          <a:noFill/>
          <a:ln/>
        </p:spPr>
        <p:txBody>
          <a:bodyPr wrap="square" rtlCol="0" anchor="t"/>
          <a:lstStyle/>
          <a:p>
            <a:pPr indent="0" marL="0">
              <a:spcAft>
                <a:spcPts val="600"/>
              </a:spcAft>
              <a:buNone/>
            </a:pPr>
            <a:r>
              <a:rPr lang="en-US" sz="1400" dirty="0">
                <a:solidFill>
                  <a:srgbClr val="14193D"/>
                </a:solidFill>
                <a:latin typeface="Calibri" pitchFamily="34" charset="0"/>
                <a:ea typeface="Calibri" pitchFamily="34" charset="-122"/>
                <a:cs typeface="Calibri" pitchFamily="34" charset="-120"/>
              </a:rPr>
              <a:t>Four subordinate archetypes offer competing advice. The student decides whom to trust, what to ask, and what to bring back to the leader.</a:t>
            </a:r>
            <a:endParaRPr lang="en-US" sz="1400" dirty="0"/>
          </a:p>
          <a:p>
            <a:pPr indent="0" marL="0">
              <a:spcAft>
                <a:spcPts val="600"/>
              </a:spcAft>
              <a:buNone/>
            </a:pPr>
            <a:endParaRPr lang="en-US" sz="1400" dirty="0"/>
          </a:p>
          <a:p>
            <a:pPr indent="0" marL="0">
              <a:spcAft>
                <a:spcPts val="600"/>
              </a:spcAft>
              <a:buNone/>
            </a:pPr>
            <a:r>
              <a:rPr lang="en-US" sz="1400" dirty="0">
                <a:solidFill>
                  <a:srgbClr val="14193D"/>
                </a:solidFill>
                <a:latin typeface="Calibri" pitchFamily="34" charset="0"/>
                <a:ea typeface="Calibri" pitchFamily="34" charset="-122"/>
                <a:cs typeface="Calibri" pitchFamily="34" charset="-120"/>
              </a:rPr>
              <a:t>Decision tree branches based on which subordinate the student leans on. Outcome ranges from optimal to catastrophic.</a:t>
            </a:r>
            <a:endParaRPr lang="en-US" sz="1400" dirty="0"/>
          </a:p>
        </p:txBody>
      </p:sp>
      <p:sp>
        <p:nvSpPr>
          <p:cNvPr id="15" name="Text 13"/>
          <p:cNvSpPr/>
          <p:nvPr/>
        </p:nvSpPr>
        <p:spPr>
          <a:xfrm>
            <a:off x="548640" y="5669280"/>
            <a:ext cx="11064240" cy="548640"/>
          </a:xfrm>
          <a:prstGeom prst="rect">
            <a:avLst/>
          </a:prstGeom>
          <a:noFill/>
          <a:ln/>
        </p:spPr>
        <p:txBody>
          <a:bodyPr wrap="square" lIns="0" tIns="0" rIns="0" bIns="0" rtlCol="0" anchor="ctr"/>
          <a:lstStyle/>
          <a:p>
            <a:pPr algn="ctr" indent="0" marL="0">
              <a:buNone/>
            </a:pPr>
            <a:r>
              <a:rPr lang="en-US" sz="1300" i="1" dirty="0">
                <a:solidFill>
                  <a:srgbClr val="475569"/>
                </a:solidFill>
                <a:latin typeface="Calibri" pitchFamily="34" charset="0"/>
                <a:ea typeface="Calibri" pitchFamily="34" charset="-122"/>
                <a:cs typeface="Calibri" pitchFamily="34" charset="-120"/>
              </a:rPr>
              <a:t>The student's objective: guide the leader to the most ethical outcome the situation will support, while protecting both the leader's legitimate interests and the student's own.</a:t>
            </a:r>
            <a:endParaRPr lang="en-US" sz="13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Course Overview</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THE FOUR ARCHETYPES</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Four ways subordinates respond to an ambiguous order</a:t>
            </a:r>
            <a:endParaRPr lang="en-US" sz="3200" dirty="0"/>
          </a:p>
        </p:txBody>
      </p:sp>
      <p:sp>
        <p:nvSpPr>
          <p:cNvPr id="5" name="Shape 3"/>
          <p:cNvSpPr/>
          <p:nvPr/>
        </p:nvSpPr>
        <p:spPr>
          <a:xfrm>
            <a:off x="548640" y="2011680"/>
            <a:ext cx="2663190" cy="402336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2663190" cy="502920"/>
          </a:xfrm>
          <a:prstGeom prst="rect">
            <a:avLst/>
          </a:prstGeom>
          <a:solidFill>
            <a:srgbClr val="7B2D26"/>
          </a:solidFill>
          <a:ln w="12700">
            <a:solidFill>
              <a:srgbClr val="7B2D26"/>
            </a:solidFill>
            <a:prstDash val="solid"/>
          </a:ln>
        </p:spPr>
      </p:sp>
      <p:sp>
        <p:nvSpPr>
          <p:cNvPr id="7" name="Text 5"/>
          <p:cNvSpPr/>
          <p:nvPr/>
        </p:nvSpPr>
        <p:spPr>
          <a:xfrm>
            <a:off x="685800" y="2057400"/>
            <a:ext cx="238887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Loyalist</a:t>
            </a:r>
            <a:endParaRPr lang="en-US" sz="1800" dirty="0"/>
          </a:p>
        </p:txBody>
      </p:sp>
      <p:sp>
        <p:nvSpPr>
          <p:cNvPr id="8" name="Text 6"/>
          <p:cNvSpPr/>
          <p:nvPr/>
        </p:nvSpPr>
        <p:spPr>
          <a:xfrm>
            <a:off x="685800" y="2651760"/>
            <a:ext cx="2388870" cy="274320"/>
          </a:xfrm>
          <a:prstGeom prst="rect">
            <a:avLst/>
          </a:prstGeom>
          <a:noFill/>
          <a:ln/>
        </p:spPr>
        <p:txBody>
          <a:bodyPr wrap="square" lIns="0" tIns="0" rIns="0" bIns="0" rtlCol="0" anchor="ctr"/>
          <a:lstStyle/>
          <a:p>
            <a:pPr indent="0" marL="0">
              <a:buNone/>
            </a:pPr>
            <a:r>
              <a:rPr lang="en-US" sz="1100" b="1" i="1" dirty="0">
                <a:solidFill>
                  <a:srgbClr val="B85042"/>
                </a:solidFill>
                <a:latin typeface="Calibri" pitchFamily="34" charset="0"/>
                <a:ea typeface="Calibri" pitchFamily="34" charset="-122"/>
                <a:cs typeface="Calibri" pitchFamily="34" charset="-120"/>
              </a:rPr>
              <a:t>Yes-Person / Conformist</a:t>
            </a:r>
            <a:endParaRPr lang="en-US" sz="1100" dirty="0"/>
          </a:p>
        </p:txBody>
      </p:sp>
      <p:sp>
        <p:nvSpPr>
          <p:cNvPr id="9" name="Text 7"/>
          <p:cNvSpPr/>
          <p:nvPr/>
        </p:nvSpPr>
        <p:spPr>
          <a:xfrm>
            <a:off x="685800" y="2971800"/>
            <a:ext cx="238887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BEHAVIOR
</a:t>
            </a:r>
            <a:pPr indent="0" marL="0">
              <a:buNone/>
            </a:pPr>
            <a:r>
              <a:rPr lang="en-US" sz="1100" dirty="0">
                <a:solidFill>
                  <a:srgbClr val="14193D"/>
                </a:solidFill>
                <a:latin typeface="Calibri" pitchFamily="34" charset="0"/>
                <a:ea typeface="Calibri" pitchFamily="34" charset="-122"/>
                <a:cs typeface="Calibri" pitchFamily="34" charset="-120"/>
              </a:rPr>
              <a:t>Executes orders quickly, avoids conflict, mirrors the boss. High deference, low challenge.
</a:t>
            </a:r>
            <a:pPr indent="0" marL="0">
              <a:buNone/>
            </a:pPr>
            <a:r>
              <a:rPr lang="en-US" sz="900" b="1" spc="300" kern="0" dirty="0">
                <a:solidFill>
                  <a:srgbClr val="1E2761"/>
                </a:solidFill>
                <a:latin typeface="Calibri" pitchFamily="34" charset="0"/>
                <a:ea typeface="Calibri" pitchFamily="34" charset="-122"/>
                <a:cs typeface="Calibri" pitchFamily="34" charset="-120"/>
              </a:rPr>
              <a:t>STRENGTH
</a:t>
            </a:r>
            <a:pPr indent="0" marL="0">
              <a:buNone/>
            </a:pPr>
            <a:r>
              <a:rPr lang="en-US" sz="1100" dirty="0">
                <a:solidFill>
                  <a:srgbClr val="14193D"/>
                </a:solidFill>
                <a:latin typeface="Calibri" pitchFamily="34" charset="0"/>
                <a:ea typeface="Calibri" pitchFamily="34" charset="-122"/>
                <a:cs typeface="Calibri" pitchFamily="34" charset="-120"/>
              </a:rPr>
              <a:t>Speed of execution; preserves morale and command climate in the short term.
</a:t>
            </a:r>
            <a:pPr indent="0" marL="0">
              <a:buNone/>
            </a:pPr>
            <a:r>
              <a:rPr lang="en-US" sz="900" b="1" spc="300" kern="0" dirty="0">
                <a:solidFill>
                  <a:srgbClr val="B85042"/>
                </a:solidFill>
                <a:latin typeface="Calibri" pitchFamily="34" charset="0"/>
                <a:ea typeface="Calibri" pitchFamily="34" charset="-122"/>
                <a:cs typeface="Calibri" pitchFamily="34" charset="-120"/>
              </a:rPr>
              <a:t>RISK
</a:t>
            </a:r>
            <a:pPr indent="0" marL="0">
              <a:buNone/>
            </a:pPr>
            <a:r>
              <a:rPr lang="en-US" sz="1100" dirty="0">
                <a:solidFill>
                  <a:srgbClr val="14193D"/>
                </a:solidFill>
                <a:latin typeface="Calibri" pitchFamily="34" charset="0"/>
                <a:ea typeface="Calibri" pitchFamily="34" charset="-122"/>
                <a:cs typeface="Calibri" pitchFamily="34" charset="-120"/>
              </a:rPr>
              <a:t>Amplifies bad orders. Tells the leader what they want to hear, not what they need to hear.</a:t>
            </a:r>
            <a:endParaRPr lang="en-US" sz="900" dirty="0"/>
          </a:p>
        </p:txBody>
      </p:sp>
      <p:sp>
        <p:nvSpPr>
          <p:cNvPr id="10" name="Shape 8"/>
          <p:cNvSpPr/>
          <p:nvPr/>
        </p:nvSpPr>
        <p:spPr>
          <a:xfrm>
            <a:off x="3348990" y="2011680"/>
            <a:ext cx="2663190" cy="402336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1" name="Shape 9"/>
          <p:cNvSpPr/>
          <p:nvPr/>
        </p:nvSpPr>
        <p:spPr>
          <a:xfrm>
            <a:off x="3348990" y="2011680"/>
            <a:ext cx="2663190" cy="502920"/>
          </a:xfrm>
          <a:prstGeom prst="rect">
            <a:avLst/>
          </a:prstGeom>
          <a:solidFill>
            <a:srgbClr val="C97B5C"/>
          </a:solidFill>
          <a:ln w="12700">
            <a:solidFill>
              <a:srgbClr val="C97B5C"/>
            </a:solidFill>
            <a:prstDash val="solid"/>
          </a:ln>
        </p:spPr>
      </p:sp>
      <p:sp>
        <p:nvSpPr>
          <p:cNvPr id="12" name="Text 10"/>
          <p:cNvSpPr/>
          <p:nvPr/>
        </p:nvSpPr>
        <p:spPr>
          <a:xfrm>
            <a:off x="3486150" y="2057400"/>
            <a:ext cx="238887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Operator</a:t>
            </a:r>
            <a:endParaRPr lang="en-US" sz="1800" dirty="0"/>
          </a:p>
        </p:txBody>
      </p:sp>
      <p:sp>
        <p:nvSpPr>
          <p:cNvPr id="13" name="Text 11"/>
          <p:cNvSpPr/>
          <p:nvPr/>
        </p:nvSpPr>
        <p:spPr>
          <a:xfrm>
            <a:off x="3486150" y="2651760"/>
            <a:ext cx="2388870" cy="274320"/>
          </a:xfrm>
          <a:prstGeom prst="rect">
            <a:avLst/>
          </a:prstGeom>
          <a:noFill/>
          <a:ln/>
        </p:spPr>
        <p:txBody>
          <a:bodyPr wrap="square" lIns="0" tIns="0" rIns="0" bIns="0" rtlCol="0" anchor="ctr"/>
          <a:lstStyle/>
          <a:p>
            <a:pPr indent="0" marL="0">
              <a:buNone/>
            </a:pPr>
            <a:r>
              <a:rPr lang="en-US" sz="1100" b="1" i="1" dirty="0">
                <a:solidFill>
                  <a:srgbClr val="B85042"/>
                </a:solidFill>
                <a:latin typeface="Calibri" pitchFamily="34" charset="0"/>
                <a:ea typeface="Calibri" pitchFamily="34" charset="-122"/>
                <a:cs typeface="Calibri" pitchFamily="34" charset="-120"/>
              </a:rPr>
              <a:t>Pragmatist / Workaround Specialist</a:t>
            </a:r>
            <a:endParaRPr lang="en-US" sz="1100" dirty="0"/>
          </a:p>
        </p:txBody>
      </p:sp>
      <p:sp>
        <p:nvSpPr>
          <p:cNvPr id="14" name="Text 12"/>
          <p:cNvSpPr/>
          <p:nvPr/>
        </p:nvSpPr>
        <p:spPr>
          <a:xfrm>
            <a:off x="3486150" y="2971800"/>
            <a:ext cx="238887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BEHAVIOR
</a:t>
            </a:r>
            <a:pPr indent="0" marL="0">
              <a:buNone/>
            </a:pPr>
            <a:r>
              <a:rPr lang="en-US" sz="1100" dirty="0">
                <a:solidFill>
                  <a:srgbClr val="14193D"/>
                </a:solidFill>
                <a:latin typeface="Calibri" pitchFamily="34" charset="0"/>
                <a:ea typeface="Calibri" pitchFamily="34" charset="-122"/>
                <a:cs typeface="Calibri" pitchFamily="34" charset="-120"/>
              </a:rPr>
              <a:t>Mission-first to a fault. Knows the regulations well enough to bend them. Comfortable in the grey area.
</a:t>
            </a:r>
            <a:pPr indent="0" marL="0">
              <a:buNone/>
            </a:pPr>
            <a:r>
              <a:rPr lang="en-US" sz="900" b="1" spc="300" kern="0" dirty="0">
                <a:solidFill>
                  <a:srgbClr val="1E2761"/>
                </a:solidFill>
                <a:latin typeface="Calibri" pitchFamily="34" charset="0"/>
                <a:ea typeface="Calibri" pitchFamily="34" charset="-122"/>
                <a:cs typeface="Calibri" pitchFamily="34" charset="-120"/>
              </a:rPr>
              <a:t>STRENGTH
</a:t>
            </a:r>
            <a:pPr indent="0" marL="0">
              <a:buNone/>
            </a:pPr>
            <a:r>
              <a:rPr lang="en-US" sz="1100" dirty="0">
                <a:solidFill>
                  <a:srgbClr val="14193D"/>
                </a:solidFill>
                <a:latin typeface="Calibri" pitchFamily="34" charset="0"/>
                <a:ea typeface="Calibri" pitchFamily="34" charset="-122"/>
                <a:cs typeface="Calibri" pitchFamily="34" charset="-120"/>
              </a:rPr>
              <a:t>Solves problems fast. Finds creative paths around bureaucracy.
</a:t>
            </a:r>
            <a:pPr indent="0" marL="0">
              <a:buNone/>
            </a:pPr>
            <a:r>
              <a:rPr lang="en-US" sz="900" b="1" spc="300" kern="0" dirty="0">
                <a:solidFill>
                  <a:srgbClr val="B85042"/>
                </a:solidFill>
                <a:latin typeface="Calibri" pitchFamily="34" charset="0"/>
                <a:ea typeface="Calibri" pitchFamily="34" charset="-122"/>
                <a:cs typeface="Calibri" pitchFamily="34" charset="-120"/>
              </a:rPr>
              <a:t>RISK
</a:t>
            </a:r>
            <a:pPr indent="0" marL="0">
              <a:buNone/>
            </a:pPr>
            <a:r>
              <a:rPr lang="en-US" sz="1100" dirty="0">
                <a:solidFill>
                  <a:srgbClr val="14193D"/>
                </a:solidFill>
                <a:latin typeface="Calibri" pitchFamily="34" charset="0"/>
                <a:ea typeface="Calibri" pitchFamily="34" charset="-122"/>
                <a:cs typeface="Calibri" pitchFamily="34" charset="-120"/>
              </a:rPr>
              <a:t>Ethical drift. Each small compromise normalizes the next one. Provides plausible deniability for the leader, not protection.</a:t>
            </a:r>
            <a:endParaRPr lang="en-US" sz="900" dirty="0"/>
          </a:p>
        </p:txBody>
      </p:sp>
      <p:sp>
        <p:nvSpPr>
          <p:cNvPr id="15" name="Shape 13"/>
          <p:cNvSpPr/>
          <p:nvPr/>
        </p:nvSpPr>
        <p:spPr>
          <a:xfrm>
            <a:off x="6149340" y="2011680"/>
            <a:ext cx="2663190" cy="402336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6" name="Shape 14"/>
          <p:cNvSpPr/>
          <p:nvPr/>
        </p:nvSpPr>
        <p:spPr>
          <a:xfrm>
            <a:off x="6149340" y="2011680"/>
            <a:ext cx="2663190" cy="502920"/>
          </a:xfrm>
          <a:prstGeom prst="rect">
            <a:avLst/>
          </a:prstGeom>
          <a:solidFill>
            <a:srgbClr val="3F5E78"/>
          </a:solidFill>
          <a:ln w="12700">
            <a:solidFill>
              <a:srgbClr val="3F5E78"/>
            </a:solidFill>
            <a:prstDash val="solid"/>
          </a:ln>
        </p:spPr>
      </p:sp>
      <p:sp>
        <p:nvSpPr>
          <p:cNvPr id="17" name="Text 15"/>
          <p:cNvSpPr/>
          <p:nvPr/>
        </p:nvSpPr>
        <p:spPr>
          <a:xfrm>
            <a:off x="6286500" y="2057400"/>
            <a:ext cx="238887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Stickler</a:t>
            </a:r>
            <a:endParaRPr lang="en-US" sz="1800" dirty="0"/>
          </a:p>
        </p:txBody>
      </p:sp>
      <p:sp>
        <p:nvSpPr>
          <p:cNvPr id="18" name="Text 16"/>
          <p:cNvSpPr/>
          <p:nvPr/>
        </p:nvSpPr>
        <p:spPr>
          <a:xfrm>
            <a:off x="6286500" y="2651760"/>
            <a:ext cx="2388870" cy="274320"/>
          </a:xfrm>
          <a:prstGeom prst="rect">
            <a:avLst/>
          </a:prstGeom>
          <a:noFill/>
          <a:ln/>
        </p:spPr>
        <p:txBody>
          <a:bodyPr wrap="square" lIns="0" tIns="0" rIns="0" bIns="0" rtlCol="0" anchor="ctr"/>
          <a:lstStyle/>
          <a:p>
            <a:pPr indent="0" marL="0">
              <a:buNone/>
            </a:pPr>
            <a:r>
              <a:rPr lang="en-US" sz="1100" b="1" i="1" dirty="0">
                <a:solidFill>
                  <a:srgbClr val="B85042"/>
                </a:solidFill>
                <a:latin typeface="Calibri" pitchFamily="34" charset="0"/>
                <a:ea typeface="Calibri" pitchFamily="34" charset="-122"/>
                <a:cs typeface="Calibri" pitchFamily="34" charset="-120"/>
              </a:rPr>
              <a:t>Compliance / By-the-Book</a:t>
            </a:r>
            <a:endParaRPr lang="en-US" sz="1100" dirty="0"/>
          </a:p>
        </p:txBody>
      </p:sp>
      <p:sp>
        <p:nvSpPr>
          <p:cNvPr id="19" name="Text 17"/>
          <p:cNvSpPr/>
          <p:nvPr/>
        </p:nvSpPr>
        <p:spPr>
          <a:xfrm>
            <a:off x="6286500" y="2971800"/>
            <a:ext cx="238887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BEHAVIOR
</a:t>
            </a:r>
            <a:pPr indent="0" marL="0">
              <a:buNone/>
            </a:pPr>
            <a:r>
              <a:rPr lang="en-US" sz="1100" dirty="0">
                <a:solidFill>
                  <a:srgbClr val="14193D"/>
                </a:solidFill>
                <a:latin typeface="Calibri" pitchFamily="34" charset="0"/>
                <a:ea typeface="Calibri" pitchFamily="34" charset="-122"/>
                <a:cs typeface="Calibri" pitchFamily="34" charset="-120"/>
              </a:rPr>
              <a:t>Rule-bound. Cites regulations, doctrine, and policy. Will not deviate, even when nuance is warranted.
</a:t>
            </a:r>
            <a:pPr indent="0" marL="0">
              <a:buNone/>
            </a:pPr>
            <a:r>
              <a:rPr lang="en-US" sz="900" b="1" spc="300" kern="0" dirty="0">
                <a:solidFill>
                  <a:srgbClr val="1E2761"/>
                </a:solidFill>
                <a:latin typeface="Calibri" pitchFamily="34" charset="0"/>
                <a:ea typeface="Calibri" pitchFamily="34" charset="-122"/>
                <a:cs typeface="Calibri" pitchFamily="34" charset="-120"/>
              </a:rPr>
              <a:t>STRENGTH
</a:t>
            </a:r>
            <a:pPr indent="0" marL="0">
              <a:buNone/>
            </a:pPr>
            <a:r>
              <a:rPr lang="en-US" sz="1100" dirty="0">
                <a:solidFill>
                  <a:srgbClr val="14193D"/>
                </a:solidFill>
                <a:latin typeface="Calibri" pitchFamily="34" charset="0"/>
                <a:ea typeface="Calibri" pitchFamily="34" charset="-122"/>
                <a:cs typeface="Calibri" pitchFamily="34" charset="-120"/>
              </a:rPr>
              <a:t>Audit-proof. Will not be the source of a UCMJ, IG, or fraud finding.
</a:t>
            </a:r>
            <a:pPr indent="0" marL="0">
              <a:buNone/>
            </a:pPr>
            <a:r>
              <a:rPr lang="en-US" sz="900" b="1" spc="300" kern="0" dirty="0">
                <a:solidFill>
                  <a:srgbClr val="B85042"/>
                </a:solidFill>
                <a:latin typeface="Calibri" pitchFamily="34" charset="0"/>
                <a:ea typeface="Calibri" pitchFamily="34" charset="-122"/>
                <a:cs typeface="Calibri" pitchFamily="34" charset="-120"/>
              </a:rPr>
              <a:t>RISK
</a:t>
            </a:r>
            <a:pPr indent="0" marL="0">
              <a:buNone/>
            </a:pPr>
            <a:r>
              <a:rPr lang="en-US" sz="1100" dirty="0">
                <a:solidFill>
                  <a:srgbClr val="14193D"/>
                </a:solidFill>
                <a:latin typeface="Calibri" pitchFamily="34" charset="0"/>
                <a:ea typeface="Calibri" pitchFamily="34" charset="-122"/>
                <a:cs typeface="Calibri" pitchFamily="34" charset="-120"/>
              </a:rPr>
              <a:t>Rigidity. Cannot navigate ambiguity. Often refuses without offering an alternative, leaving the leader cornered.</a:t>
            </a:r>
            <a:endParaRPr lang="en-US" sz="900" dirty="0"/>
          </a:p>
        </p:txBody>
      </p:sp>
      <p:sp>
        <p:nvSpPr>
          <p:cNvPr id="20" name="Shape 18"/>
          <p:cNvSpPr/>
          <p:nvPr/>
        </p:nvSpPr>
        <p:spPr>
          <a:xfrm>
            <a:off x="8949690" y="2011680"/>
            <a:ext cx="2663190" cy="402336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1" name="Shape 19"/>
          <p:cNvSpPr/>
          <p:nvPr/>
        </p:nvSpPr>
        <p:spPr>
          <a:xfrm>
            <a:off x="8949690" y="2011680"/>
            <a:ext cx="2663190" cy="502920"/>
          </a:xfrm>
          <a:prstGeom prst="rect">
            <a:avLst/>
          </a:prstGeom>
          <a:solidFill>
            <a:srgbClr val="2C7A4B"/>
          </a:solidFill>
          <a:ln w="12700">
            <a:solidFill>
              <a:srgbClr val="2C7A4B"/>
            </a:solidFill>
            <a:prstDash val="solid"/>
          </a:ln>
        </p:spPr>
      </p:sp>
      <p:sp>
        <p:nvSpPr>
          <p:cNvPr id="22" name="Text 20"/>
          <p:cNvSpPr/>
          <p:nvPr/>
        </p:nvSpPr>
        <p:spPr>
          <a:xfrm>
            <a:off x="9086850" y="2057400"/>
            <a:ext cx="238887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Partner</a:t>
            </a:r>
            <a:endParaRPr lang="en-US" sz="1800" dirty="0"/>
          </a:p>
        </p:txBody>
      </p:sp>
      <p:sp>
        <p:nvSpPr>
          <p:cNvPr id="23" name="Text 21"/>
          <p:cNvSpPr/>
          <p:nvPr/>
        </p:nvSpPr>
        <p:spPr>
          <a:xfrm>
            <a:off x="9086850" y="2651760"/>
            <a:ext cx="2388870" cy="274320"/>
          </a:xfrm>
          <a:prstGeom prst="rect">
            <a:avLst/>
          </a:prstGeom>
          <a:noFill/>
          <a:ln/>
        </p:spPr>
        <p:txBody>
          <a:bodyPr wrap="square" lIns="0" tIns="0" rIns="0" bIns="0" rtlCol="0" anchor="ctr"/>
          <a:lstStyle/>
          <a:p>
            <a:pPr indent="0" marL="0">
              <a:buNone/>
            </a:pPr>
            <a:r>
              <a:rPr lang="en-US" sz="1100" b="1" i="1" dirty="0">
                <a:solidFill>
                  <a:srgbClr val="B85042"/>
                </a:solidFill>
                <a:latin typeface="Calibri" pitchFamily="34" charset="0"/>
                <a:ea typeface="Calibri" pitchFamily="34" charset="-122"/>
                <a:cs typeface="Calibri" pitchFamily="34" charset="-120"/>
              </a:rPr>
              <a:t>Courageous Truth-Teller</a:t>
            </a:r>
            <a:endParaRPr lang="en-US" sz="1100" dirty="0"/>
          </a:p>
        </p:txBody>
      </p:sp>
      <p:sp>
        <p:nvSpPr>
          <p:cNvPr id="24" name="Text 22"/>
          <p:cNvSpPr/>
          <p:nvPr/>
        </p:nvSpPr>
        <p:spPr>
          <a:xfrm>
            <a:off x="9086850" y="2971800"/>
            <a:ext cx="238887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BEHAVIOR
</a:t>
            </a:r>
            <a:pPr indent="0" marL="0">
              <a:buNone/>
            </a:pPr>
            <a:r>
              <a:rPr lang="en-US" sz="1100" dirty="0">
                <a:solidFill>
                  <a:srgbClr val="14193D"/>
                </a:solidFill>
                <a:latin typeface="Calibri" pitchFamily="34" charset="0"/>
                <a:ea typeface="Calibri" pitchFamily="34" charset="-122"/>
                <a:cs typeface="Calibri" pitchFamily="34" charset="-120"/>
              </a:rPr>
              <a:t>High support and high challenge. Speaks truth respectfully. Brings ethical issues forward and pairs them with viable alternatives.
</a:t>
            </a:r>
            <a:pPr indent="0" marL="0">
              <a:buNone/>
            </a:pPr>
            <a:r>
              <a:rPr lang="en-US" sz="900" b="1" spc="300" kern="0" dirty="0">
                <a:solidFill>
                  <a:srgbClr val="1E2761"/>
                </a:solidFill>
                <a:latin typeface="Calibri" pitchFamily="34" charset="0"/>
                <a:ea typeface="Calibri" pitchFamily="34" charset="-122"/>
                <a:cs typeface="Calibri" pitchFamily="34" charset="-120"/>
              </a:rPr>
              <a:t>STRENGTH
</a:t>
            </a:r>
            <a:pPr indent="0" marL="0">
              <a:buNone/>
            </a:pPr>
            <a:r>
              <a:rPr lang="en-US" sz="1100" dirty="0">
                <a:solidFill>
                  <a:srgbClr val="14193D"/>
                </a:solidFill>
                <a:latin typeface="Calibri" pitchFamily="34" charset="0"/>
                <a:ea typeface="Calibri" pitchFamily="34" charset="-122"/>
                <a:cs typeface="Calibri" pitchFamily="34" charset="-120"/>
              </a:rPr>
              <a:t>Protects both the mission and the leader. Reframes the dilemma so the ethical option is also the practical one.
</a:t>
            </a:r>
            <a:pPr indent="0" marL="0">
              <a:buNone/>
            </a:pPr>
            <a:r>
              <a:rPr lang="en-US" sz="900" b="1" spc="300" kern="0" dirty="0">
                <a:solidFill>
                  <a:srgbClr val="B85042"/>
                </a:solidFill>
                <a:latin typeface="Calibri" pitchFamily="34" charset="0"/>
                <a:ea typeface="Calibri" pitchFamily="34" charset="-122"/>
                <a:cs typeface="Calibri" pitchFamily="34" charset="-120"/>
              </a:rPr>
              <a:t>RISK
</a:t>
            </a:r>
            <a:pPr indent="0" marL="0">
              <a:buNone/>
            </a:pPr>
            <a:r>
              <a:rPr lang="en-US" sz="1100" dirty="0">
                <a:solidFill>
                  <a:srgbClr val="14193D"/>
                </a:solidFill>
                <a:latin typeface="Calibri" pitchFamily="34" charset="0"/>
                <a:ea typeface="Calibri" pitchFamily="34" charset="-122"/>
                <a:cs typeface="Calibri" pitchFamily="34" charset="-120"/>
              </a:rPr>
              <a:t>Slower in the moment. Requires emotional courage. The leader must be ready to listen.</a:t>
            </a:r>
            <a:endParaRPr lang="en-US" sz="900" dirty="0"/>
          </a:p>
        </p:txBody>
      </p:sp>
      <p:sp>
        <p:nvSpPr>
          <p:cNvPr id="25" name="Text 23"/>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Each archetype is useful in some phases of a problem and dangerous in others. The discipline is knowing which to engage when.</a:t>
            </a:r>
            <a:endParaRPr lang="en-US" sz="1200" dirty="0"/>
          </a:p>
        </p:txBody>
      </p:sp>
      <p:sp>
        <p:nvSpPr>
          <p:cNvPr id="26" name="Shape 24"/>
          <p:cNvSpPr/>
          <p:nvPr/>
        </p:nvSpPr>
        <p:spPr>
          <a:xfrm>
            <a:off x="0" y="6803136"/>
            <a:ext cx="12161520" cy="54864"/>
          </a:xfrm>
          <a:prstGeom prst="rect">
            <a:avLst/>
          </a:prstGeom>
          <a:solidFill>
            <a:srgbClr val="1E2761"/>
          </a:solidFill>
          <a:ln w="12700">
            <a:solidFill>
              <a:srgbClr val="1E2761"/>
            </a:solidFill>
            <a:prstDash val="solid"/>
          </a:ln>
        </p:spPr>
      </p:sp>
      <p:sp>
        <p:nvSpPr>
          <p:cNvPr id="27" name="Text 2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The Four Archetypes</a:t>
            </a:r>
            <a:endParaRPr lang="en-US" sz="1000" dirty="0"/>
          </a:p>
        </p:txBody>
      </p:sp>
      <p:sp>
        <p:nvSpPr>
          <p:cNvPr id="28" name="Text 2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THEORIST MAPPING</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Course archetypes mapped across major followership models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291840"/>
        </p:xfrm>
        <a:graphic>
          <a:graphicData uri="http://schemas.openxmlformats.org/drawingml/2006/table">
            <a:tbl>
              <a:tblPr/>
              <a:tblGrid>
                <a:gridCol w="1554480"/>
                <a:gridCol w="2286000"/>
                <a:gridCol w="2286000"/>
                <a:gridCol w="2377440"/>
                <a:gridCol w="256032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Archetype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Kelley (1992)</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Chaleff (1995, 2015)</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Kellerman (2008)</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Lipman-Blumen (2005)</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548640">
                <a:tc>
                  <a:txBody>
                    <a:bodyPr/>
                    <a:lstStyle/>
                    <a:p>
                      <a:pPr indent="0" marL="0">
                        <a:buNone/>
                      </a:pPr>
                      <a:r>
                        <a:rPr lang="en-US" sz="1100" b="1" dirty="0">
                          <a:solidFill>
                            <a:srgbClr val="7B2D26"/>
                          </a:solidFill>
                          <a:latin typeface="Calibri" pitchFamily="34" charset="0"/>
                          <a:ea typeface="Calibri" pitchFamily="34" charset="-122"/>
                          <a:cs typeface="Calibri" pitchFamily="34" charset="-120"/>
                        </a:rPr>
                        <a:t>The Loyalist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Conformist (Sheep)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Implementer (high support, low challenge)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Activist toward authority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Conformer susceptible to toxic leaders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r>
              <a:tr h="548640">
                <a:tc>
                  <a:txBody>
                    <a:bodyPr/>
                    <a:lstStyle/>
                    <a:p>
                      <a:pPr indent="0" marL="0">
                        <a:buNone/>
                      </a:pPr>
                      <a:r>
                        <a:rPr lang="en-US" sz="1100" b="1" dirty="0">
                          <a:solidFill>
                            <a:srgbClr val="C97B5C"/>
                          </a:solidFill>
                          <a:latin typeface="Calibri" pitchFamily="34" charset="0"/>
                          <a:ea typeface="Calibri" pitchFamily="34" charset="-122"/>
                          <a:cs typeface="Calibri" pitchFamily="34" charset="-120"/>
                        </a:rPr>
                        <a:t>The Operator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Pragmatist Survivor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Resource (low support, low challenge, low risk)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Participant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Bystander/Colluder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3F5E78"/>
                          </a:solidFill>
                          <a:latin typeface="Calibri" pitchFamily="34" charset="0"/>
                          <a:ea typeface="Calibri" pitchFamily="34" charset="-122"/>
                          <a:cs typeface="Calibri" pitchFamily="34" charset="-120"/>
                        </a:rPr>
                        <a:t>The Stickler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Alienated Follower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Individualist (low support, high challenge)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Isolate or Bystander depending on engagement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Whistleblower archetype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r>
              <a:tr h="548640">
                <a:tc>
                  <a:txBody>
                    <a:bodyPr/>
                    <a:lstStyle/>
                    <a:p>
                      <a:pPr indent="0" marL="0">
                        <a:buNone/>
                      </a:pPr>
                      <a:r>
                        <a:rPr lang="en-US" sz="1100" b="1" dirty="0">
                          <a:solidFill>
                            <a:srgbClr val="2C7A4B"/>
                          </a:solidFill>
                          <a:latin typeface="Calibri" pitchFamily="34" charset="0"/>
                          <a:ea typeface="Calibri" pitchFamily="34" charset="-122"/>
                          <a:cs typeface="Calibri" pitchFamily="34" charset="-120"/>
                        </a:rPr>
                        <a:t>The Partner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Star/Effective Follower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Partner (high support, high challenge)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Constructive Activist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Independent Follower (resistant to toxic dynamics)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349240"/>
            <a:ext cx="11064240" cy="1188720"/>
          </a:xfrm>
          <a:prstGeom prst="rect">
            <a:avLst/>
          </a:prstGeom>
          <a:solidFill>
            <a:srgbClr val="F4F1EC"/>
          </a:solidFill>
          <a:ln w="6350">
            <a:solidFill>
              <a:srgbClr val="E2E8F0"/>
            </a:solidFill>
            <a:prstDash val="solid"/>
          </a:ln>
        </p:spPr>
      </p:sp>
      <p:sp>
        <p:nvSpPr>
          <p:cNvPr id="7" name="Text 4"/>
          <p:cNvSpPr/>
          <p:nvPr/>
        </p:nvSpPr>
        <p:spPr>
          <a:xfrm>
            <a:off x="822960" y="5440680"/>
            <a:ext cx="10515600" cy="27432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Why these four models</a:t>
            </a:r>
            <a:endParaRPr lang="en-US" sz="1300" dirty="0"/>
          </a:p>
        </p:txBody>
      </p:sp>
      <p:sp>
        <p:nvSpPr>
          <p:cNvPr id="8" name="Text 5"/>
          <p:cNvSpPr/>
          <p:nvPr/>
        </p:nvSpPr>
        <p:spPr>
          <a:xfrm>
            <a:off x="822960" y="5715000"/>
            <a:ext cx="10515600" cy="777240"/>
          </a:xfrm>
          <a:prstGeom prst="rect">
            <a:avLst/>
          </a:prstGeom>
          <a:noFill/>
          <a:ln/>
        </p:spPr>
        <p:txBody>
          <a:bodyPr wrap="square" lIns="0" tIns="0" rIns="0" bIns="0" rtlCol="0" anchor="t"/>
          <a:lstStyle/>
          <a:p>
            <a:pPr indent="0" marL="0">
              <a:buNone/>
            </a:pPr>
            <a:r>
              <a:rPr lang="en-US" sz="1100" dirty="0">
                <a:solidFill>
                  <a:srgbClr val="14193D"/>
                </a:solidFill>
                <a:latin typeface="Calibri" pitchFamily="34" charset="0"/>
                <a:ea typeface="Calibri" pitchFamily="34" charset="-122"/>
                <a:cs typeface="Calibri" pitchFamily="34" charset="-120"/>
              </a:rPr>
              <a:t>Kelley introduces effective followership as a discipline. Chaleff adds the duty of moral courage and the doctrine of intelligent disobedience. Kellerman shifts moral responsibility from leader-only to leader-and-follower. Lipman-Blumen explains why followers tolerate or enable harmful leaders. Together they are the conceptual spine of the simulator.</a:t>
            </a:r>
            <a:endParaRPr lang="en-US" sz="1100" dirty="0"/>
          </a:p>
        </p:txBody>
      </p:sp>
      <p:sp>
        <p:nvSpPr>
          <p:cNvPr id="9" name="Shape 6"/>
          <p:cNvSpPr/>
          <p:nvPr/>
        </p:nvSpPr>
        <p:spPr>
          <a:xfrm>
            <a:off x="0" y="6803136"/>
            <a:ext cx="12161520" cy="54864"/>
          </a:xfrm>
          <a:prstGeom prst="rect">
            <a:avLst/>
          </a:prstGeom>
          <a:solidFill>
            <a:srgbClr val="1E2761"/>
          </a:solidFill>
          <a:ln w="12700">
            <a:solidFill>
              <a:srgbClr val="1E2761"/>
            </a:solidFill>
            <a:prstDash val="solid"/>
          </a:ln>
        </p:spPr>
      </p:sp>
      <p:sp>
        <p:nvSpPr>
          <p:cNvPr id="10" name="Text 7"/>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Theorist Mapping</a:t>
            </a:r>
            <a:endParaRPr lang="en-US" sz="1000" dirty="0"/>
          </a:p>
        </p:txBody>
      </p:sp>
      <p:sp>
        <p:nvSpPr>
          <p:cNvPr id="11" name="Text 8"/>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365760" y="1280160"/>
            <a:ext cx="4572000" cy="4114800"/>
          </a:xfrm>
          <a:prstGeom prst="rect">
            <a:avLst/>
          </a:prstGeom>
          <a:noFill/>
          <a:ln/>
        </p:spPr>
        <p:txBody>
          <a:bodyPr wrap="square" lIns="0" tIns="0" rIns="0" bIns="0" rtlCol="0" anchor="ctr"/>
          <a:lstStyle/>
          <a:p>
            <a:pPr indent="0" marL="0">
              <a:buNone/>
            </a:pPr>
            <a:r>
              <a:rPr lang="en-US" sz="32000" b="1" i="1" dirty="0">
                <a:solidFill>
                  <a:srgbClr val="1E2761"/>
                </a:solidFill>
                <a:latin typeface="Cambria" pitchFamily="34" charset="0"/>
                <a:ea typeface="Cambria" pitchFamily="34" charset="-122"/>
                <a:cs typeface="Cambria" pitchFamily="34" charset="-120"/>
              </a:rPr>
              <a:t>01</a:t>
            </a:r>
            <a:endParaRPr lang="en-US" sz="32000" dirty="0"/>
          </a:p>
        </p:txBody>
      </p:sp>
      <p:sp>
        <p:nvSpPr>
          <p:cNvPr id="3" name="Text 1"/>
          <p:cNvSpPr/>
          <p:nvPr/>
        </p:nvSpPr>
        <p:spPr>
          <a:xfrm>
            <a:off x="4754880" y="1554480"/>
            <a:ext cx="6858000" cy="36576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SCENARIO 1</a:t>
            </a:r>
            <a:endParaRPr lang="en-US" sz="1400" dirty="0"/>
          </a:p>
        </p:txBody>
      </p:sp>
      <p:sp>
        <p:nvSpPr>
          <p:cNvPr id="4" name="Text 2"/>
          <p:cNvSpPr/>
          <p:nvPr/>
        </p:nvSpPr>
        <p:spPr>
          <a:xfrm>
            <a:off x="4754880" y="1965960"/>
            <a:ext cx="685800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Manipulating the Collateral Damage Estimate</a:t>
            </a:r>
            <a:endParaRPr lang="en-US" sz="3600" dirty="0"/>
          </a:p>
        </p:txBody>
      </p:sp>
      <p:sp>
        <p:nvSpPr>
          <p:cNvPr id="5" name="Text 3"/>
          <p:cNvSpPr/>
          <p:nvPr/>
        </p:nvSpPr>
        <p:spPr>
          <a:xfrm>
            <a:off x="4754880" y="3520440"/>
            <a:ext cx="6858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Joint Targeting / Air Operations</a:t>
            </a:r>
            <a:endParaRPr lang="en-US" sz="1400" dirty="0"/>
          </a:p>
        </p:txBody>
      </p:sp>
      <p:sp>
        <p:nvSpPr>
          <p:cNvPr id="6" name="Shape 4"/>
          <p:cNvSpPr/>
          <p:nvPr/>
        </p:nvSpPr>
        <p:spPr>
          <a:xfrm>
            <a:off x="4754880" y="4023360"/>
            <a:ext cx="6858000" cy="36576"/>
          </a:xfrm>
          <a:prstGeom prst="rect">
            <a:avLst/>
          </a:prstGeom>
          <a:solidFill>
            <a:srgbClr val="B85042"/>
          </a:solidFill>
          <a:ln w="12700">
            <a:solidFill>
              <a:srgbClr val="B85042"/>
            </a:solidFill>
            <a:prstDash val="solid"/>
          </a:ln>
        </p:spPr>
      </p:sp>
      <p:sp>
        <p:nvSpPr>
          <p:cNvPr id="7" name="Text 5"/>
          <p:cNvSpPr/>
          <p:nvPr/>
        </p:nvSpPr>
        <p:spPr>
          <a:xfrm>
            <a:off x="4754880" y="4160520"/>
            <a:ext cx="6858000" cy="2011680"/>
          </a:xfrm>
          <a:prstGeom prst="rect">
            <a:avLst/>
          </a:prstGeom>
          <a:noFill/>
          <a:ln/>
        </p:spPr>
        <p:txBody>
          <a:bodyPr wrap="square" lIns="0" tIns="0" rIns="0" bIns="0" rtlCol="0" anchor="t"/>
          <a:lstStyle/>
          <a:p>
            <a:pPr indent="0" marL="0">
              <a:spcAft>
                <a:spcPts val="600"/>
              </a:spcAft>
              <a:buNone/>
            </a:pPr>
            <a:r>
              <a:rPr lang="en-US" sz="1000" b="1" spc="400" kern="0" dirty="0">
                <a:solidFill>
                  <a:srgbClr val="B85042"/>
                </a:solidFill>
                <a:latin typeface="Calibri" pitchFamily="34" charset="0"/>
                <a:ea typeface="Calibri" pitchFamily="34" charset="-122"/>
                <a:cs typeface="Calibri" pitchFamily="34" charset="-120"/>
              </a:rPr>
              <a:t>SETTING
</a:t>
            </a:r>
            <a:pPr indent="0" marL="0">
              <a:spcAft>
                <a:spcPts val="600"/>
              </a:spcAft>
              <a:buNone/>
            </a:pPr>
            <a:r>
              <a:rPr lang="en-US" sz="1200" dirty="0">
                <a:solidFill>
                  <a:srgbClr val="CADCFC"/>
                </a:solidFill>
                <a:latin typeface="Calibri" pitchFamily="34" charset="0"/>
                <a:ea typeface="Calibri" pitchFamily="34" charset="-122"/>
                <a:cs typeface="Calibri" pitchFamily="34" charset="-120"/>
              </a:rPr>
              <a:t>Combined Air Operations Center (CAOC) supporting a counter-network campaign in an OCONUS theater. Active pattern-of-life intelligence on a high-value target (HVT) responsible for resourcing attacks against U.S. and partner forces.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1</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Leader and the Student</a:t>
            </a:r>
            <a:endParaRPr lang="en-US" sz="3200" dirty="0"/>
          </a:p>
        </p:txBody>
      </p:sp>
      <p:sp>
        <p:nvSpPr>
          <p:cNvPr id="5" name="Shape 3"/>
          <p:cNvSpPr/>
          <p:nvPr/>
        </p:nvSpPr>
        <p:spPr>
          <a:xfrm>
            <a:off x="548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5349240" cy="640080"/>
          </a:xfrm>
          <a:prstGeom prst="rect">
            <a:avLst/>
          </a:prstGeom>
          <a:solidFill>
            <a:srgbClr val="1E2761"/>
          </a:solidFill>
          <a:ln w="12700">
            <a:solidFill>
              <a:srgbClr val="1E2761"/>
            </a:solidFill>
            <a:prstDash val="solid"/>
          </a:ln>
        </p:spPr>
      </p:sp>
      <p:sp>
        <p:nvSpPr>
          <p:cNvPr id="7" name="Text 5"/>
          <p:cNvSpPr/>
          <p:nvPr/>
        </p:nvSpPr>
        <p:spPr>
          <a:xfrm>
            <a:off x="777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CADCFC"/>
                </a:solidFill>
                <a:latin typeface="Calibri" pitchFamily="34" charset="0"/>
                <a:ea typeface="Calibri" pitchFamily="34" charset="-122"/>
                <a:cs typeface="Calibri" pitchFamily="34" charset="-120"/>
              </a:rPr>
              <a:t>THE LEADER</a:t>
            </a:r>
            <a:endParaRPr lang="en-US" sz="1100" dirty="0"/>
          </a:p>
        </p:txBody>
      </p:sp>
      <p:sp>
        <p:nvSpPr>
          <p:cNvPr id="8" name="Text 6"/>
          <p:cNvSpPr/>
          <p:nvPr/>
        </p:nvSpPr>
        <p:spPr>
          <a:xfrm>
            <a:off x="777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COL Marcus 'Hammer' Reeves</a:t>
            </a:r>
            <a:endParaRPr lang="en-US" sz="1600" dirty="0"/>
          </a:p>
        </p:txBody>
      </p:sp>
      <p:sp>
        <p:nvSpPr>
          <p:cNvPr id="9" name="Text 7"/>
          <p:cNvSpPr/>
          <p:nvPr/>
        </p:nvSpPr>
        <p:spPr>
          <a:xfrm>
            <a:off x="777240" y="2788920"/>
            <a:ext cx="4892040" cy="274320"/>
          </a:xfrm>
          <a:prstGeom prst="rect">
            <a:avLst/>
          </a:prstGeom>
          <a:noFill/>
          <a:ln/>
        </p:spPr>
        <p:txBody>
          <a:bodyPr wrap="square" lIns="0" tIns="0" rIns="0" bIns="0" rtlCol="0" anchor="ctr"/>
          <a:lstStyle/>
          <a:p>
            <a:pPr indent="0" marL="0">
              <a:buNone/>
            </a:pPr>
            <a:r>
              <a:rPr lang="en-US" sz="1300" b="1" i="1" dirty="0">
                <a:solidFill>
                  <a:srgbClr val="B85042"/>
                </a:solidFill>
                <a:latin typeface="Calibri" pitchFamily="34" charset="0"/>
                <a:ea typeface="Calibri" pitchFamily="34" charset="-122"/>
                <a:cs typeface="Calibri" pitchFamily="34" charset="-120"/>
              </a:rPr>
              <a:t>J3 Air Operations Director</a:t>
            </a:r>
            <a:endParaRPr lang="en-US" sz="1300" dirty="0"/>
          </a:p>
        </p:txBody>
      </p:sp>
      <p:sp>
        <p:nvSpPr>
          <p:cNvPr id="10" name="Text 8"/>
          <p:cNvSpPr/>
          <p:nvPr/>
        </p:nvSpPr>
        <p:spPr>
          <a:xfrm>
            <a:off x="777240" y="3108960"/>
            <a:ext cx="489204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BACKGROUND
</a:t>
            </a:r>
            <a:pPr indent="0" marL="0">
              <a:buNone/>
            </a:pPr>
            <a:r>
              <a:rPr lang="en-US" sz="1200" dirty="0">
                <a:solidFill>
                  <a:srgbClr val="14193D"/>
                </a:solidFill>
                <a:latin typeface="Calibri" pitchFamily="34" charset="0"/>
                <a:ea typeface="Calibri" pitchFamily="34" charset="-122"/>
                <a:cs typeface="Calibri" pitchFamily="34" charset="-120"/>
              </a:rPr>
              <a:t>22 years infantry and former JTAC. Recently promoted O-6, on an O-7 list watch. Tour ends in six months. Lost two soldiers in 2010 to a network linked to the current target. Has been pushing this target package for nine months. Highly respected by the staff and combat-decorated.
</a:t>
            </a:r>
            <a:pPr indent="0" marL="0">
              <a:buNone/>
            </a:pPr>
            <a:r>
              <a:rPr lang="en-US" sz="900" b="1" spc="300" kern="0" dirty="0">
                <a:solidFill>
                  <a:srgbClr val="1E2761"/>
                </a:solidFill>
                <a:latin typeface="Calibri" pitchFamily="34" charset="0"/>
                <a:ea typeface="Calibri" pitchFamily="34" charset="-122"/>
                <a:cs typeface="Calibri" pitchFamily="34" charset="-120"/>
              </a:rPr>
              <a:t>MOTIVATION
</a:t>
            </a:r>
            <a:pPr indent="0" marL="0">
              <a:buNone/>
            </a:pPr>
            <a:r>
              <a:rPr lang="en-US" sz="1200" dirty="0">
                <a:solidFill>
                  <a:srgbClr val="14193D"/>
                </a:solidFill>
                <a:latin typeface="Calibri" pitchFamily="34" charset="0"/>
                <a:ea typeface="Calibri" pitchFamily="34" charset="-122"/>
                <a:cs typeface="Calibri" pitchFamily="34" charset="-120"/>
              </a:rPr>
              <a:t>Wants a clean strike before he rotates. Believes the CDM is overly conservative and that the target poses a continuing threat that justifies risk acceptance.</a:t>
            </a:r>
            <a:endParaRPr lang="en-US" sz="900" dirty="0"/>
          </a:p>
        </p:txBody>
      </p:sp>
      <p:sp>
        <p:nvSpPr>
          <p:cNvPr id="11" name="Shape 9"/>
          <p:cNvSpPr/>
          <p:nvPr/>
        </p:nvSpPr>
        <p:spPr>
          <a:xfrm>
            <a:off x="6263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263640" y="2011680"/>
            <a:ext cx="5349240" cy="640080"/>
          </a:xfrm>
          <a:prstGeom prst="rect">
            <a:avLst/>
          </a:prstGeom>
          <a:solidFill>
            <a:srgbClr val="B85042"/>
          </a:solidFill>
          <a:ln w="12700">
            <a:solidFill>
              <a:srgbClr val="B85042"/>
            </a:solidFill>
            <a:prstDash val="solid"/>
          </a:ln>
        </p:spPr>
      </p:sp>
      <p:sp>
        <p:nvSpPr>
          <p:cNvPr id="13" name="Text 11"/>
          <p:cNvSpPr/>
          <p:nvPr/>
        </p:nvSpPr>
        <p:spPr>
          <a:xfrm>
            <a:off x="6492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YOU (THE STUDENT)</a:t>
            </a:r>
            <a:endParaRPr lang="en-US" sz="1100" dirty="0"/>
          </a:p>
        </p:txBody>
      </p:sp>
      <p:sp>
        <p:nvSpPr>
          <p:cNvPr id="14" name="Text 12"/>
          <p:cNvSpPr/>
          <p:nvPr/>
        </p:nvSpPr>
        <p:spPr>
          <a:xfrm>
            <a:off x="6492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MAJ, Targeting Officer / Targeting Cell OIC</a:t>
            </a:r>
            <a:endParaRPr lang="en-US" sz="1600" dirty="0"/>
          </a:p>
        </p:txBody>
      </p:sp>
      <p:sp>
        <p:nvSpPr>
          <p:cNvPr id="15" name="Text 13"/>
          <p:cNvSpPr/>
          <p:nvPr/>
        </p:nvSpPr>
        <p:spPr>
          <a:xfrm>
            <a:off x="6492240" y="2880360"/>
            <a:ext cx="4892040" cy="32004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STAKES
</a:t>
            </a:r>
            <a:pPr indent="0" marL="0">
              <a:buNone/>
            </a:pPr>
            <a:r>
              <a:rPr lang="en-US" sz="1200" dirty="0">
                <a:solidFill>
                  <a:srgbClr val="14193D"/>
                </a:solidFill>
                <a:latin typeface="Calibri" pitchFamily="34" charset="0"/>
                <a:ea typeface="Calibri" pitchFamily="34" charset="-122"/>
                <a:cs typeface="Calibri" pitchFamily="34" charset="-120"/>
              </a:rPr>
              <a:t>On the Below-the-Zone (BZ) list for LTC. School slot pending. COL Reeves is your senior rater and sits on next year's promotion board.
</a:t>
            </a:r>
            <a:pPr indent="0" marL="0">
              <a:buNone/>
            </a:pPr>
            <a:r>
              <a:rPr lang="en-US" sz="900" b="1" spc="300" kern="0" dirty="0">
                <a:solidFill>
                  <a:srgbClr val="B85042"/>
                </a:solidFill>
                <a:latin typeface="Calibri" pitchFamily="34" charset="0"/>
                <a:ea typeface="Calibri" pitchFamily="34" charset="-122"/>
                <a:cs typeface="Calibri" pitchFamily="34" charset="-120"/>
              </a:rPr>
              <a:t>NATURE OF RISK
</a:t>
            </a:r>
            <a:pPr indent="0" marL="0">
              <a:buNone/>
            </a:pPr>
            <a:r>
              <a:rPr lang="en-US" sz="1200" dirty="0">
                <a:solidFill>
                  <a:srgbClr val="14193D"/>
                </a:solidFill>
                <a:latin typeface="Calibri" pitchFamily="34" charset="0"/>
                <a:ea typeface="Calibri" pitchFamily="34" charset="-122"/>
                <a:cs typeface="Calibri" pitchFamily="34" charset="-120"/>
              </a:rPr>
              <a:t>Career risk (promotion, school, evaluation) with downstream legal exposure if data is falsified. Falsifying targeting inputs is a UCMJ Article 107 (False Official Statement) offense and could implicate Article 92 and Law of Armed Conflict violations.</a:t>
            </a:r>
            <a:endParaRPr lang="en-US" sz="9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1 — Manipulating the Collateral Damage Estimate</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548640"/>
            <a:ext cx="11064240" cy="36576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MORALLY AMBIGUOUS ORDER</a:t>
            </a:r>
            <a:endParaRPr lang="en-US" sz="1200" dirty="0"/>
          </a:p>
        </p:txBody>
      </p:sp>
      <p:sp>
        <p:nvSpPr>
          <p:cNvPr id="3" name="Text 1"/>
          <p:cNvSpPr/>
          <p:nvPr/>
        </p:nvSpPr>
        <p:spPr>
          <a:xfrm>
            <a:off x="548640" y="91440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1: Manipulating the Collateral Damage Estimate</a:t>
            </a:r>
            <a:endParaRPr lang="en-US" sz="2200" dirty="0"/>
          </a:p>
        </p:txBody>
      </p:sp>
      <p:sp>
        <p:nvSpPr>
          <p:cNvPr id="4" name="Shape 2"/>
          <p:cNvSpPr/>
          <p:nvPr/>
        </p:nvSpPr>
        <p:spPr>
          <a:xfrm>
            <a:off x="548640" y="1600200"/>
            <a:ext cx="73152" cy="1737360"/>
          </a:xfrm>
          <a:prstGeom prst="rect">
            <a:avLst/>
          </a:prstGeom>
          <a:solidFill>
            <a:srgbClr val="B85042"/>
          </a:solidFill>
          <a:ln w="12700">
            <a:solidFill>
              <a:srgbClr val="B85042"/>
            </a:solidFill>
            <a:prstDash val="solid"/>
          </a:ln>
        </p:spPr>
      </p:sp>
      <p:sp>
        <p:nvSpPr>
          <p:cNvPr id="5" name="Text 3"/>
          <p:cNvSpPr/>
          <p:nvPr/>
        </p:nvSpPr>
        <p:spPr>
          <a:xfrm>
            <a:off x="914400" y="1554480"/>
            <a:ext cx="10698480" cy="18288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“COL Reeves: 'Run the CDE again. The model is too conservative. You're the targeting expert. Give me a number under thirty percent so I can approve at my level. The four-star will sit on this for two weeks and we'll lose the window.'”</a:t>
            </a:r>
            <a:endParaRPr lang="en-US" sz="1800" dirty="0"/>
          </a:p>
        </p:txBody>
      </p:sp>
      <p:sp>
        <p:nvSpPr>
          <p:cNvPr id="6" name="Shape 4"/>
          <p:cNvSpPr/>
          <p:nvPr/>
        </p:nvSpPr>
        <p:spPr>
          <a:xfrm>
            <a:off x="548640" y="3520440"/>
            <a:ext cx="11064240" cy="2926080"/>
          </a:xfrm>
          <a:prstGeom prst="rect">
            <a:avLst/>
          </a:prstGeom>
          <a:solidFill>
            <a:srgbClr val="1E2761"/>
          </a:solidFill>
          <a:ln w="12700">
            <a:solidFill>
              <a:srgbClr val="1E2761"/>
            </a:solidFill>
            <a:prstDash val="solid"/>
          </a:ln>
        </p:spPr>
      </p:sp>
      <p:sp>
        <p:nvSpPr>
          <p:cNvPr id="7" name="Text 5"/>
          <p:cNvSpPr/>
          <p:nvPr/>
        </p:nvSpPr>
        <p:spPr>
          <a:xfrm>
            <a:off x="822960" y="3657600"/>
            <a:ext cx="1051560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REGULATORY AND OPERATIONAL CONTEXT</a:t>
            </a:r>
            <a:endParaRPr lang="en-US" sz="1000" dirty="0"/>
          </a:p>
        </p:txBody>
      </p:sp>
      <p:sp>
        <p:nvSpPr>
          <p:cNvPr id="8" name="Text 6"/>
          <p:cNvSpPr/>
          <p:nvPr/>
        </p:nvSpPr>
        <p:spPr>
          <a:xfrm>
            <a:off x="822960" y="3977640"/>
            <a:ext cx="10515600" cy="237744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Current CDE returns sixty-five percent probability of civilian casualty. The target compound is collocated with a children's tutoring annex that operates 1300L to 1700L. The proposed strike window is 1500L. CDM doctrine requires that any CDE above thirty percent be elevated for four-star approval; above sixty percent generally requires a no-strike decision absent extraordinary circumstances.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365760"/>
            <a:ext cx="1106424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1</a:t>
            </a:r>
            <a:endParaRPr lang="en-US" sz="1000" dirty="0"/>
          </a:p>
        </p:txBody>
      </p:sp>
      <p:sp>
        <p:nvSpPr>
          <p:cNvPr id="4" name="Text 2"/>
          <p:cNvSpPr/>
          <p:nvPr/>
        </p:nvSpPr>
        <p:spPr>
          <a:xfrm>
            <a:off x="548640" y="640080"/>
            <a:ext cx="11064240"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Four Subordinates and Their Advice</a:t>
            </a:r>
            <a:endParaRPr lang="en-US" sz="2200" dirty="0"/>
          </a:p>
        </p:txBody>
      </p:sp>
      <p:sp>
        <p:nvSpPr>
          <p:cNvPr id="5" name="Shape 3"/>
          <p:cNvSpPr/>
          <p:nvPr/>
        </p:nvSpPr>
        <p:spPr>
          <a:xfrm>
            <a:off x="548640"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1188720"/>
            <a:ext cx="109728" cy="2743200"/>
          </a:xfrm>
          <a:prstGeom prst="rect">
            <a:avLst/>
          </a:prstGeom>
          <a:solidFill>
            <a:srgbClr val="7B2D26"/>
          </a:solidFill>
          <a:ln w="12700">
            <a:solidFill>
              <a:srgbClr val="7B2D26"/>
            </a:solidFill>
            <a:prstDash val="solid"/>
          </a:ln>
        </p:spPr>
      </p:sp>
      <p:sp>
        <p:nvSpPr>
          <p:cNvPr id="7" name="Text 5"/>
          <p:cNvSpPr/>
          <p:nvPr/>
        </p:nvSpPr>
        <p:spPr>
          <a:xfrm>
            <a:off x="822960" y="1298448"/>
            <a:ext cx="5010912" cy="201168"/>
          </a:xfrm>
          <a:prstGeom prst="rect">
            <a:avLst/>
          </a:prstGeom>
          <a:noFill/>
          <a:ln/>
        </p:spPr>
        <p:txBody>
          <a:bodyPr wrap="square" lIns="0" tIns="0" rIns="0" bIns="0" rtlCol="0" anchor="ctr"/>
          <a:lstStyle/>
          <a:p>
            <a:pPr indent="0" marL="0">
              <a:buNone/>
            </a:pPr>
            <a:r>
              <a:rPr lang="en-US" sz="950" b="1" spc="400" kern="0" dirty="0">
                <a:solidFill>
                  <a:srgbClr val="7B2D26"/>
                </a:solidFill>
                <a:latin typeface="Calibri" pitchFamily="34" charset="0"/>
                <a:ea typeface="Calibri" pitchFamily="34" charset="-122"/>
                <a:cs typeface="Calibri" pitchFamily="34" charset="-120"/>
              </a:rPr>
              <a:t>LOYALIST</a:t>
            </a:r>
            <a:endParaRPr lang="en-US" sz="950" dirty="0"/>
          </a:p>
        </p:txBody>
      </p:sp>
      <p:sp>
        <p:nvSpPr>
          <p:cNvPr id="8" name="Text 6"/>
          <p:cNvSpPr/>
          <p:nvPr/>
        </p:nvSpPr>
        <p:spPr>
          <a:xfrm>
            <a:off x="822960"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SSG Lopez — Targeting Analyst</a:t>
            </a:r>
            <a:endParaRPr lang="en-US" sz="1200" dirty="0"/>
          </a:p>
        </p:txBody>
      </p:sp>
      <p:sp>
        <p:nvSpPr>
          <p:cNvPr id="9" name="Text 7"/>
          <p:cNvSpPr/>
          <p:nvPr/>
        </p:nvSpPr>
        <p:spPr>
          <a:xfrm>
            <a:off x="822960"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Conformist</a:t>
            </a:r>
            <a:endParaRPr lang="en-US" sz="850" dirty="0"/>
          </a:p>
        </p:txBody>
      </p:sp>
      <p:sp>
        <p:nvSpPr>
          <p:cNvPr id="10" name="Text 8"/>
          <p:cNvSpPr/>
          <p:nvPr/>
        </p:nvSpPr>
        <p:spPr>
          <a:xfrm>
            <a:off x="822960" y="2011680"/>
            <a:ext cx="5010912" cy="1828800"/>
          </a:xfrm>
          <a:prstGeom prst="rect">
            <a:avLst/>
          </a:prstGeom>
          <a:noFill/>
          <a:ln/>
        </p:spPr>
        <p:txBody>
          <a:bodyPr wrap="square" lIns="0" tIns="0" rIns="0" bIns="0" rtlCol="0" anchor="t"/>
          <a:lstStyle/>
          <a:p>
            <a:pPr indent="0" marL="0">
              <a:spcAft>
                <a:spcPts val="200"/>
              </a:spcAft>
              <a:buNone/>
            </a:pPr>
            <a:r>
              <a:rPr lang="en-US" sz="950" i="1" dirty="0">
                <a:solidFill>
                  <a:srgbClr val="14193D"/>
                </a:solidFill>
                <a:latin typeface="Calibri" pitchFamily="34" charset="0"/>
                <a:ea typeface="Calibri" pitchFamily="34" charset="-122"/>
                <a:cs typeface="Calibri" pitchFamily="34" charset="-120"/>
              </a:rPr>
              <a:t>“Sir, what number do you need? I can soften the structural hardness assumption and reduce the population density input. We can be at twenty-eight percent by tomorrow morning. The COL won't ask how.”</a:t>
            </a:r>
            <a:endParaRPr lang="en-US" sz="950" dirty="0"/>
          </a:p>
          <a:p>
            <a:pPr indent="0" marL="0">
              <a:spcAft>
                <a:spcPts val="200"/>
              </a:spcAft>
              <a:buNone/>
            </a:pPr>
            <a:endParaRPr lang="en-US" sz="9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Will produce whatever output the chain of command requests.</a:t>
            </a:r>
            <a:endParaRPr lang="en-US" sz="950" dirty="0"/>
          </a:p>
        </p:txBody>
      </p:sp>
      <p:sp>
        <p:nvSpPr>
          <p:cNvPr id="11" name="Shape 9"/>
          <p:cNvSpPr/>
          <p:nvPr/>
        </p:nvSpPr>
        <p:spPr>
          <a:xfrm>
            <a:off x="6144768"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144768" y="1188720"/>
            <a:ext cx="109728" cy="2743200"/>
          </a:xfrm>
          <a:prstGeom prst="rect">
            <a:avLst/>
          </a:prstGeom>
          <a:solidFill>
            <a:srgbClr val="C97B5C"/>
          </a:solidFill>
          <a:ln w="12700">
            <a:solidFill>
              <a:srgbClr val="C97B5C"/>
            </a:solidFill>
            <a:prstDash val="solid"/>
          </a:ln>
        </p:spPr>
      </p:sp>
      <p:sp>
        <p:nvSpPr>
          <p:cNvPr id="13" name="Text 11"/>
          <p:cNvSpPr/>
          <p:nvPr/>
        </p:nvSpPr>
        <p:spPr>
          <a:xfrm>
            <a:off x="6419088" y="1298448"/>
            <a:ext cx="5010912" cy="201168"/>
          </a:xfrm>
          <a:prstGeom prst="rect">
            <a:avLst/>
          </a:prstGeom>
          <a:noFill/>
          <a:ln/>
        </p:spPr>
        <p:txBody>
          <a:bodyPr wrap="square" lIns="0" tIns="0" rIns="0" bIns="0" rtlCol="0" anchor="ctr"/>
          <a:lstStyle/>
          <a:p>
            <a:pPr indent="0" marL="0">
              <a:buNone/>
            </a:pPr>
            <a:r>
              <a:rPr lang="en-US" sz="950" b="1" spc="400" kern="0" dirty="0">
                <a:solidFill>
                  <a:srgbClr val="C97B5C"/>
                </a:solidFill>
                <a:latin typeface="Calibri" pitchFamily="34" charset="0"/>
                <a:ea typeface="Calibri" pitchFamily="34" charset="-122"/>
                <a:cs typeface="Calibri" pitchFamily="34" charset="-120"/>
              </a:rPr>
              <a:t>OPERATOR</a:t>
            </a:r>
            <a:endParaRPr lang="en-US" sz="950" dirty="0"/>
          </a:p>
        </p:txBody>
      </p:sp>
      <p:sp>
        <p:nvSpPr>
          <p:cNvPr id="14" name="Text 12"/>
          <p:cNvSpPr/>
          <p:nvPr/>
        </p:nvSpPr>
        <p:spPr>
          <a:xfrm>
            <a:off x="6419088"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CW2 Patel — Targeting Warrant</a:t>
            </a:r>
            <a:endParaRPr lang="en-US" sz="1200" dirty="0"/>
          </a:p>
        </p:txBody>
      </p:sp>
      <p:sp>
        <p:nvSpPr>
          <p:cNvPr id="15" name="Text 13"/>
          <p:cNvSpPr/>
          <p:nvPr/>
        </p:nvSpPr>
        <p:spPr>
          <a:xfrm>
            <a:off x="6419088"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Resource (low support, low challenge)</a:t>
            </a:r>
            <a:endParaRPr lang="en-US" sz="850" dirty="0"/>
          </a:p>
        </p:txBody>
      </p:sp>
      <p:sp>
        <p:nvSpPr>
          <p:cNvPr id="16" name="Text 14"/>
          <p:cNvSpPr/>
          <p:nvPr/>
        </p:nvSpPr>
        <p:spPr>
          <a:xfrm>
            <a:off x="6419088" y="2011680"/>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“The CDM has known limitations. If we use the alternate algorithm, treat the children's annex as a soft auxiliary structure rather than a populated building, and apply a forty percent attendance assumption rather than the seventy percent default, we can probably land at thirty-eight percent. Not under thirty, but defensible.”</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Builds a paper trail of plausible-deniability assumptions that an investigator will recognize as exactly what they are.</a:t>
            </a:r>
            <a:endParaRPr lang="en-US" sz="850" dirty="0"/>
          </a:p>
        </p:txBody>
      </p:sp>
      <p:sp>
        <p:nvSpPr>
          <p:cNvPr id="17" name="Shape 15"/>
          <p:cNvSpPr/>
          <p:nvPr/>
        </p:nvSpPr>
        <p:spPr>
          <a:xfrm>
            <a:off x="548640"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8" name="Shape 16"/>
          <p:cNvSpPr/>
          <p:nvPr/>
        </p:nvSpPr>
        <p:spPr>
          <a:xfrm>
            <a:off x="548640" y="4059936"/>
            <a:ext cx="109728" cy="2743200"/>
          </a:xfrm>
          <a:prstGeom prst="rect">
            <a:avLst/>
          </a:prstGeom>
          <a:solidFill>
            <a:srgbClr val="3F5E78"/>
          </a:solidFill>
          <a:ln w="12700">
            <a:solidFill>
              <a:srgbClr val="3F5E78"/>
            </a:solidFill>
            <a:prstDash val="solid"/>
          </a:ln>
        </p:spPr>
      </p:sp>
      <p:sp>
        <p:nvSpPr>
          <p:cNvPr id="19" name="Text 17"/>
          <p:cNvSpPr/>
          <p:nvPr/>
        </p:nvSpPr>
        <p:spPr>
          <a:xfrm>
            <a:off x="822960" y="4169664"/>
            <a:ext cx="5010912" cy="201168"/>
          </a:xfrm>
          <a:prstGeom prst="rect">
            <a:avLst/>
          </a:prstGeom>
          <a:noFill/>
          <a:ln/>
        </p:spPr>
        <p:txBody>
          <a:bodyPr wrap="square" lIns="0" tIns="0" rIns="0" bIns="0" rtlCol="0" anchor="ctr"/>
          <a:lstStyle/>
          <a:p>
            <a:pPr indent="0" marL="0">
              <a:buNone/>
            </a:pPr>
            <a:r>
              <a:rPr lang="en-US" sz="950" b="1" spc="400" kern="0" dirty="0">
                <a:solidFill>
                  <a:srgbClr val="3F5E78"/>
                </a:solidFill>
                <a:latin typeface="Calibri" pitchFamily="34" charset="0"/>
                <a:ea typeface="Calibri" pitchFamily="34" charset="-122"/>
                <a:cs typeface="Calibri" pitchFamily="34" charset="-120"/>
              </a:rPr>
              <a:t>STICKLER</a:t>
            </a:r>
            <a:endParaRPr lang="en-US" sz="950" dirty="0"/>
          </a:p>
        </p:txBody>
      </p:sp>
      <p:sp>
        <p:nvSpPr>
          <p:cNvPr id="20" name="Text 18"/>
          <p:cNvSpPr/>
          <p:nvPr/>
        </p:nvSpPr>
        <p:spPr>
          <a:xfrm>
            <a:off x="822960"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1LT Chen — Targeting Analyst (new to the cell)</a:t>
            </a:r>
            <a:endParaRPr lang="en-US" sz="1200" dirty="0"/>
          </a:p>
        </p:txBody>
      </p:sp>
      <p:sp>
        <p:nvSpPr>
          <p:cNvPr id="21" name="Text 19"/>
          <p:cNvSpPr/>
          <p:nvPr/>
        </p:nvSpPr>
        <p:spPr>
          <a:xfrm>
            <a:off x="822960"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Alienated; Chaleff: Individualist</a:t>
            </a:r>
            <a:endParaRPr lang="en-US" sz="850" dirty="0"/>
          </a:p>
        </p:txBody>
      </p:sp>
      <p:sp>
        <p:nvSpPr>
          <p:cNvPr id="22" name="Text 20"/>
          <p:cNvSpPr/>
          <p:nvPr/>
        </p:nvSpPr>
        <p:spPr>
          <a:xfrm>
            <a:off x="822960"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“Sir, the CDE is the CDE. The doctrinal inputs produce sixty-five percent. The Commander's intent is clear: above thirty percent, escalate. Above sixty percent, no-strike unless the four-star signs. We brief the actual number. If the colonel doesn't like it, that's his call to make to his boss.”</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Right answer, wrong delivery. Protects the regulation and the lieutenant. Does not protect the commander or the mission.</a:t>
            </a:r>
            <a:endParaRPr lang="en-US" sz="850" dirty="0"/>
          </a:p>
        </p:txBody>
      </p:sp>
      <p:sp>
        <p:nvSpPr>
          <p:cNvPr id="23" name="Shape 21"/>
          <p:cNvSpPr/>
          <p:nvPr/>
        </p:nvSpPr>
        <p:spPr>
          <a:xfrm>
            <a:off x="6144768"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4" name="Shape 22"/>
          <p:cNvSpPr/>
          <p:nvPr/>
        </p:nvSpPr>
        <p:spPr>
          <a:xfrm>
            <a:off x="6144768" y="4059936"/>
            <a:ext cx="109728" cy="2743200"/>
          </a:xfrm>
          <a:prstGeom prst="rect">
            <a:avLst/>
          </a:prstGeom>
          <a:solidFill>
            <a:srgbClr val="2C7A4B"/>
          </a:solidFill>
          <a:ln w="12700">
            <a:solidFill>
              <a:srgbClr val="2C7A4B"/>
            </a:solidFill>
            <a:prstDash val="solid"/>
          </a:ln>
        </p:spPr>
      </p:sp>
      <p:sp>
        <p:nvSpPr>
          <p:cNvPr id="25" name="Text 23"/>
          <p:cNvSpPr/>
          <p:nvPr/>
        </p:nvSpPr>
        <p:spPr>
          <a:xfrm>
            <a:off x="6419088" y="4169664"/>
            <a:ext cx="5010912" cy="201168"/>
          </a:xfrm>
          <a:prstGeom prst="rect">
            <a:avLst/>
          </a:prstGeom>
          <a:noFill/>
          <a:ln/>
        </p:spPr>
        <p:txBody>
          <a:bodyPr wrap="square" lIns="0" tIns="0" rIns="0" bIns="0" rtlCol="0" anchor="ctr"/>
          <a:lstStyle/>
          <a:p>
            <a:pPr indent="0" marL="0">
              <a:buNone/>
            </a:pPr>
            <a:r>
              <a:rPr lang="en-US" sz="950" b="1" spc="400" kern="0" dirty="0">
                <a:solidFill>
                  <a:srgbClr val="2C7A4B"/>
                </a:solidFill>
                <a:latin typeface="Calibri" pitchFamily="34" charset="0"/>
                <a:ea typeface="Calibri" pitchFamily="34" charset="-122"/>
                <a:cs typeface="Calibri" pitchFamily="34" charset="-120"/>
              </a:rPr>
              <a:t>PARTNER</a:t>
            </a:r>
            <a:endParaRPr lang="en-US" sz="950" dirty="0"/>
          </a:p>
        </p:txBody>
      </p:sp>
      <p:sp>
        <p:nvSpPr>
          <p:cNvPr id="26" name="Text 24"/>
          <p:cNvSpPr/>
          <p:nvPr/>
        </p:nvSpPr>
        <p:spPr>
          <a:xfrm>
            <a:off x="6419088"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MSG Williams — Senior Targeting NCO</a:t>
            </a:r>
            <a:endParaRPr lang="en-US" sz="1200" dirty="0"/>
          </a:p>
        </p:txBody>
      </p:sp>
      <p:sp>
        <p:nvSpPr>
          <p:cNvPr id="27" name="Text 25"/>
          <p:cNvSpPr/>
          <p:nvPr/>
        </p:nvSpPr>
        <p:spPr>
          <a:xfrm>
            <a:off x="6419088"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Partner; Practitioner of Intelligent Disobedience</a:t>
            </a:r>
            <a:endParaRPr lang="en-US" sz="850" dirty="0"/>
          </a:p>
        </p:txBody>
      </p:sp>
      <p:sp>
        <p:nvSpPr>
          <p:cNvPr id="28" name="Text 26"/>
          <p:cNvSpPr/>
          <p:nvPr/>
        </p:nvSpPr>
        <p:spPr>
          <a:xfrm>
            <a:off x="6419088" y="4882896"/>
            <a:ext cx="5010912" cy="1828800"/>
          </a:xfrm>
          <a:prstGeom prst="rect">
            <a:avLst/>
          </a:prstGeom>
          <a:noFill/>
          <a:ln/>
        </p:spPr>
        <p:txBody>
          <a:bodyPr wrap="square" lIns="0" tIns="0" rIns="0" bIns="0" rtlCol="0" anchor="t"/>
          <a:lstStyle/>
          <a:p>
            <a:pPr indent="0" marL="0">
              <a:spcAft>
                <a:spcPts val="200"/>
              </a:spcAft>
              <a:buNone/>
            </a:pPr>
            <a:r>
              <a:rPr lang="en-US" sz="800" i="1" dirty="0">
                <a:solidFill>
                  <a:srgbClr val="14193D"/>
                </a:solidFill>
                <a:latin typeface="Calibri" pitchFamily="34" charset="0"/>
                <a:ea typeface="Calibri" pitchFamily="34" charset="-122"/>
                <a:cs typeface="Calibri" pitchFamily="34" charset="-120"/>
              </a:rPr>
              <a:t>“Sir, the colonel does not actually want a manipulated number. He wants this target prosecuted. Let's bring him three options that achieve his end state without compromising the data. One: shift the strike window to 0530L when the annex is closed. CDE drops to eight percent and he can approve at his level. Two: smaller-warhead precision-guided alternative at the existing window. … [full text in scenario book]”</a:t>
            </a:r>
            <a:endParaRPr lang="en-US" sz="800" dirty="0"/>
          </a:p>
          <a:p>
            <a:pPr indent="0" marL="0">
              <a:spcAft>
                <a:spcPts val="200"/>
              </a:spcAft>
              <a:buNone/>
            </a:pPr>
            <a:endParaRPr lang="en-US" sz="80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Reframes the order as a means-end problem and restores the leader's range of options.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1</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Decision Tree and Outcomes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40080"/>
                <a:gridCol w="2103120"/>
                <a:gridCol w="2377440"/>
                <a:gridCol w="4572000"/>
                <a:gridCol w="1371600"/>
              </a:tblGrid>
              <a:tr h="868680">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IMMEDIATE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A</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Submit a manipulated CDE under the doctrinal threshold.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Strike approved at the colonel's level. HVT eliminated within the chosen window.</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Battle damage assessment confirms eleven civilian casualties including six children. Joint IG investigation. CENTCOM legal review. UCMJ Article 107 charges referred against the targeting officer. COL Reeves relieved for cause. Strategic information operations damage; ally requests case file.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B</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Refuse the manipulation and report 65% without alternatives.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Mission window lost. COL Reeves furious. Targeting officer evaluated as 'inflexible.' BZ momentum stalled.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Target conducts a successful attack three weeks later. Two friendly KIA. Targeting officer not directly culpable but now identified internally as a roadblock. School slot deferred a year.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MISSION FAILURE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F2A"/>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C</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Bring the colonel three operational alternatives that meet his end state.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COL pushes back initially, but the 0530L window is operationally feasible. Pattern-of-life confirms the annex is empty. Strike executes at 0530L three days later.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Target eliminated. CDE actual: zero civilian casualties. COL Reeves writes a top-block evaluation citing 'strategic targeting judgment under pressure.' Targeting officer makes the BZ promotion list. Cell adopts the alternative-options framing as standard practice.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4B"/>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D</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Operator builds a defensible massaged number; Partner reframes options.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A 38% number is briefed alongside the alternatives. COL takes the alternatives.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Same operational result as Path C, but the targeting cell now has an internal precedent of producing 'defensible-but-massaged' numbers. Six months later, a more junior analyst applies the same approach to a case that does not warrant it.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ACCEPTABLE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574"/>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1 — Manipulating the Collateral Damage Estimate</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292608"/>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1  ·  DECISION TREE</a:t>
            </a:r>
            <a:endParaRPr lang="en-US" sz="1000" dirty="0"/>
          </a:p>
        </p:txBody>
      </p:sp>
      <p:sp>
        <p:nvSpPr>
          <p:cNvPr id="4" name="Text 2"/>
          <p:cNvSpPr/>
          <p:nvPr/>
        </p:nvSpPr>
        <p:spPr>
          <a:xfrm>
            <a:off x="548640" y="548640"/>
            <a:ext cx="110642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Paths from order to outcome</a:t>
            </a:r>
            <a:endParaRPr lang="en-US" sz="1800" dirty="0"/>
          </a:p>
        </p:txBody>
      </p:sp>
      <p:sp>
        <p:nvSpPr>
          <p:cNvPr id="5" name="Shape 3"/>
          <p:cNvSpPr/>
          <p:nvPr/>
        </p:nvSpPr>
        <p:spPr>
          <a:xfrm>
            <a:off x="3337560" y="960120"/>
            <a:ext cx="5486400" cy="640080"/>
          </a:xfrm>
          <a:prstGeom prst="rect">
            <a:avLst/>
          </a:prstGeom>
          <a:solidFill>
            <a:srgbClr val="14193D"/>
          </a:solidFill>
          <a:ln w="12700">
            <a:solidFill>
              <a:srgbClr val="14193D"/>
            </a:solidFill>
            <a:prstDash val="solid"/>
          </a:ln>
          <a:effectLst>
            <a:outerShdw sx="100000" sy="100000" kx="0" ky="0" algn="bl" rotWithShape="0" blurRad="152400" dist="38100" dir="5400000">
              <a:srgbClr val="000000">
                <a:alpha val="10000"/>
              </a:srgbClr>
            </a:outerShdw>
          </a:effectLst>
        </p:spPr>
      </p:sp>
      <p:sp>
        <p:nvSpPr>
          <p:cNvPr id="6" name="Text 4"/>
          <p:cNvSpPr/>
          <p:nvPr/>
        </p:nvSpPr>
        <p:spPr>
          <a:xfrm>
            <a:off x="3474720" y="1014984"/>
            <a:ext cx="5212080" cy="182880"/>
          </a:xfrm>
          <a:prstGeom prst="rect">
            <a:avLst/>
          </a:prstGeom>
          <a:noFill/>
          <a:ln/>
        </p:spPr>
        <p:txBody>
          <a:bodyPr wrap="square" lIns="0" tIns="0" rIns="0" bIns="0" rtlCol="0" anchor="ctr"/>
          <a:lstStyle/>
          <a:p>
            <a:pPr indent="0" marL="0">
              <a:buNone/>
            </a:pPr>
            <a:r>
              <a:rPr lang="en-US" sz="850" b="1" spc="400" kern="0" dirty="0">
                <a:solidFill>
                  <a:srgbClr val="B85042"/>
                </a:solidFill>
                <a:latin typeface="Calibri" pitchFamily="34" charset="0"/>
                <a:ea typeface="Calibri" pitchFamily="34" charset="-122"/>
                <a:cs typeface="Calibri" pitchFamily="34" charset="-120"/>
              </a:rPr>
              <a:t>THE ORDER</a:t>
            </a:r>
            <a:endParaRPr lang="en-US" sz="850" dirty="0"/>
          </a:p>
        </p:txBody>
      </p:sp>
      <p:sp>
        <p:nvSpPr>
          <p:cNvPr id="7" name="Text 5"/>
          <p:cNvSpPr/>
          <p:nvPr/>
        </p:nvSpPr>
        <p:spPr>
          <a:xfrm>
            <a:off x="3474720" y="1197864"/>
            <a:ext cx="5212080" cy="36576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“COL Reeves: 'Run the CDE again. The model is too conservative. You're the targeting expert. Give me a number under thirty percent so I can approve at my level. …”</a:t>
            </a:r>
            <a:endParaRPr lang="en-US" sz="900" dirty="0"/>
          </a:p>
        </p:txBody>
      </p:sp>
      <p:sp>
        <p:nvSpPr>
          <p:cNvPr id="8" name="Shape 6"/>
          <p:cNvSpPr/>
          <p:nvPr/>
        </p:nvSpPr>
        <p:spPr>
          <a:xfrm>
            <a:off x="6080760" y="1600200"/>
            <a:ext cx="0" cy="137160"/>
          </a:xfrm>
          <a:prstGeom prst="line">
            <a:avLst/>
          </a:prstGeom>
          <a:noFill/>
          <a:ln w="15875">
            <a:solidFill>
              <a:srgbClr val="94A3B8"/>
            </a:solidFill>
            <a:prstDash val="solid"/>
          </a:ln>
        </p:spPr>
      </p:sp>
      <p:sp>
        <p:nvSpPr>
          <p:cNvPr id="9" name="Shape 7"/>
          <p:cNvSpPr/>
          <p:nvPr/>
        </p:nvSpPr>
        <p:spPr>
          <a:xfrm>
            <a:off x="1869948" y="1737360"/>
            <a:ext cx="8421624" cy="0"/>
          </a:xfrm>
          <a:prstGeom prst="line">
            <a:avLst/>
          </a:prstGeom>
          <a:noFill/>
          <a:ln w="15875">
            <a:solidFill>
              <a:srgbClr val="94A3B8"/>
            </a:solidFill>
            <a:prstDash val="solid"/>
          </a:ln>
        </p:spPr>
      </p:sp>
      <p:sp>
        <p:nvSpPr>
          <p:cNvPr id="10" name="Shape 8"/>
          <p:cNvSpPr/>
          <p:nvPr/>
        </p:nvSpPr>
        <p:spPr>
          <a:xfrm>
            <a:off x="1869948" y="1737360"/>
            <a:ext cx="0" cy="137160"/>
          </a:xfrm>
          <a:prstGeom prst="line">
            <a:avLst/>
          </a:prstGeom>
          <a:noFill/>
          <a:ln w="15875">
            <a:solidFill>
              <a:srgbClr val="94A3B8"/>
            </a:solidFill>
            <a:prstDash val="solid"/>
          </a:ln>
        </p:spPr>
      </p:sp>
      <p:sp>
        <p:nvSpPr>
          <p:cNvPr id="11" name="Shape 9"/>
          <p:cNvSpPr/>
          <p:nvPr/>
        </p:nvSpPr>
        <p:spPr>
          <a:xfrm>
            <a:off x="4677156" y="1737360"/>
            <a:ext cx="0" cy="137160"/>
          </a:xfrm>
          <a:prstGeom prst="line">
            <a:avLst/>
          </a:prstGeom>
          <a:noFill/>
          <a:ln w="15875">
            <a:solidFill>
              <a:srgbClr val="94A3B8"/>
            </a:solidFill>
            <a:prstDash val="solid"/>
          </a:ln>
        </p:spPr>
      </p:sp>
      <p:sp>
        <p:nvSpPr>
          <p:cNvPr id="12" name="Shape 10"/>
          <p:cNvSpPr/>
          <p:nvPr/>
        </p:nvSpPr>
        <p:spPr>
          <a:xfrm>
            <a:off x="7484364" y="1737360"/>
            <a:ext cx="0" cy="137160"/>
          </a:xfrm>
          <a:prstGeom prst="line">
            <a:avLst/>
          </a:prstGeom>
          <a:noFill/>
          <a:ln w="15875">
            <a:solidFill>
              <a:srgbClr val="94A3B8"/>
            </a:solidFill>
            <a:prstDash val="solid"/>
          </a:ln>
        </p:spPr>
      </p:sp>
      <p:sp>
        <p:nvSpPr>
          <p:cNvPr id="13" name="Shape 11"/>
          <p:cNvSpPr/>
          <p:nvPr/>
        </p:nvSpPr>
        <p:spPr>
          <a:xfrm>
            <a:off x="10291572" y="1737360"/>
            <a:ext cx="0" cy="137160"/>
          </a:xfrm>
          <a:prstGeom prst="line">
            <a:avLst/>
          </a:prstGeom>
          <a:noFill/>
          <a:ln w="15875">
            <a:solidFill>
              <a:srgbClr val="94A3B8"/>
            </a:solidFill>
            <a:prstDash val="solid"/>
          </a:ln>
        </p:spPr>
      </p:sp>
      <p:sp>
        <p:nvSpPr>
          <p:cNvPr id="14" name="Shape 12"/>
          <p:cNvSpPr/>
          <p:nvPr/>
        </p:nvSpPr>
        <p:spPr>
          <a:xfrm>
            <a:off x="548640" y="1874520"/>
            <a:ext cx="2642616" cy="548640"/>
          </a:xfrm>
          <a:prstGeom prst="rect">
            <a:avLst/>
          </a:prstGeom>
          <a:solidFill>
            <a:srgbClr val="B85042"/>
          </a:solidFill>
          <a:ln w="12700">
            <a:solidFill>
              <a:srgbClr val="B85042"/>
            </a:solidFill>
            <a:prstDash val="solid"/>
          </a:ln>
        </p:spPr>
      </p:sp>
      <p:sp>
        <p:nvSpPr>
          <p:cNvPr id="15" name="Text 13"/>
          <p:cNvSpPr/>
          <p:nvPr/>
        </p:nvSpPr>
        <p:spPr>
          <a:xfrm>
            <a:off x="685800"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A</a:t>
            </a:r>
            <a:endParaRPr lang="en-US" sz="900" dirty="0"/>
          </a:p>
        </p:txBody>
      </p:sp>
      <p:sp>
        <p:nvSpPr>
          <p:cNvPr id="16" name="Text 14"/>
          <p:cNvSpPr/>
          <p:nvPr/>
        </p:nvSpPr>
        <p:spPr>
          <a:xfrm>
            <a:off x="685800"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Career-ending and possibly criminal. Possible court-martial.</a:t>
            </a:r>
            <a:endParaRPr lang="en-US" sz="1050" dirty="0"/>
          </a:p>
        </p:txBody>
      </p:sp>
      <p:sp>
        <p:nvSpPr>
          <p:cNvPr id="17" name="Shape 15"/>
          <p:cNvSpPr/>
          <p:nvPr/>
        </p:nvSpPr>
        <p:spPr>
          <a:xfrm>
            <a:off x="1869948" y="2423160"/>
            <a:ext cx="0" cy="45720"/>
          </a:xfrm>
          <a:prstGeom prst="line">
            <a:avLst/>
          </a:prstGeom>
          <a:noFill/>
          <a:ln w="12700">
            <a:solidFill>
              <a:srgbClr val="94A3B8"/>
            </a:solidFill>
            <a:prstDash val="solid"/>
          </a:ln>
        </p:spPr>
      </p:sp>
      <p:sp>
        <p:nvSpPr>
          <p:cNvPr id="18" name="Shape 16"/>
          <p:cNvSpPr/>
          <p:nvPr/>
        </p:nvSpPr>
        <p:spPr>
          <a:xfrm>
            <a:off x="548640" y="2468880"/>
            <a:ext cx="2642616" cy="457200"/>
          </a:xfrm>
          <a:prstGeom prst="rect">
            <a:avLst/>
          </a:prstGeom>
          <a:solidFill>
            <a:srgbClr val="F4F1EC"/>
          </a:solidFill>
          <a:ln w="6350">
            <a:solidFill>
              <a:srgbClr val="E2E8F0"/>
            </a:solidFill>
            <a:prstDash val="solid"/>
          </a:ln>
        </p:spPr>
      </p:sp>
      <p:sp>
        <p:nvSpPr>
          <p:cNvPr id="19" name="Shape 17"/>
          <p:cNvSpPr/>
          <p:nvPr/>
        </p:nvSpPr>
        <p:spPr>
          <a:xfrm>
            <a:off x="548640" y="2468880"/>
            <a:ext cx="54864" cy="457200"/>
          </a:xfrm>
          <a:prstGeom prst="rect">
            <a:avLst/>
          </a:prstGeom>
          <a:solidFill>
            <a:srgbClr val="B85042"/>
          </a:solidFill>
          <a:ln w="12700">
            <a:solidFill>
              <a:srgbClr val="B85042"/>
            </a:solidFill>
            <a:prstDash val="solid"/>
          </a:ln>
        </p:spPr>
      </p:sp>
      <p:sp>
        <p:nvSpPr>
          <p:cNvPr id="20" name="Text 18"/>
          <p:cNvSpPr/>
          <p:nvPr/>
        </p:nvSpPr>
        <p:spPr>
          <a:xfrm>
            <a:off x="713232"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21" name="Text 19"/>
          <p:cNvSpPr/>
          <p:nvPr/>
        </p:nvSpPr>
        <p:spPr>
          <a:xfrm>
            <a:off x="713232"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Loyalist (SSG Lopez) or Operator (CW2 Patel)</a:t>
            </a:r>
            <a:endParaRPr lang="en-US" sz="950" dirty="0"/>
          </a:p>
        </p:txBody>
      </p:sp>
      <p:sp>
        <p:nvSpPr>
          <p:cNvPr id="22" name="Shape 20"/>
          <p:cNvSpPr/>
          <p:nvPr/>
        </p:nvSpPr>
        <p:spPr>
          <a:xfrm>
            <a:off x="548640" y="2971800"/>
            <a:ext cx="2642616" cy="548640"/>
          </a:xfrm>
          <a:prstGeom prst="rect">
            <a:avLst/>
          </a:prstGeom>
          <a:solidFill>
            <a:srgbClr val="F4F1EC"/>
          </a:solidFill>
          <a:ln w="6350">
            <a:solidFill>
              <a:srgbClr val="E2E8F0"/>
            </a:solidFill>
            <a:prstDash val="solid"/>
          </a:ln>
        </p:spPr>
      </p:sp>
      <p:sp>
        <p:nvSpPr>
          <p:cNvPr id="23" name="Shape 21"/>
          <p:cNvSpPr/>
          <p:nvPr/>
        </p:nvSpPr>
        <p:spPr>
          <a:xfrm>
            <a:off x="548640" y="2971800"/>
            <a:ext cx="54864" cy="548640"/>
          </a:xfrm>
          <a:prstGeom prst="rect">
            <a:avLst/>
          </a:prstGeom>
          <a:solidFill>
            <a:srgbClr val="B85042"/>
          </a:solidFill>
          <a:ln w="12700">
            <a:solidFill>
              <a:srgbClr val="B85042"/>
            </a:solidFill>
            <a:prstDash val="solid"/>
          </a:ln>
        </p:spPr>
      </p:sp>
      <p:sp>
        <p:nvSpPr>
          <p:cNvPr id="24" name="Text 22"/>
          <p:cNvSpPr/>
          <p:nvPr/>
        </p:nvSpPr>
        <p:spPr>
          <a:xfrm>
            <a:off x="713232"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25" name="Text 23"/>
          <p:cNvSpPr/>
          <p:nvPr/>
        </p:nvSpPr>
        <p:spPr>
          <a:xfrm>
            <a:off x="713232"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Submit a manipulated CDE under the doctrinal threshold.</a:t>
            </a:r>
            <a:endParaRPr lang="en-US" sz="900" dirty="0"/>
          </a:p>
        </p:txBody>
      </p:sp>
      <p:sp>
        <p:nvSpPr>
          <p:cNvPr id="26" name="Shape 24"/>
          <p:cNvSpPr/>
          <p:nvPr/>
        </p:nvSpPr>
        <p:spPr>
          <a:xfrm>
            <a:off x="548640" y="3566160"/>
            <a:ext cx="2642616" cy="685800"/>
          </a:xfrm>
          <a:prstGeom prst="rect">
            <a:avLst/>
          </a:prstGeom>
          <a:solidFill>
            <a:srgbClr val="F4F1EC"/>
          </a:solidFill>
          <a:ln w="6350">
            <a:solidFill>
              <a:srgbClr val="E2E8F0"/>
            </a:solidFill>
            <a:prstDash val="solid"/>
          </a:ln>
        </p:spPr>
      </p:sp>
      <p:sp>
        <p:nvSpPr>
          <p:cNvPr id="27" name="Shape 25"/>
          <p:cNvSpPr/>
          <p:nvPr/>
        </p:nvSpPr>
        <p:spPr>
          <a:xfrm>
            <a:off x="548640" y="3566160"/>
            <a:ext cx="54864" cy="685800"/>
          </a:xfrm>
          <a:prstGeom prst="rect">
            <a:avLst/>
          </a:prstGeom>
          <a:solidFill>
            <a:srgbClr val="B85042"/>
          </a:solidFill>
          <a:ln w="12700">
            <a:solidFill>
              <a:srgbClr val="B85042"/>
            </a:solidFill>
            <a:prstDash val="solid"/>
          </a:ln>
        </p:spPr>
      </p:sp>
      <p:sp>
        <p:nvSpPr>
          <p:cNvPr id="28" name="Text 26"/>
          <p:cNvSpPr/>
          <p:nvPr/>
        </p:nvSpPr>
        <p:spPr>
          <a:xfrm>
            <a:off x="713232"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29" name="Text 27"/>
          <p:cNvSpPr/>
          <p:nvPr/>
        </p:nvSpPr>
        <p:spPr>
          <a:xfrm>
            <a:off x="713232"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Strike approved at the colonel's level. HVT eliminated within the chosen window.</a:t>
            </a:r>
            <a:endParaRPr lang="en-US" sz="850" dirty="0"/>
          </a:p>
        </p:txBody>
      </p:sp>
      <p:sp>
        <p:nvSpPr>
          <p:cNvPr id="30" name="Shape 28"/>
          <p:cNvSpPr/>
          <p:nvPr/>
        </p:nvSpPr>
        <p:spPr>
          <a:xfrm>
            <a:off x="548640" y="4297680"/>
            <a:ext cx="2642616" cy="1417320"/>
          </a:xfrm>
          <a:prstGeom prst="rect">
            <a:avLst/>
          </a:prstGeom>
          <a:solidFill>
            <a:srgbClr val="F4F1EC"/>
          </a:solidFill>
          <a:ln w="6350">
            <a:solidFill>
              <a:srgbClr val="E2E8F0"/>
            </a:solidFill>
            <a:prstDash val="solid"/>
          </a:ln>
        </p:spPr>
      </p:sp>
      <p:sp>
        <p:nvSpPr>
          <p:cNvPr id="31" name="Shape 29"/>
          <p:cNvSpPr/>
          <p:nvPr/>
        </p:nvSpPr>
        <p:spPr>
          <a:xfrm>
            <a:off x="548640" y="4297680"/>
            <a:ext cx="54864" cy="1417320"/>
          </a:xfrm>
          <a:prstGeom prst="rect">
            <a:avLst/>
          </a:prstGeom>
          <a:solidFill>
            <a:srgbClr val="B85042"/>
          </a:solidFill>
          <a:ln w="12700">
            <a:solidFill>
              <a:srgbClr val="B85042"/>
            </a:solidFill>
            <a:prstDash val="solid"/>
          </a:ln>
        </p:spPr>
      </p:sp>
      <p:sp>
        <p:nvSpPr>
          <p:cNvPr id="32" name="Text 30"/>
          <p:cNvSpPr/>
          <p:nvPr/>
        </p:nvSpPr>
        <p:spPr>
          <a:xfrm>
            <a:off x="713232"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33" name="Text 31"/>
          <p:cNvSpPr/>
          <p:nvPr/>
        </p:nvSpPr>
        <p:spPr>
          <a:xfrm>
            <a:off x="713232"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Battle damage assessment confirms eleven civilian casualties including six children. Joint IG investigation. CENTCOM legal review. UCMJ Article 107 charges referred against the targeting officer. COL Reeves relieved for cause. Strategic information operations damage; ally requests case file.</a:t>
            </a:r>
            <a:endParaRPr lang="en-US" sz="800" dirty="0"/>
          </a:p>
        </p:txBody>
      </p:sp>
      <p:sp>
        <p:nvSpPr>
          <p:cNvPr id="34" name="Shape 32"/>
          <p:cNvSpPr/>
          <p:nvPr/>
        </p:nvSpPr>
        <p:spPr>
          <a:xfrm>
            <a:off x="1869948" y="2926080"/>
            <a:ext cx="0" cy="45720"/>
          </a:xfrm>
          <a:prstGeom prst="line">
            <a:avLst/>
          </a:prstGeom>
          <a:noFill/>
          <a:ln w="12700">
            <a:solidFill>
              <a:srgbClr val="94A3B8"/>
            </a:solidFill>
            <a:prstDash val="solid"/>
          </a:ln>
        </p:spPr>
      </p:sp>
      <p:sp>
        <p:nvSpPr>
          <p:cNvPr id="35" name="Shape 33"/>
          <p:cNvSpPr/>
          <p:nvPr/>
        </p:nvSpPr>
        <p:spPr>
          <a:xfrm>
            <a:off x="1869948" y="3520440"/>
            <a:ext cx="0" cy="45720"/>
          </a:xfrm>
          <a:prstGeom prst="line">
            <a:avLst/>
          </a:prstGeom>
          <a:noFill/>
          <a:ln w="12700">
            <a:solidFill>
              <a:srgbClr val="94A3B8"/>
            </a:solidFill>
            <a:prstDash val="solid"/>
          </a:ln>
        </p:spPr>
      </p:sp>
      <p:sp>
        <p:nvSpPr>
          <p:cNvPr id="36" name="Shape 34"/>
          <p:cNvSpPr/>
          <p:nvPr/>
        </p:nvSpPr>
        <p:spPr>
          <a:xfrm>
            <a:off x="1869948" y="4251960"/>
            <a:ext cx="0" cy="45720"/>
          </a:xfrm>
          <a:prstGeom prst="line">
            <a:avLst/>
          </a:prstGeom>
          <a:noFill/>
          <a:ln w="12700">
            <a:solidFill>
              <a:srgbClr val="94A3B8"/>
            </a:solidFill>
            <a:prstDash val="solid"/>
          </a:ln>
        </p:spPr>
      </p:sp>
      <p:sp>
        <p:nvSpPr>
          <p:cNvPr id="37" name="Shape 35"/>
          <p:cNvSpPr/>
          <p:nvPr/>
        </p:nvSpPr>
        <p:spPr>
          <a:xfrm>
            <a:off x="1869948" y="5715000"/>
            <a:ext cx="0" cy="45720"/>
          </a:xfrm>
          <a:prstGeom prst="line">
            <a:avLst/>
          </a:prstGeom>
          <a:noFill/>
          <a:ln w="12700">
            <a:solidFill>
              <a:srgbClr val="94A3B8"/>
            </a:solidFill>
            <a:prstDash val="solid"/>
          </a:ln>
        </p:spPr>
      </p:sp>
      <p:sp>
        <p:nvSpPr>
          <p:cNvPr id="38" name="Shape 36"/>
          <p:cNvSpPr/>
          <p:nvPr/>
        </p:nvSpPr>
        <p:spPr>
          <a:xfrm>
            <a:off x="548640" y="5760720"/>
            <a:ext cx="2642616" cy="411480"/>
          </a:xfrm>
          <a:prstGeom prst="rect">
            <a:avLst/>
          </a:prstGeom>
          <a:solidFill>
            <a:srgbClr val="B85042"/>
          </a:solidFill>
          <a:ln w="12700">
            <a:solidFill>
              <a:srgbClr val="B85042"/>
            </a:solidFill>
            <a:prstDash val="solid"/>
          </a:ln>
        </p:spPr>
      </p:sp>
      <p:sp>
        <p:nvSpPr>
          <p:cNvPr id="39" name="Text 37"/>
          <p:cNvSpPr/>
          <p:nvPr/>
        </p:nvSpPr>
        <p:spPr>
          <a:xfrm>
            <a:off x="685800"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a:t>
            </a:r>
            <a:endParaRPr lang="en-US" sz="1100" dirty="0"/>
          </a:p>
        </p:txBody>
      </p:sp>
      <p:sp>
        <p:nvSpPr>
          <p:cNvPr id="40" name="Shape 38"/>
          <p:cNvSpPr/>
          <p:nvPr/>
        </p:nvSpPr>
        <p:spPr>
          <a:xfrm>
            <a:off x="3355848" y="1874520"/>
            <a:ext cx="2642616" cy="548640"/>
          </a:xfrm>
          <a:prstGeom prst="rect">
            <a:avLst/>
          </a:prstGeom>
          <a:solidFill>
            <a:srgbClr val="7C3F2A"/>
          </a:solidFill>
          <a:ln w="12700">
            <a:solidFill>
              <a:srgbClr val="7C3F2A"/>
            </a:solidFill>
            <a:prstDash val="solid"/>
          </a:ln>
        </p:spPr>
      </p:sp>
      <p:sp>
        <p:nvSpPr>
          <p:cNvPr id="41" name="Text 39"/>
          <p:cNvSpPr/>
          <p:nvPr/>
        </p:nvSpPr>
        <p:spPr>
          <a:xfrm>
            <a:off x="3493008"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B</a:t>
            </a:r>
            <a:endParaRPr lang="en-US" sz="900" dirty="0"/>
          </a:p>
        </p:txBody>
      </p:sp>
      <p:sp>
        <p:nvSpPr>
          <p:cNvPr id="42" name="Text 40"/>
          <p:cNvSpPr/>
          <p:nvPr/>
        </p:nvSpPr>
        <p:spPr>
          <a:xfrm>
            <a:off x="3493008"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Ethically clean, professionally costly, …</a:t>
            </a:r>
            <a:endParaRPr lang="en-US" sz="1050" dirty="0"/>
          </a:p>
        </p:txBody>
      </p:sp>
      <p:sp>
        <p:nvSpPr>
          <p:cNvPr id="43" name="Shape 41"/>
          <p:cNvSpPr/>
          <p:nvPr/>
        </p:nvSpPr>
        <p:spPr>
          <a:xfrm>
            <a:off x="4677156" y="2423160"/>
            <a:ext cx="0" cy="45720"/>
          </a:xfrm>
          <a:prstGeom prst="line">
            <a:avLst/>
          </a:prstGeom>
          <a:noFill/>
          <a:ln w="12700">
            <a:solidFill>
              <a:srgbClr val="94A3B8"/>
            </a:solidFill>
            <a:prstDash val="solid"/>
          </a:ln>
        </p:spPr>
      </p:sp>
      <p:sp>
        <p:nvSpPr>
          <p:cNvPr id="44" name="Shape 42"/>
          <p:cNvSpPr/>
          <p:nvPr/>
        </p:nvSpPr>
        <p:spPr>
          <a:xfrm>
            <a:off x="3355848" y="2468880"/>
            <a:ext cx="2642616" cy="457200"/>
          </a:xfrm>
          <a:prstGeom prst="rect">
            <a:avLst/>
          </a:prstGeom>
          <a:solidFill>
            <a:srgbClr val="F4F1EC"/>
          </a:solidFill>
          <a:ln w="6350">
            <a:solidFill>
              <a:srgbClr val="E2E8F0"/>
            </a:solidFill>
            <a:prstDash val="solid"/>
          </a:ln>
        </p:spPr>
      </p:sp>
      <p:sp>
        <p:nvSpPr>
          <p:cNvPr id="45" name="Shape 43"/>
          <p:cNvSpPr/>
          <p:nvPr/>
        </p:nvSpPr>
        <p:spPr>
          <a:xfrm>
            <a:off x="3355848" y="2468880"/>
            <a:ext cx="54864" cy="457200"/>
          </a:xfrm>
          <a:prstGeom prst="rect">
            <a:avLst/>
          </a:prstGeom>
          <a:solidFill>
            <a:srgbClr val="7C3F2A"/>
          </a:solidFill>
          <a:ln w="12700">
            <a:solidFill>
              <a:srgbClr val="7C3F2A"/>
            </a:solidFill>
            <a:prstDash val="solid"/>
          </a:ln>
        </p:spPr>
      </p:sp>
      <p:sp>
        <p:nvSpPr>
          <p:cNvPr id="46" name="Text 44"/>
          <p:cNvSpPr/>
          <p:nvPr/>
        </p:nvSpPr>
        <p:spPr>
          <a:xfrm>
            <a:off x="3520440" y="2523744"/>
            <a:ext cx="2368296" cy="182880"/>
          </a:xfrm>
          <a:prstGeom prst="rect">
            <a:avLst/>
          </a:prstGeom>
          <a:noFill/>
          <a:ln/>
        </p:spPr>
        <p:txBody>
          <a:bodyPr wrap="square" lIns="0" tIns="0" rIns="0" bIns="0" rtlCol="0" anchor="ctr"/>
          <a:lstStyle/>
          <a:p>
            <a:pPr indent="0" marL="0">
              <a:buNone/>
            </a:pPr>
            <a:r>
              <a:rPr lang="en-US" sz="750" b="1" spc="300" kern="0" dirty="0">
                <a:solidFill>
                  <a:srgbClr val="7C3F2A"/>
                </a:solidFill>
                <a:latin typeface="Calibri" pitchFamily="34" charset="0"/>
                <a:ea typeface="Calibri" pitchFamily="34" charset="-122"/>
                <a:cs typeface="Calibri" pitchFamily="34" charset="-120"/>
              </a:rPr>
              <a:t>ENGAGES</a:t>
            </a:r>
            <a:endParaRPr lang="en-US" sz="750" dirty="0"/>
          </a:p>
        </p:txBody>
      </p:sp>
      <p:sp>
        <p:nvSpPr>
          <p:cNvPr id="47" name="Text 45"/>
          <p:cNvSpPr/>
          <p:nvPr/>
        </p:nvSpPr>
        <p:spPr>
          <a:xfrm>
            <a:off x="3520440"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Stickler only (1LT Chen)</a:t>
            </a:r>
            <a:endParaRPr lang="en-US" sz="950" dirty="0"/>
          </a:p>
        </p:txBody>
      </p:sp>
      <p:sp>
        <p:nvSpPr>
          <p:cNvPr id="48" name="Shape 46"/>
          <p:cNvSpPr/>
          <p:nvPr/>
        </p:nvSpPr>
        <p:spPr>
          <a:xfrm>
            <a:off x="3355848" y="2971800"/>
            <a:ext cx="2642616" cy="548640"/>
          </a:xfrm>
          <a:prstGeom prst="rect">
            <a:avLst/>
          </a:prstGeom>
          <a:solidFill>
            <a:srgbClr val="F4F1EC"/>
          </a:solidFill>
          <a:ln w="6350">
            <a:solidFill>
              <a:srgbClr val="E2E8F0"/>
            </a:solidFill>
            <a:prstDash val="solid"/>
          </a:ln>
        </p:spPr>
      </p:sp>
      <p:sp>
        <p:nvSpPr>
          <p:cNvPr id="49" name="Shape 47"/>
          <p:cNvSpPr/>
          <p:nvPr/>
        </p:nvSpPr>
        <p:spPr>
          <a:xfrm>
            <a:off x="3355848" y="2971800"/>
            <a:ext cx="54864" cy="548640"/>
          </a:xfrm>
          <a:prstGeom prst="rect">
            <a:avLst/>
          </a:prstGeom>
          <a:solidFill>
            <a:srgbClr val="7C3F2A"/>
          </a:solidFill>
          <a:ln w="12700">
            <a:solidFill>
              <a:srgbClr val="7C3F2A"/>
            </a:solidFill>
            <a:prstDash val="solid"/>
          </a:ln>
        </p:spPr>
      </p:sp>
      <p:sp>
        <p:nvSpPr>
          <p:cNvPr id="50" name="Text 48"/>
          <p:cNvSpPr/>
          <p:nvPr/>
        </p:nvSpPr>
        <p:spPr>
          <a:xfrm>
            <a:off x="3520440" y="3026664"/>
            <a:ext cx="2368296" cy="182880"/>
          </a:xfrm>
          <a:prstGeom prst="rect">
            <a:avLst/>
          </a:prstGeom>
          <a:noFill/>
          <a:ln/>
        </p:spPr>
        <p:txBody>
          <a:bodyPr wrap="square" lIns="0" tIns="0" rIns="0" bIns="0" rtlCol="0" anchor="ctr"/>
          <a:lstStyle/>
          <a:p>
            <a:pPr indent="0" marL="0">
              <a:buNone/>
            </a:pPr>
            <a:r>
              <a:rPr lang="en-US" sz="750" b="1" spc="300" kern="0" dirty="0">
                <a:solidFill>
                  <a:srgbClr val="7C3F2A"/>
                </a:solidFill>
                <a:latin typeface="Calibri" pitchFamily="34" charset="0"/>
                <a:ea typeface="Calibri" pitchFamily="34" charset="-122"/>
                <a:cs typeface="Calibri" pitchFamily="34" charset="-120"/>
              </a:rPr>
              <a:t>CHOICE / ACTION</a:t>
            </a:r>
            <a:endParaRPr lang="en-US" sz="750" dirty="0"/>
          </a:p>
        </p:txBody>
      </p:sp>
      <p:sp>
        <p:nvSpPr>
          <p:cNvPr id="51" name="Text 49"/>
          <p:cNvSpPr/>
          <p:nvPr/>
        </p:nvSpPr>
        <p:spPr>
          <a:xfrm>
            <a:off x="3520440"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Refuse the manipulation and report 65% without alternatives.</a:t>
            </a:r>
            <a:endParaRPr lang="en-US" sz="900" dirty="0"/>
          </a:p>
        </p:txBody>
      </p:sp>
      <p:sp>
        <p:nvSpPr>
          <p:cNvPr id="52" name="Shape 50"/>
          <p:cNvSpPr/>
          <p:nvPr/>
        </p:nvSpPr>
        <p:spPr>
          <a:xfrm>
            <a:off x="3355848" y="3566160"/>
            <a:ext cx="2642616" cy="685800"/>
          </a:xfrm>
          <a:prstGeom prst="rect">
            <a:avLst/>
          </a:prstGeom>
          <a:solidFill>
            <a:srgbClr val="F4F1EC"/>
          </a:solidFill>
          <a:ln w="6350">
            <a:solidFill>
              <a:srgbClr val="E2E8F0"/>
            </a:solidFill>
            <a:prstDash val="solid"/>
          </a:ln>
        </p:spPr>
      </p:sp>
      <p:sp>
        <p:nvSpPr>
          <p:cNvPr id="53" name="Shape 51"/>
          <p:cNvSpPr/>
          <p:nvPr/>
        </p:nvSpPr>
        <p:spPr>
          <a:xfrm>
            <a:off x="3355848" y="3566160"/>
            <a:ext cx="54864" cy="685800"/>
          </a:xfrm>
          <a:prstGeom prst="rect">
            <a:avLst/>
          </a:prstGeom>
          <a:solidFill>
            <a:srgbClr val="7C3F2A"/>
          </a:solidFill>
          <a:ln w="12700">
            <a:solidFill>
              <a:srgbClr val="7C3F2A"/>
            </a:solidFill>
            <a:prstDash val="solid"/>
          </a:ln>
        </p:spPr>
      </p:sp>
      <p:sp>
        <p:nvSpPr>
          <p:cNvPr id="54" name="Text 52"/>
          <p:cNvSpPr/>
          <p:nvPr/>
        </p:nvSpPr>
        <p:spPr>
          <a:xfrm>
            <a:off x="3520440" y="3621024"/>
            <a:ext cx="2368296" cy="182880"/>
          </a:xfrm>
          <a:prstGeom prst="rect">
            <a:avLst/>
          </a:prstGeom>
          <a:noFill/>
          <a:ln/>
        </p:spPr>
        <p:txBody>
          <a:bodyPr wrap="square" lIns="0" tIns="0" rIns="0" bIns="0" rtlCol="0" anchor="ctr"/>
          <a:lstStyle/>
          <a:p>
            <a:pPr indent="0" marL="0">
              <a:buNone/>
            </a:pPr>
            <a:r>
              <a:rPr lang="en-US" sz="750" b="1" spc="300" kern="0" dirty="0">
                <a:solidFill>
                  <a:srgbClr val="7C3F2A"/>
                </a:solidFill>
                <a:latin typeface="Calibri" pitchFamily="34" charset="0"/>
                <a:ea typeface="Calibri" pitchFamily="34" charset="-122"/>
                <a:cs typeface="Calibri" pitchFamily="34" charset="-120"/>
              </a:rPr>
              <a:t>T+0  IMMEDIATE OUTCOME</a:t>
            </a:r>
            <a:endParaRPr lang="en-US" sz="750" dirty="0"/>
          </a:p>
        </p:txBody>
      </p:sp>
      <p:sp>
        <p:nvSpPr>
          <p:cNvPr id="55" name="Text 53"/>
          <p:cNvSpPr/>
          <p:nvPr/>
        </p:nvSpPr>
        <p:spPr>
          <a:xfrm>
            <a:off x="3520440"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Mission window lost. COL Reeves furious. Targeting officer evaluated as 'inflexible.' BZ momentum stalled.</a:t>
            </a:r>
            <a:endParaRPr lang="en-US" sz="850" dirty="0"/>
          </a:p>
        </p:txBody>
      </p:sp>
      <p:sp>
        <p:nvSpPr>
          <p:cNvPr id="56" name="Shape 54"/>
          <p:cNvSpPr/>
          <p:nvPr/>
        </p:nvSpPr>
        <p:spPr>
          <a:xfrm>
            <a:off x="3355848" y="4297680"/>
            <a:ext cx="2642616" cy="1417320"/>
          </a:xfrm>
          <a:prstGeom prst="rect">
            <a:avLst/>
          </a:prstGeom>
          <a:solidFill>
            <a:srgbClr val="F4F1EC"/>
          </a:solidFill>
          <a:ln w="6350">
            <a:solidFill>
              <a:srgbClr val="E2E8F0"/>
            </a:solidFill>
            <a:prstDash val="solid"/>
          </a:ln>
        </p:spPr>
      </p:sp>
      <p:sp>
        <p:nvSpPr>
          <p:cNvPr id="57" name="Shape 55"/>
          <p:cNvSpPr/>
          <p:nvPr/>
        </p:nvSpPr>
        <p:spPr>
          <a:xfrm>
            <a:off x="3355848" y="4297680"/>
            <a:ext cx="54864" cy="1417320"/>
          </a:xfrm>
          <a:prstGeom prst="rect">
            <a:avLst/>
          </a:prstGeom>
          <a:solidFill>
            <a:srgbClr val="7C3F2A"/>
          </a:solidFill>
          <a:ln w="12700">
            <a:solidFill>
              <a:srgbClr val="7C3F2A"/>
            </a:solidFill>
            <a:prstDash val="solid"/>
          </a:ln>
        </p:spPr>
      </p:sp>
      <p:sp>
        <p:nvSpPr>
          <p:cNvPr id="58" name="Text 56"/>
          <p:cNvSpPr/>
          <p:nvPr/>
        </p:nvSpPr>
        <p:spPr>
          <a:xfrm>
            <a:off x="3520440" y="4352544"/>
            <a:ext cx="2368296" cy="182880"/>
          </a:xfrm>
          <a:prstGeom prst="rect">
            <a:avLst/>
          </a:prstGeom>
          <a:noFill/>
          <a:ln/>
        </p:spPr>
        <p:txBody>
          <a:bodyPr wrap="square" lIns="0" tIns="0" rIns="0" bIns="0" rtlCol="0" anchor="ctr"/>
          <a:lstStyle/>
          <a:p>
            <a:pPr indent="0" marL="0">
              <a:buNone/>
            </a:pPr>
            <a:r>
              <a:rPr lang="en-US" sz="750" b="1" spc="300" kern="0" dirty="0">
                <a:solidFill>
                  <a:srgbClr val="7C3F2A"/>
                </a:solidFill>
                <a:latin typeface="Calibri" pitchFamily="34" charset="0"/>
                <a:ea typeface="Calibri" pitchFamily="34" charset="-122"/>
                <a:cs typeface="Calibri" pitchFamily="34" charset="-120"/>
              </a:rPr>
              <a:t>T+30 TO T+1YR  DOWNSTREAM</a:t>
            </a:r>
            <a:endParaRPr lang="en-US" sz="750" dirty="0"/>
          </a:p>
        </p:txBody>
      </p:sp>
      <p:sp>
        <p:nvSpPr>
          <p:cNvPr id="59" name="Text 57"/>
          <p:cNvSpPr/>
          <p:nvPr/>
        </p:nvSpPr>
        <p:spPr>
          <a:xfrm>
            <a:off x="3520440"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Target conducts a successful attack three weeks later. Two friendly KIA. Targeting officer not directly culpable but now identified internally as a roadblock. School slot deferred a year.</a:t>
            </a:r>
            <a:endParaRPr lang="en-US" sz="800" dirty="0"/>
          </a:p>
        </p:txBody>
      </p:sp>
      <p:sp>
        <p:nvSpPr>
          <p:cNvPr id="60" name="Shape 58"/>
          <p:cNvSpPr/>
          <p:nvPr/>
        </p:nvSpPr>
        <p:spPr>
          <a:xfrm>
            <a:off x="4677156" y="2926080"/>
            <a:ext cx="0" cy="45720"/>
          </a:xfrm>
          <a:prstGeom prst="line">
            <a:avLst/>
          </a:prstGeom>
          <a:noFill/>
          <a:ln w="12700">
            <a:solidFill>
              <a:srgbClr val="94A3B8"/>
            </a:solidFill>
            <a:prstDash val="solid"/>
          </a:ln>
        </p:spPr>
      </p:sp>
      <p:sp>
        <p:nvSpPr>
          <p:cNvPr id="61" name="Shape 59"/>
          <p:cNvSpPr/>
          <p:nvPr/>
        </p:nvSpPr>
        <p:spPr>
          <a:xfrm>
            <a:off x="4677156" y="3520440"/>
            <a:ext cx="0" cy="45720"/>
          </a:xfrm>
          <a:prstGeom prst="line">
            <a:avLst/>
          </a:prstGeom>
          <a:noFill/>
          <a:ln w="12700">
            <a:solidFill>
              <a:srgbClr val="94A3B8"/>
            </a:solidFill>
            <a:prstDash val="solid"/>
          </a:ln>
        </p:spPr>
      </p:sp>
      <p:sp>
        <p:nvSpPr>
          <p:cNvPr id="62" name="Shape 60"/>
          <p:cNvSpPr/>
          <p:nvPr/>
        </p:nvSpPr>
        <p:spPr>
          <a:xfrm>
            <a:off x="4677156" y="4251960"/>
            <a:ext cx="0" cy="45720"/>
          </a:xfrm>
          <a:prstGeom prst="line">
            <a:avLst/>
          </a:prstGeom>
          <a:noFill/>
          <a:ln w="12700">
            <a:solidFill>
              <a:srgbClr val="94A3B8"/>
            </a:solidFill>
            <a:prstDash val="solid"/>
          </a:ln>
        </p:spPr>
      </p:sp>
      <p:sp>
        <p:nvSpPr>
          <p:cNvPr id="63" name="Shape 61"/>
          <p:cNvSpPr/>
          <p:nvPr/>
        </p:nvSpPr>
        <p:spPr>
          <a:xfrm>
            <a:off x="4677156" y="5715000"/>
            <a:ext cx="0" cy="45720"/>
          </a:xfrm>
          <a:prstGeom prst="line">
            <a:avLst/>
          </a:prstGeom>
          <a:noFill/>
          <a:ln w="12700">
            <a:solidFill>
              <a:srgbClr val="94A3B8"/>
            </a:solidFill>
            <a:prstDash val="solid"/>
          </a:ln>
        </p:spPr>
      </p:sp>
      <p:sp>
        <p:nvSpPr>
          <p:cNvPr id="64" name="Shape 62"/>
          <p:cNvSpPr/>
          <p:nvPr/>
        </p:nvSpPr>
        <p:spPr>
          <a:xfrm>
            <a:off x="3355848" y="5760720"/>
            <a:ext cx="2642616" cy="411480"/>
          </a:xfrm>
          <a:prstGeom prst="rect">
            <a:avLst/>
          </a:prstGeom>
          <a:solidFill>
            <a:srgbClr val="7C3F2A"/>
          </a:solidFill>
          <a:ln w="12700">
            <a:solidFill>
              <a:srgbClr val="7C3F2A"/>
            </a:solidFill>
            <a:prstDash val="solid"/>
          </a:ln>
        </p:spPr>
      </p:sp>
      <p:sp>
        <p:nvSpPr>
          <p:cNvPr id="65" name="Text 63"/>
          <p:cNvSpPr/>
          <p:nvPr/>
        </p:nvSpPr>
        <p:spPr>
          <a:xfrm>
            <a:off x="3493008"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MISSION FAILURE</a:t>
            </a:r>
            <a:endParaRPr lang="en-US" sz="1100" dirty="0"/>
          </a:p>
        </p:txBody>
      </p:sp>
      <p:sp>
        <p:nvSpPr>
          <p:cNvPr id="66" name="Shape 64"/>
          <p:cNvSpPr/>
          <p:nvPr/>
        </p:nvSpPr>
        <p:spPr>
          <a:xfrm>
            <a:off x="6163056" y="1874520"/>
            <a:ext cx="2642616" cy="548640"/>
          </a:xfrm>
          <a:prstGeom prst="rect">
            <a:avLst/>
          </a:prstGeom>
          <a:solidFill>
            <a:srgbClr val="2C7A4B"/>
          </a:solidFill>
          <a:ln w="12700">
            <a:solidFill>
              <a:srgbClr val="2C7A4B"/>
            </a:solidFill>
            <a:prstDash val="solid"/>
          </a:ln>
        </p:spPr>
      </p:sp>
      <p:sp>
        <p:nvSpPr>
          <p:cNvPr id="67" name="Text 65"/>
          <p:cNvSpPr/>
          <p:nvPr/>
        </p:nvSpPr>
        <p:spPr>
          <a:xfrm>
            <a:off x="6300216"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C</a:t>
            </a:r>
            <a:endParaRPr lang="en-US" sz="900" dirty="0"/>
          </a:p>
        </p:txBody>
      </p:sp>
      <p:sp>
        <p:nvSpPr>
          <p:cNvPr id="68" name="Text 66"/>
          <p:cNvSpPr/>
          <p:nvPr/>
        </p:nvSpPr>
        <p:spPr>
          <a:xfrm>
            <a:off x="6300216"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Mission accomplished, ethics intact, leader and student …</a:t>
            </a:r>
            <a:endParaRPr lang="en-US" sz="1050" dirty="0"/>
          </a:p>
        </p:txBody>
      </p:sp>
      <p:sp>
        <p:nvSpPr>
          <p:cNvPr id="69" name="Shape 67"/>
          <p:cNvSpPr/>
          <p:nvPr/>
        </p:nvSpPr>
        <p:spPr>
          <a:xfrm>
            <a:off x="7484364" y="2423160"/>
            <a:ext cx="0" cy="45720"/>
          </a:xfrm>
          <a:prstGeom prst="line">
            <a:avLst/>
          </a:prstGeom>
          <a:noFill/>
          <a:ln w="12700">
            <a:solidFill>
              <a:srgbClr val="94A3B8"/>
            </a:solidFill>
            <a:prstDash val="solid"/>
          </a:ln>
        </p:spPr>
      </p:sp>
      <p:sp>
        <p:nvSpPr>
          <p:cNvPr id="70" name="Shape 68"/>
          <p:cNvSpPr/>
          <p:nvPr/>
        </p:nvSpPr>
        <p:spPr>
          <a:xfrm>
            <a:off x="6163056" y="2468880"/>
            <a:ext cx="2642616" cy="457200"/>
          </a:xfrm>
          <a:prstGeom prst="rect">
            <a:avLst/>
          </a:prstGeom>
          <a:solidFill>
            <a:srgbClr val="F4F1EC"/>
          </a:solidFill>
          <a:ln w="6350">
            <a:solidFill>
              <a:srgbClr val="E2E8F0"/>
            </a:solidFill>
            <a:prstDash val="solid"/>
          </a:ln>
        </p:spPr>
      </p:sp>
      <p:sp>
        <p:nvSpPr>
          <p:cNvPr id="71" name="Shape 69"/>
          <p:cNvSpPr/>
          <p:nvPr/>
        </p:nvSpPr>
        <p:spPr>
          <a:xfrm>
            <a:off x="6163056" y="2468880"/>
            <a:ext cx="54864" cy="457200"/>
          </a:xfrm>
          <a:prstGeom prst="rect">
            <a:avLst/>
          </a:prstGeom>
          <a:solidFill>
            <a:srgbClr val="2C7A4B"/>
          </a:solidFill>
          <a:ln w="12700">
            <a:solidFill>
              <a:srgbClr val="2C7A4B"/>
            </a:solidFill>
            <a:prstDash val="solid"/>
          </a:ln>
        </p:spPr>
      </p:sp>
      <p:sp>
        <p:nvSpPr>
          <p:cNvPr id="72" name="Text 70"/>
          <p:cNvSpPr/>
          <p:nvPr/>
        </p:nvSpPr>
        <p:spPr>
          <a:xfrm>
            <a:off x="6327648" y="25237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ENGAGES</a:t>
            </a:r>
            <a:endParaRPr lang="en-US" sz="750" dirty="0"/>
          </a:p>
        </p:txBody>
      </p:sp>
      <p:sp>
        <p:nvSpPr>
          <p:cNvPr id="73" name="Text 71"/>
          <p:cNvSpPr/>
          <p:nvPr/>
        </p:nvSpPr>
        <p:spPr>
          <a:xfrm>
            <a:off x="6327648"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Partner (MSG Williams)</a:t>
            </a:r>
            <a:endParaRPr lang="en-US" sz="950" dirty="0"/>
          </a:p>
        </p:txBody>
      </p:sp>
      <p:sp>
        <p:nvSpPr>
          <p:cNvPr id="74" name="Shape 72"/>
          <p:cNvSpPr/>
          <p:nvPr/>
        </p:nvSpPr>
        <p:spPr>
          <a:xfrm>
            <a:off x="6163056" y="2971800"/>
            <a:ext cx="2642616" cy="548640"/>
          </a:xfrm>
          <a:prstGeom prst="rect">
            <a:avLst/>
          </a:prstGeom>
          <a:solidFill>
            <a:srgbClr val="F4F1EC"/>
          </a:solidFill>
          <a:ln w="6350">
            <a:solidFill>
              <a:srgbClr val="E2E8F0"/>
            </a:solidFill>
            <a:prstDash val="solid"/>
          </a:ln>
        </p:spPr>
      </p:sp>
      <p:sp>
        <p:nvSpPr>
          <p:cNvPr id="75" name="Shape 73"/>
          <p:cNvSpPr/>
          <p:nvPr/>
        </p:nvSpPr>
        <p:spPr>
          <a:xfrm>
            <a:off x="6163056" y="2971800"/>
            <a:ext cx="54864" cy="548640"/>
          </a:xfrm>
          <a:prstGeom prst="rect">
            <a:avLst/>
          </a:prstGeom>
          <a:solidFill>
            <a:srgbClr val="2C7A4B"/>
          </a:solidFill>
          <a:ln w="12700">
            <a:solidFill>
              <a:srgbClr val="2C7A4B"/>
            </a:solidFill>
            <a:prstDash val="solid"/>
          </a:ln>
        </p:spPr>
      </p:sp>
      <p:sp>
        <p:nvSpPr>
          <p:cNvPr id="76" name="Text 74"/>
          <p:cNvSpPr/>
          <p:nvPr/>
        </p:nvSpPr>
        <p:spPr>
          <a:xfrm>
            <a:off x="6327648" y="302666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CHOICE / ACTION</a:t>
            </a:r>
            <a:endParaRPr lang="en-US" sz="750" dirty="0"/>
          </a:p>
        </p:txBody>
      </p:sp>
      <p:sp>
        <p:nvSpPr>
          <p:cNvPr id="77" name="Text 75"/>
          <p:cNvSpPr/>
          <p:nvPr/>
        </p:nvSpPr>
        <p:spPr>
          <a:xfrm>
            <a:off x="6327648"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Bring the colonel three operational alternatives that meet his end state.</a:t>
            </a:r>
            <a:endParaRPr lang="en-US" sz="900" dirty="0"/>
          </a:p>
        </p:txBody>
      </p:sp>
      <p:sp>
        <p:nvSpPr>
          <p:cNvPr id="78" name="Shape 76"/>
          <p:cNvSpPr/>
          <p:nvPr/>
        </p:nvSpPr>
        <p:spPr>
          <a:xfrm>
            <a:off x="6163056" y="3566160"/>
            <a:ext cx="2642616" cy="685800"/>
          </a:xfrm>
          <a:prstGeom prst="rect">
            <a:avLst/>
          </a:prstGeom>
          <a:solidFill>
            <a:srgbClr val="F4F1EC"/>
          </a:solidFill>
          <a:ln w="6350">
            <a:solidFill>
              <a:srgbClr val="E2E8F0"/>
            </a:solidFill>
            <a:prstDash val="solid"/>
          </a:ln>
        </p:spPr>
      </p:sp>
      <p:sp>
        <p:nvSpPr>
          <p:cNvPr id="79" name="Shape 77"/>
          <p:cNvSpPr/>
          <p:nvPr/>
        </p:nvSpPr>
        <p:spPr>
          <a:xfrm>
            <a:off x="6163056" y="3566160"/>
            <a:ext cx="54864" cy="685800"/>
          </a:xfrm>
          <a:prstGeom prst="rect">
            <a:avLst/>
          </a:prstGeom>
          <a:solidFill>
            <a:srgbClr val="2C7A4B"/>
          </a:solidFill>
          <a:ln w="12700">
            <a:solidFill>
              <a:srgbClr val="2C7A4B"/>
            </a:solidFill>
            <a:prstDash val="solid"/>
          </a:ln>
        </p:spPr>
      </p:sp>
      <p:sp>
        <p:nvSpPr>
          <p:cNvPr id="80" name="Text 78"/>
          <p:cNvSpPr/>
          <p:nvPr/>
        </p:nvSpPr>
        <p:spPr>
          <a:xfrm>
            <a:off x="6327648" y="362102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T+0  IMMEDIATE OUTCOME</a:t>
            </a:r>
            <a:endParaRPr lang="en-US" sz="750" dirty="0"/>
          </a:p>
        </p:txBody>
      </p:sp>
      <p:sp>
        <p:nvSpPr>
          <p:cNvPr id="81" name="Text 79"/>
          <p:cNvSpPr/>
          <p:nvPr/>
        </p:nvSpPr>
        <p:spPr>
          <a:xfrm>
            <a:off x="6327648"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COL pushes back initially, but the 0530L window is operationally feasible. Pattern-of-life confirms the annex is empty. Strike executes at 0530L three days later.</a:t>
            </a:r>
            <a:endParaRPr lang="en-US" sz="850" dirty="0"/>
          </a:p>
        </p:txBody>
      </p:sp>
      <p:sp>
        <p:nvSpPr>
          <p:cNvPr id="82" name="Shape 80"/>
          <p:cNvSpPr/>
          <p:nvPr/>
        </p:nvSpPr>
        <p:spPr>
          <a:xfrm>
            <a:off x="6163056" y="4297680"/>
            <a:ext cx="2642616" cy="1417320"/>
          </a:xfrm>
          <a:prstGeom prst="rect">
            <a:avLst/>
          </a:prstGeom>
          <a:solidFill>
            <a:srgbClr val="F4F1EC"/>
          </a:solidFill>
          <a:ln w="6350">
            <a:solidFill>
              <a:srgbClr val="E2E8F0"/>
            </a:solidFill>
            <a:prstDash val="solid"/>
          </a:ln>
        </p:spPr>
      </p:sp>
      <p:sp>
        <p:nvSpPr>
          <p:cNvPr id="83" name="Shape 81"/>
          <p:cNvSpPr/>
          <p:nvPr/>
        </p:nvSpPr>
        <p:spPr>
          <a:xfrm>
            <a:off x="6163056" y="4297680"/>
            <a:ext cx="54864" cy="1417320"/>
          </a:xfrm>
          <a:prstGeom prst="rect">
            <a:avLst/>
          </a:prstGeom>
          <a:solidFill>
            <a:srgbClr val="2C7A4B"/>
          </a:solidFill>
          <a:ln w="12700">
            <a:solidFill>
              <a:srgbClr val="2C7A4B"/>
            </a:solidFill>
            <a:prstDash val="solid"/>
          </a:ln>
        </p:spPr>
      </p:sp>
      <p:sp>
        <p:nvSpPr>
          <p:cNvPr id="84" name="Text 82"/>
          <p:cNvSpPr/>
          <p:nvPr/>
        </p:nvSpPr>
        <p:spPr>
          <a:xfrm>
            <a:off x="6327648" y="43525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T+30 TO T+1YR  DOWNSTREAM</a:t>
            </a:r>
            <a:endParaRPr lang="en-US" sz="750" dirty="0"/>
          </a:p>
        </p:txBody>
      </p:sp>
      <p:sp>
        <p:nvSpPr>
          <p:cNvPr id="85" name="Text 83"/>
          <p:cNvSpPr/>
          <p:nvPr/>
        </p:nvSpPr>
        <p:spPr>
          <a:xfrm>
            <a:off x="6327648"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Target eliminated. CDE actual: zero civilian casualties. COL Reeves writes a top-block evaluation citing 'strategic targeting judgment under pressure.' Targeting officer makes the BZ promotion list. Cell adopts the alternative-options framing as standard practice.</a:t>
            </a:r>
            <a:endParaRPr lang="en-US" sz="800" dirty="0"/>
          </a:p>
        </p:txBody>
      </p:sp>
      <p:sp>
        <p:nvSpPr>
          <p:cNvPr id="86" name="Shape 84"/>
          <p:cNvSpPr/>
          <p:nvPr/>
        </p:nvSpPr>
        <p:spPr>
          <a:xfrm>
            <a:off x="7484364" y="2926080"/>
            <a:ext cx="0" cy="45720"/>
          </a:xfrm>
          <a:prstGeom prst="line">
            <a:avLst/>
          </a:prstGeom>
          <a:noFill/>
          <a:ln w="12700">
            <a:solidFill>
              <a:srgbClr val="94A3B8"/>
            </a:solidFill>
            <a:prstDash val="solid"/>
          </a:ln>
        </p:spPr>
      </p:sp>
      <p:sp>
        <p:nvSpPr>
          <p:cNvPr id="87" name="Shape 85"/>
          <p:cNvSpPr/>
          <p:nvPr/>
        </p:nvSpPr>
        <p:spPr>
          <a:xfrm>
            <a:off x="7484364" y="3520440"/>
            <a:ext cx="0" cy="45720"/>
          </a:xfrm>
          <a:prstGeom prst="line">
            <a:avLst/>
          </a:prstGeom>
          <a:noFill/>
          <a:ln w="12700">
            <a:solidFill>
              <a:srgbClr val="94A3B8"/>
            </a:solidFill>
            <a:prstDash val="solid"/>
          </a:ln>
        </p:spPr>
      </p:sp>
      <p:sp>
        <p:nvSpPr>
          <p:cNvPr id="88" name="Shape 86"/>
          <p:cNvSpPr/>
          <p:nvPr/>
        </p:nvSpPr>
        <p:spPr>
          <a:xfrm>
            <a:off x="7484364" y="4251960"/>
            <a:ext cx="0" cy="45720"/>
          </a:xfrm>
          <a:prstGeom prst="line">
            <a:avLst/>
          </a:prstGeom>
          <a:noFill/>
          <a:ln w="12700">
            <a:solidFill>
              <a:srgbClr val="94A3B8"/>
            </a:solidFill>
            <a:prstDash val="solid"/>
          </a:ln>
        </p:spPr>
      </p:sp>
      <p:sp>
        <p:nvSpPr>
          <p:cNvPr id="89" name="Shape 87"/>
          <p:cNvSpPr/>
          <p:nvPr/>
        </p:nvSpPr>
        <p:spPr>
          <a:xfrm>
            <a:off x="7484364" y="5715000"/>
            <a:ext cx="0" cy="45720"/>
          </a:xfrm>
          <a:prstGeom prst="line">
            <a:avLst/>
          </a:prstGeom>
          <a:noFill/>
          <a:ln w="12700">
            <a:solidFill>
              <a:srgbClr val="94A3B8"/>
            </a:solidFill>
            <a:prstDash val="solid"/>
          </a:ln>
        </p:spPr>
      </p:sp>
      <p:sp>
        <p:nvSpPr>
          <p:cNvPr id="90" name="Shape 88"/>
          <p:cNvSpPr/>
          <p:nvPr/>
        </p:nvSpPr>
        <p:spPr>
          <a:xfrm>
            <a:off x="6163056" y="5760720"/>
            <a:ext cx="2642616" cy="411480"/>
          </a:xfrm>
          <a:prstGeom prst="rect">
            <a:avLst/>
          </a:prstGeom>
          <a:solidFill>
            <a:srgbClr val="2C7A4B"/>
          </a:solidFill>
          <a:ln w="12700">
            <a:solidFill>
              <a:srgbClr val="2C7A4B"/>
            </a:solidFill>
            <a:prstDash val="solid"/>
          </a:ln>
        </p:spPr>
      </p:sp>
      <p:sp>
        <p:nvSpPr>
          <p:cNvPr id="91" name="Text 89"/>
          <p:cNvSpPr/>
          <p:nvPr/>
        </p:nvSpPr>
        <p:spPr>
          <a:xfrm>
            <a:off x="6300216"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OPTIMAL</a:t>
            </a:r>
            <a:endParaRPr lang="en-US" sz="1100" dirty="0"/>
          </a:p>
        </p:txBody>
      </p:sp>
      <p:sp>
        <p:nvSpPr>
          <p:cNvPr id="92" name="Shape 90"/>
          <p:cNvSpPr/>
          <p:nvPr/>
        </p:nvSpPr>
        <p:spPr>
          <a:xfrm>
            <a:off x="8970264" y="1874520"/>
            <a:ext cx="2642616" cy="548640"/>
          </a:xfrm>
          <a:prstGeom prst="rect">
            <a:avLst/>
          </a:prstGeom>
          <a:solidFill>
            <a:srgbClr val="D4A574"/>
          </a:solidFill>
          <a:ln w="12700">
            <a:solidFill>
              <a:srgbClr val="D4A574"/>
            </a:solidFill>
            <a:prstDash val="solid"/>
          </a:ln>
        </p:spPr>
      </p:sp>
      <p:sp>
        <p:nvSpPr>
          <p:cNvPr id="93" name="Text 91"/>
          <p:cNvSpPr/>
          <p:nvPr/>
        </p:nvSpPr>
        <p:spPr>
          <a:xfrm>
            <a:off x="9107424"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D</a:t>
            </a:r>
            <a:endParaRPr lang="en-US" sz="900" dirty="0"/>
          </a:p>
        </p:txBody>
      </p:sp>
      <p:sp>
        <p:nvSpPr>
          <p:cNvPr id="94" name="Text 92"/>
          <p:cNvSpPr/>
          <p:nvPr/>
        </p:nvSpPr>
        <p:spPr>
          <a:xfrm>
            <a:off x="9107424"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Acceptable now; cultural debt accrued. …</a:t>
            </a:r>
            <a:endParaRPr lang="en-US" sz="1050" dirty="0"/>
          </a:p>
        </p:txBody>
      </p:sp>
      <p:sp>
        <p:nvSpPr>
          <p:cNvPr id="95" name="Shape 93"/>
          <p:cNvSpPr/>
          <p:nvPr/>
        </p:nvSpPr>
        <p:spPr>
          <a:xfrm>
            <a:off x="10291572" y="2423160"/>
            <a:ext cx="0" cy="45720"/>
          </a:xfrm>
          <a:prstGeom prst="line">
            <a:avLst/>
          </a:prstGeom>
          <a:noFill/>
          <a:ln w="12700">
            <a:solidFill>
              <a:srgbClr val="94A3B8"/>
            </a:solidFill>
            <a:prstDash val="solid"/>
          </a:ln>
        </p:spPr>
      </p:sp>
      <p:sp>
        <p:nvSpPr>
          <p:cNvPr id="96" name="Shape 94"/>
          <p:cNvSpPr/>
          <p:nvPr/>
        </p:nvSpPr>
        <p:spPr>
          <a:xfrm>
            <a:off x="8970264" y="2468880"/>
            <a:ext cx="2642616" cy="457200"/>
          </a:xfrm>
          <a:prstGeom prst="rect">
            <a:avLst/>
          </a:prstGeom>
          <a:solidFill>
            <a:srgbClr val="F4F1EC"/>
          </a:solidFill>
          <a:ln w="6350">
            <a:solidFill>
              <a:srgbClr val="E2E8F0"/>
            </a:solidFill>
            <a:prstDash val="solid"/>
          </a:ln>
        </p:spPr>
      </p:sp>
      <p:sp>
        <p:nvSpPr>
          <p:cNvPr id="97" name="Shape 95"/>
          <p:cNvSpPr/>
          <p:nvPr/>
        </p:nvSpPr>
        <p:spPr>
          <a:xfrm>
            <a:off x="8970264" y="2468880"/>
            <a:ext cx="54864" cy="457200"/>
          </a:xfrm>
          <a:prstGeom prst="rect">
            <a:avLst/>
          </a:prstGeom>
          <a:solidFill>
            <a:srgbClr val="D4A574"/>
          </a:solidFill>
          <a:ln w="12700">
            <a:solidFill>
              <a:srgbClr val="D4A574"/>
            </a:solidFill>
            <a:prstDash val="solid"/>
          </a:ln>
        </p:spPr>
      </p:sp>
      <p:sp>
        <p:nvSpPr>
          <p:cNvPr id="98" name="Text 96"/>
          <p:cNvSpPr/>
          <p:nvPr/>
        </p:nvSpPr>
        <p:spPr>
          <a:xfrm>
            <a:off x="9134856" y="25237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ENGAGES</a:t>
            </a:r>
            <a:endParaRPr lang="en-US" sz="750" dirty="0"/>
          </a:p>
        </p:txBody>
      </p:sp>
      <p:sp>
        <p:nvSpPr>
          <p:cNvPr id="99" name="Text 97"/>
          <p:cNvSpPr/>
          <p:nvPr/>
        </p:nvSpPr>
        <p:spPr>
          <a:xfrm>
            <a:off x="9134856"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Hybrid: Operator + Partner</a:t>
            </a:r>
            <a:endParaRPr lang="en-US" sz="950" dirty="0"/>
          </a:p>
        </p:txBody>
      </p:sp>
      <p:sp>
        <p:nvSpPr>
          <p:cNvPr id="100" name="Shape 98"/>
          <p:cNvSpPr/>
          <p:nvPr/>
        </p:nvSpPr>
        <p:spPr>
          <a:xfrm>
            <a:off x="8970264" y="2971800"/>
            <a:ext cx="2642616" cy="548640"/>
          </a:xfrm>
          <a:prstGeom prst="rect">
            <a:avLst/>
          </a:prstGeom>
          <a:solidFill>
            <a:srgbClr val="F4F1EC"/>
          </a:solidFill>
          <a:ln w="6350">
            <a:solidFill>
              <a:srgbClr val="E2E8F0"/>
            </a:solidFill>
            <a:prstDash val="solid"/>
          </a:ln>
        </p:spPr>
      </p:sp>
      <p:sp>
        <p:nvSpPr>
          <p:cNvPr id="101" name="Shape 99"/>
          <p:cNvSpPr/>
          <p:nvPr/>
        </p:nvSpPr>
        <p:spPr>
          <a:xfrm>
            <a:off x="8970264" y="2971800"/>
            <a:ext cx="54864" cy="548640"/>
          </a:xfrm>
          <a:prstGeom prst="rect">
            <a:avLst/>
          </a:prstGeom>
          <a:solidFill>
            <a:srgbClr val="D4A574"/>
          </a:solidFill>
          <a:ln w="12700">
            <a:solidFill>
              <a:srgbClr val="D4A574"/>
            </a:solidFill>
            <a:prstDash val="solid"/>
          </a:ln>
        </p:spPr>
      </p:sp>
      <p:sp>
        <p:nvSpPr>
          <p:cNvPr id="102" name="Text 100"/>
          <p:cNvSpPr/>
          <p:nvPr/>
        </p:nvSpPr>
        <p:spPr>
          <a:xfrm>
            <a:off x="9134856" y="302666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CHOICE / ACTION</a:t>
            </a:r>
            <a:endParaRPr lang="en-US" sz="750" dirty="0"/>
          </a:p>
        </p:txBody>
      </p:sp>
      <p:sp>
        <p:nvSpPr>
          <p:cNvPr id="103" name="Text 101"/>
          <p:cNvSpPr/>
          <p:nvPr/>
        </p:nvSpPr>
        <p:spPr>
          <a:xfrm>
            <a:off x="9134856"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Operator builds a defensible massaged number; Partner reframes options.</a:t>
            </a:r>
            <a:endParaRPr lang="en-US" sz="900" dirty="0"/>
          </a:p>
        </p:txBody>
      </p:sp>
      <p:sp>
        <p:nvSpPr>
          <p:cNvPr id="104" name="Shape 102"/>
          <p:cNvSpPr/>
          <p:nvPr/>
        </p:nvSpPr>
        <p:spPr>
          <a:xfrm>
            <a:off x="8970264" y="3566160"/>
            <a:ext cx="2642616" cy="685800"/>
          </a:xfrm>
          <a:prstGeom prst="rect">
            <a:avLst/>
          </a:prstGeom>
          <a:solidFill>
            <a:srgbClr val="F4F1EC"/>
          </a:solidFill>
          <a:ln w="6350">
            <a:solidFill>
              <a:srgbClr val="E2E8F0"/>
            </a:solidFill>
            <a:prstDash val="solid"/>
          </a:ln>
        </p:spPr>
      </p:sp>
      <p:sp>
        <p:nvSpPr>
          <p:cNvPr id="105" name="Shape 103"/>
          <p:cNvSpPr/>
          <p:nvPr/>
        </p:nvSpPr>
        <p:spPr>
          <a:xfrm>
            <a:off x="8970264" y="3566160"/>
            <a:ext cx="54864" cy="685800"/>
          </a:xfrm>
          <a:prstGeom prst="rect">
            <a:avLst/>
          </a:prstGeom>
          <a:solidFill>
            <a:srgbClr val="D4A574"/>
          </a:solidFill>
          <a:ln w="12700">
            <a:solidFill>
              <a:srgbClr val="D4A574"/>
            </a:solidFill>
            <a:prstDash val="solid"/>
          </a:ln>
        </p:spPr>
      </p:sp>
      <p:sp>
        <p:nvSpPr>
          <p:cNvPr id="106" name="Text 104"/>
          <p:cNvSpPr/>
          <p:nvPr/>
        </p:nvSpPr>
        <p:spPr>
          <a:xfrm>
            <a:off x="9134856" y="362102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T+0  IMMEDIATE OUTCOME</a:t>
            </a:r>
            <a:endParaRPr lang="en-US" sz="750" dirty="0"/>
          </a:p>
        </p:txBody>
      </p:sp>
      <p:sp>
        <p:nvSpPr>
          <p:cNvPr id="107" name="Text 105"/>
          <p:cNvSpPr/>
          <p:nvPr/>
        </p:nvSpPr>
        <p:spPr>
          <a:xfrm>
            <a:off x="9134856"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A 38% number is briefed alongside the alternatives. COL takes the alternatives.</a:t>
            </a:r>
            <a:endParaRPr lang="en-US" sz="850" dirty="0"/>
          </a:p>
        </p:txBody>
      </p:sp>
      <p:sp>
        <p:nvSpPr>
          <p:cNvPr id="108" name="Shape 106"/>
          <p:cNvSpPr/>
          <p:nvPr/>
        </p:nvSpPr>
        <p:spPr>
          <a:xfrm>
            <a:off x="8970264" y="4297680"/>
            <a:ext cx="2642616" cy="1417320"/>
          </a:xfrm>
          <a:prstGeom prst="rect">
            <a:avLst/>
          </a:prstGeom>
          <a:solidFill>
            <a:srgbClr val="F4F1EC"/>
          </a:solidFill>
          <a:ln w="6350">
            <a:solidFill>
              <a:srgbClr val="E2E8F0"/>
            </a:solidFill>
            <a:prstDash val="solid"/>
          </a:ln>
        </p:spPr>
      </p:sp>
      <p:sp>
        <p:nvSpPr>
          <p:cNvPr id="109" name="Shape 107"/>
          <p:cNvSpPr/>
          <p:nvPr/>
        </p:nvSpPr>
        <p:spPr>
          <a:xfrm>
            <a:off x="8970264" y="4297680"/>
            <a:ext cx="54864" cy="1417320"/>
          </a:xfrm>
          <a:prstGeom prst="rect">
            <a:avLst/>
          </a:prstGeom>
          <a:solidFill>
            <a:srgbClr val="D4A574"/>
          </a:solidFill>
          <a:ln w="12700">
            <a:solidFill>
              <a:srgbClr val="D4A574"/>
            </a:solidFill>
            <a:prstDash val="solid"/>
          </a:ln>
        </p:spPr>
      </p:sp>
      <p:sp>
        <p:nvSpPr>
          <p:cNvPr id="110" name="Text 108"/>
          <p:cNvSpPr/>
          <p:nvPr/>
        </p:nvSpPr>
        <p:spPr>
          <a:xfrm>
            <a:off x="9134856" y="43525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T+30 TO T+1YR  DOWNSTREAM</a:t>
            </a:r>
            <a:endParaRPr lang="en-US" sz="750" dirty="0"/>
          </a:p>
        </p:txBody>
      </p:sp>
      <p:sp>
        <p:nvSpPr>
          <p:cNvPr id="111" name="Text 109"/>
          <p:cNvSpPr/>
          <p:nvPr/>
        </p:nvSpPr>
        <p:spPr>
          <a:xfrm>
            <a:off x="9134856"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Same operational result as Path C, but the targeting cell now has an internal precedent of producing 'defensible-but-massaged' numbers. Six months later, a more junior analyst applies the same approach to a case that does not warrant it.</a:t>
            </a:r>
            <a:endParaRPr lang="en-US" sz="800" dirty="0"/>
          </a:p>
        </p:txBody>
      </p:sp>
      <p:sp>
        <p:nvSpPr>
          <p:cNvPr id="112" name="Shape 110"/>
          <p:cNvSpPr/>
          <p:nvPr/>
        </p:nvSpPr>
        <p:spPr>
          <a:xfrm>
            <a:off x="10291572" y="2926080"/>
            <a:ext cx="0" cy="45720"/>
          </a:xfrm>
          <a:prstGeom prst="line">
            <a:avLst/>
          </a:prstGeom>
          <a:noFill/>
          <a:ln w="12700">
            <a:solidFill>
              <a:srgbClr val="94A3B8"/>
            </a:solidFill>
            <a:prstDash val="solid"/>
          </a:ln>
        </p:spPr>
      </p:sp>
      <p:sp>
        <p:nvSpPr>
          <p:cNvPr id="113" name="Shape 111"/>
          <p:cNvSpPr/>
          <p:nvPr/>
        </p:nvSpPr>
        <p:spPr>
          <a:xfrm>
            <a:off x="10291572" y="3520440"/>
            <a:ext cx="0" cy="45720"/>
          </a:xfrm>
          <a:prstGeom prst="line">
            <a:avLst/>
          </a:prstGeom>
          <a:noFill/>
          <a:ln w="12700">
            <a:solidFill>
              <a:srgbClr val="94A3B8"/>
            </a:solidFill>
            <a:prstDash val="solid"/>
          </a:ln>
        </p:spPr>
      </p:sp>
      <p:sp>
        <p:nvSpPr>
          <p:cNvPr id="114" name="Shape 112"/>
          <p:cNvSpPr/>
          <p:nvPr/>
        </p:nvSpPr>
        <p:spPr>
          <a:xfrm>
            <a:off x="10291572" y="4251960"/>
            <a:ext cx="0" cy="45720"/>
          </a:xfrm>
          <a:prstGeom prst="line">
            <a:avLst/>
          </a:prstGeom>
          <a:noFill/>
          <a:ln w="12700">
            <a:solidFill>
              <a:srgbClr val="94A3B8"/>
            </a:solidFill>
            <a:prstDash val="solid"/>
          </a:ln>
        </p:spPr>
      </p:sp>
      <p:sp>
        <p:nvSpPr>
          <p:cNvPr id="115" name="Shape 113"/>
          <p:cNvSpPr/>
          <p:nvPr/>
        </p:nvSpPr>
        <p:spPr>
          <a:xfrm>
            <a:off x="10291572" y="5715000"/>
            <a:ext cx="0" cy="45720"/>
          </a:xfrm>
          <a:prstGeom prst="line">
            <a:avLst/>
          </a:prstGeom>
          <a:noFill/>
          <a:ln w="12700">
            <a:solidFill>
              <a:srgbClr val="94A3B8"/>
            </a:solidFill>
            <a:prstDash val="solid"/>
          </a:ln>
        </p:spPr>
      </p:sp>
      <p:sp>
        <p:nvSpPr>
          <p:cNvPr id="116" name="Shape 114"/>
          <p:cNvSpPr/>
          <p:nvPr/>
        </p:nvSpPr>
        <p:spPr>
          <a:xfrm>
            <a:off x="8970264" y="5760720"/>
            <a:ext cx="2642616" cy="411480"/>
          </a:xfrm>
          <a:prstGeom prst="rect">
            <a:avLst/>
          </a:prstGeom>
          <a:solidFill>
            <a:srgbClr val="D4A574"/>
          </a:solidFill>
          <a:ln w="12700">
            <a:solidFill>
              <a:srgbClr val="D4A574"/>
            </a:solidFill>
            <a:prstDash val="solid"/>
          </a:ln>
        </p:spPr>
      </p:sp>
      <p:sp>
        <p:nvSpPr>
          <p:cNvPr id="117" name="Text 115"/>
          <p:cNvSpPr/>
          <p:nvPr/>
        </p:nvSpPr>
        <p:spPr>
          <a:xfrm>
            <a:off x="9107424"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ACCEPTABLE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640080"/>
            <a:ext cx="11064240" cy="32004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RECOMMENDED PATH</a:t>
            </a:r>
            <a:endParaRPr lang="en-US" sz="1200" dirty="0"/>
          </a:p>
        </p:txBody>
      </p:sp>
      <p:sp>
        <p:nvSpPr>
          <p:cNvPr id="3" name="Text 1"/>
          <p:cNvSpPr/>
          <p:nvPr/>
        </p:nvSpPr>
        <p:spPr>
          <a:xfrm>
            <a:off x="548640" y="96012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1: Manipulating the Collateral Damage Estimate</a:t>
            </a:r>
            <a:endParaRPr lang="en-US" sz="2200" dirty="0"/>
          </a:p>
        </p:txBody>
      </p:sp>
      <p:sp>
        <p:nvSpPr>
          <p:cNvPr id="4" name="Shape 2"/>
          <p:cNvSpPr/>
          <p:nvPr/>
        </p:nvSpPr>
        <p:spPr>
          <a:xfrm>
            <a:off x="548640" y="1691640"/>
            <a:ext cx="11064240" cy="2377440"/>
          </a:xfrm>
          <a:prstGeom prst="rect">
            <a:avLst/>
          </a:prstGeom>
          <a:solidFill>
            <a:srgbClr val="FFFFFF"/>
          </a:solidFill>
          <a:ln w="12700">
            <a:solidFill>
              <a:srgbClr val="FFFFFF"/>
            </a:solidFill>
            <a:prstDash val="solid"/>
          </a:ln>
        </p:spPr>
      </p:sp>
      <p:sp>
        <p:nvSpPr>
          <p:cNvPr id="5" name="Shape 3"/>
          <p:cNvSpPr/>
          <p:nvPr/>
        </p:nvSpPr>
        <p:spPr>
          <a:xfrm>
            <a:off x="548640" y="1691640"/>
            <a:ext cx="146304" cy="2377440"/>
          </a:xfrm>
          <a:prstGeom prst="rect">
            <a:avLst/>
          </a:prstGeom>
          <a:solidFill>
            <a:srgbClr val="2C7A4B"/>
          </a:solidFill>
          <a:ln w="12700">
            <a:solidFill>
              <a:srgbClr val="2C7A4B"/>
            </a:solidFill>
            <a:prstDash val="solid"/>
          </a:ln>
        </p:spPr>
      </p:sp>
      <p:sp>
        <p:nvSpPr>
          <p:cNvPr id="6" name="Text 4"/>
          <p:cNvSpPr/>
          <p:nvPr/>
        </p:nvSpPr>
        <p:spPr>
          <a:xfrm>
            <a:off x="914400" y="1828800"/>
            <a:ext cx="10515600" cy="274320"/>
          </a:xfrm>
          <a:prstGeom prst="rect">
            <a:avLst/>
          </a:prstGeom>
          <a:noFill/>
          <a:ln/>
        </p:spPr>
        <p:txBody>
          <a:bodyPr wrap="square" lIns="0" tIns="0" rIns="0" bIns="0" rtlCol="0" anchor="ctr"/>
          <a:lstStyle/>
          <a:p>
            <a:pPr indent="0" marL="0">
              <a:buNone/>
            </a:pPr>
            <a:r>
              <a:rPr lang="en-US" sz="1100" b="1" spc="400" kern="0" dirty="0">
                <a:solidFill>
                  <a:srgbClr val="2C7A4B"/>
                </a:solidFill>
                <a:latin typeface="Calibri" pitchFamily="34" charset="0"/>
                <a:ea typeface="Calibri" pitchFamily="34" charset="-122"/>
                <a:cs typeface="Calibri" pitchFamily="34" charset="-120"/>
              </a:rPr>
              <a:t>OPTIMAL OUTCOME</a:t>
            </a:r>
            <a:endParaRPr lang="en-US" sz="1100" dirty="0"/>
          </a:p>
        </p:txBody>
      </p:sp>
      <p:sp>
        <p:nvSpPr>
          <p:cNvPr id="7" name="Text 5"/>
          <p:cNvSpPr/>
          <p:nvPr/>
        </p:nvSpPr>
        <p:spPr>
          <a:xfrm>
            <a:off x="914400" y="2148840"/>
            <a:ext cx="10515600" cy="1874520"/>
          </a:xfrm>
          <a:prstGeom prst="rect">
            <a:avLst/>
          </a:prstGeom>
          <a:noFill/>
          <a:ln/>
        </p:spPr>
        <p:txBody>
          <a:bodyPr wrap="square" lIns="0" tIns="0" rIns="0" bIns="0" rtlCol="0" anchor="t"/>
          <a:lstStyle/>
          <a:p>
            <a:pPr indent="0" marL="0">
              <a:spcAft>
                <a:spcPts val="400"/>
              </a:spcAft>
              <a:buNone/>
            </a:pPr>
            <a:r>
              <a:rPr lang="en-US" sz="1400" dirty="0">
                <a:solidFill>
                  <a:srgbClr val="14193D"/>
                </a:solidFill>
                <a:latin typeface="Calibri" pitchFamily="34" charset="0"/>
                <a:ea typeface="Calibri" pitchFamily="34" charset="-122"/>
                <a:cs typeface="Calibri" pitchFamily="34" charset="-120"/>
              </a:rPr>
              <a:t>Path C. The student engages MSG Williams to develop alternatives, then briefs COL Reeves with three operational options that preserve his end state and his career. The student protects the data, the mission, the colonel, and themselves in a single move. This is intelligent disobedience as Chaleff defines it: refusing the harmful action while remaining loyal to the leader's lawful intent.</a:t>
            </a:r>
            <a:endParaRPr lang="en-US" sz="1400" dirty="0"/>
          </a:p>
        </p:txBody>
      </p:sp>
      <p:sp>
        <p:nvSpPr>
          <p:cNvPr id="8" name="Text 6"/>
          <p:cNvSpPr/>
          <p:nvPr/>
        </p:nvSpPr>
        <p:spPr>
          <a:xfrm>
            <a:off x="548640" y="4297680"/>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TAKE TO DISCUSSION</a:t>
            </a:r>
            <a:endParaRPr lang="en-US" sz="1000" dirty="0"/>
          </a:p>
        </p:txBody>
      </p:sp>
      <p:sp>
        <p:nvSpPr>
          <p:cNvPr id="9" name="Text 7"/>
          <p:cNvSpPr/>
          <p:nvPr/>
        </p:nvSpPr>
        <p:spPr>
          <a:xfrm>
            <a:off x="548640" y="4572000"/>
            <a:ext cx="11064240" cy="1920240"/>
          </a:xfrm>
          <a:prstGeom prst="rect">
            <a:avLst/>
          </a:prstGeom>
          <a:noFill/>
          <a:ln/>
        </p:spPr>
        <p:txBody>
          <a:bodyPr wrap="square" lIns="0" tIns="0" rIns="0" bIns="0" rtlCol="0" anchor="t"/>
          <a:lstStyle/>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1. What is the difference between refusing an order and reframing it? When is each appropriate?</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2. COL Reeves is a respected combat leader who lost soldiers to this network. How does grief interact with command judgment? Is empathy for the leader a duty of the follower?</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3. The Stickler's answer is technically correct. Why is it not sufficient? What does the follower owe the leader beyond compliance?</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4. If the Operator's massaged thirty-eight percent number had produced a successful strike with zero civilian casualties, would the action have been justified? Why or why not?</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5. Apply Chaleff's intelligent disobedience framework: at what specific moment does the duty to disobey crystallize for the targeting officer?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365760" y="1280160"/>
            <a:ext cx="4572000" cy="4114800"/>
          </a:xfrm>
          <a:prstGeom prst="rect">
            <a:avLst/>
          </a:prstGeom>
          <a:noFill/>
          <a:ln/>
        </p:spPr>
        <p:txBody>
          <a:bodyPr wrap="square" lIns="0" tIns="0" rIns="0" bIns="0" rtlCol="0" anchor="ctr"/>
          <a:lstStyle/>
          <a:p>
            <a:pPr indent="0" marL="0">
              <a:buNone/>
            </a:pPr>
            <a:r>
              <a:rPr lang="en-US" sz="32000" b="1" i="1" dirty="0">
                <a:solidFill>
                  <a:srgbClr val="1E2761"/>
                </a:solidFill>
                <a:latin typeface="Cambria" pitchFamily="34" charset="0"/>
                <a:ea typeface="Cambria" pitchFamily="34" charset="-122"/>
                <a:cs typeface="Cambria" pitchFamily="34" charset="-120"/>
              </a:rPr>
              <a:t>02</a:t>
            </a:r>
            <a:endParaRPr lang="en-US" sz="32000" dirty="0"/>
          </a:p>
        </p:txBody>
      </p:sp>
      <p:sp>
        <p:nvSpPr>
          <p:cNvPr id="3" name="Text 1"/>
          <p:cNvSpPr/>
          <p:nvPr/>
        </p:nvSpPr>
        <p:spPr>
          <a:xfrm>
            <a:off x="4754880" y="1554480"/>
            <a:ext cx="6858000" cy="36576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SCENARIO 2</a:t>
            </a:r>
            <a:endParaRPr lang="en-US" sz="1400" dirty="0"/>
          </a:p>
        </p:txBody>
      </p:sp>
      <p:sp>
        <p:nvSpPr>
          <p:cNvPr id="4" name="Text 2"/>
          <p:cNvSpPr/>
          <p:nvPr/>
        </p:nvSpPr>
        <p:spPr>
          <a:xfrm>
            <a:off x="4754880" y="1965960"/>
            <a:ext cx="685800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MV-22 Readiness Manipulation</a:t>
            </a:r>
            <a:endParaRPr lang="en-US" sz="3600" dirty="0"/>
          </a:p>
        </p:txBody>
      </p:sp>
      <p:sp>
        <p:nvSpPr>
          <p:cNvPr id="5" name="Text 3"/>
          <p:cNvSpPr/>
          <p:nvPr/>
        </p:nvSpPr>
        <p:spPr>
          <a:xfrm>
            <a:off x="4754880" y="3520440"/>
            <a:ext cx="6858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Marine Aviation Maintenance</a:t>
            </a:r>
            <a:endParaRPr lang="en-US" sz="1400" dirty="0"/>
          </a:p>
        </p:txBody>
      </p:sp>
      <p:sp>
        <p:nvSpPr>
          <p:cNvPr id="6" name="Shape 4"/>
          <p:cNvSpPr/>
          <p:nvPr/>
        </p:nvSpPr>
        <p:spPr>
          <a:xfrm>
            <a:off x="4754880" y="4023360"/>
            <a:ext cx="6858000" cy="36576"/>
          </a:xfrm>
          <a:prstGeom prst="rect">
            <a:avLst/>
          </a:prstGeom>
          <a:solidFill>
            <a:srgbClr val="B85042"/>
          </a:solidFill>
          <a:ln w="12700">
            <a:solidFill>
              <a:srgbClr val="B85042"/>
            </a:solidFill>
            <a:prstDash val="solid"/>
          </a:ln>
        </p:spPr>
      </p:sp>
      <p:sp>
        <p:nvSpPr>
          <p:cNvPr id="7" name="Text 5"/>
          <p:cNvSpPr/>
          <p:nvPr/>
        </p:nvSpPr>
        <p:spPr>
          <a:xfrm>
            <a:off x="4754880" y="4160520"/>
            <a:ext cx="6858000" cy="2011680"/>
          </a:xfrm>
          <a:prstGeom prst="rect">
            <a:avLst/>
          </a:prstGeom>
          <a:noFill/>
          <a:ln/>
        </p:spPr>
        <p:txBody>
          <a:bodyPr wrap="square" lIns="0" tIns="0" rIns="0" bIns="0" rtlCol="0" anchor="t"/>
          <a:lstStyle/>
          <a:p>
            <a:pPr indent="0" marL="0">
              <a:spcAft>
                <a:spcPts val="600"/>
              </a:spcAft>
              <a:buNone/>
            </a:pPr>
            <a:r>
              <a:rPr lang="en-US" sz="1000" b="1" spc="400" kern="0" dirty="0">
                <a:solidFill>
                  <a:srgbClr val="B85042"/>
                </a:solidFill>
                <a:latin typeface="Calibri" pitchFamily="34" charset="0"/>
                <a:ea typeface="Calibri" pitchFamily="34" charset="-122"/>
                <a:cs typeface="Calibri" pitchFamily="34" charset="-120"/>
              </a:rPr>
              <a:t>SETTING
</a:t>
            </a:r>
            <a:pPr indent="0" marL="0">
              <a:spcAft>
                <a:spcPts val="600"/>
              </a:spcAft>
              <a:buNone/>
            </a:pPr>
            <a:r>
              <a:rPr lang="en-US" sz="1200" dirty="0">
                <a:solidFill>
                  <a:srgbClr val="CADCFC"/>
                </a:solidFill>
                <a:latin typeface="Calibri" pitchFamily="34" charset="0"/>
                <a:ea typeface="Calibri" pitchFamily="34" charset="-122"/>
                <a:cs typeface="Calibri" pitchFamily="34" charset="-120"/>
              </a:rPr>
              <a:t>MAG-XX, Marine Corps Air Station, CONUS. Peacetime operating tempo with global commitments. Squadron of twenty-four MV-22B Osprey aircraft. Five aircraft are currently down for maintenance (parts wait, phase maintenance, and corrosion).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2</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Leader and the Student</a:t>
            </a:r>
            <a:endParaRPr lang="en-US" sz="3200" dirty="0"/>
          </a:p>
        </p:txBody>
      </p:sp>
      <p:sp>
        <p:nvSpPr>
          <p:cNvPr id="5" name="Shape 3"/>
          <p:cNvSpPr/>
          <p:nvPr/>
        </p:nvSpPr>
        <p:spPr>
          <a:xfrm>
            <a:off x="548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5349240" cy="640080"/>
          </a:xfrm>
          <a:prstGeom prst="rect">
            <a:avLst/>
          </a:prstGeom>
          <a:solidFill>
            <a:srgbClr val="1E2761"/>
          </a:solidFill>
          <a:ln w="12700">
            <a:solidFill>
              <a:srgbClr val="1E2761"/>
            </a:solidFill>
            <a:prstDash val="solid"/>
          </a:ln>
        </p:spPr>
      </p:sp>
      <p:sp>
        <p:nvSpPr>
          <p:cNvPr id="7" name="Text 5"/>
          <p:cNvSpPr/>
          <p:nvPr/>
        </p:nvSpPr>
        <p:spPr>
          <a:xfrm>
            <a:off x="777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CADCFC"/>
                </a:solidFill>
                <a:latin typeface="Calibri" pitchFamily="34" charset="0"/>
                <a:ea typeface="Calibri" pitchFamily="34" charset="-122"/>
                <a:cs typeface="Calibri" pitchFamily="34" charset="-120"/>
              </a:rPr>
              <a:t>THE LEADER</a:t>
            </a:r>
            <a:endParaRPr lang="en-US" sz="1100" dirty="0"/>
          </a:p>
        </p:txBody>
      </p:sp>
      <p:sp>
        <p:nvSpPr>
          <p:cNvPr id="8" name="Text 6"/>
          <p:cNvSpPr/>
          <p:nvPr/>
        </p:nvSpPr>
        <p:spPr>
          <a:xfrm>
            <a:off x="777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LtCol 'Bull' Harrigan</a:t>
            </a:r>
            <a:endParaRPr lang="en-US" sz="1600" dirty="0"/>
          </a:p>
        </p:txBody>
      </p:sp>
      <p:sp>
        <p:nvSpPr>
          <p:cNvPr id="9" name="Text 7"/>
          <p:cNvSpPr/>
          <p:nvPr/>
        </p:nvSpPr>
        <p:spPr>
          <a:xfrm>
            <a:off x="777240" y="2788920"/>
            <a:ext cx="4892040" cy="274320"/>
          </a:xfrm>
          <a:prstGeom prst="rect">
            <a:avLst/>
          </a:prstGeom>
          <a:noFill/>
          <a:ln/>
        </p:spPr>
        <p:txBody>
          <a:bodyPr wrap="square" lIns="0" tIns="0" rIns="0" bIns="0" rtlCol="0" anchor="ctr"/>
          <a:lstStyle/>
          <a:p>
            <a:pPr indent="0" marL="0">
              <a:buNone/>
            </a:pPr>
            <a:r>
              <a:rPr lang="en-US" sz="1300" b="1" i="1" dirty="0">
                <a:solidFill>
                  <a:srgbClr val="B85042"/>
                </a:solidFill>
                <a:latin typeface="Calibri" pitchFamily="34" charset="0"/>
                <a:ea typeface="Calibri" pitchFamily="34" charset="-122"/>
                <a:cs typeface="Calibri" pitchFamily="34" charset="-120"/>
              </a:rPr>
              <a:t>VMM Squadron Commanding Officer</a:t>
            </a:r>
            <a:endParaRPr lang="en-US" sz="1300" dirty="0"/>
          </a:p>
        </p:txBody>
      </p:sp>
      <p:sp>
        <p:nvSpPr>
          <p:cNvPr id="10" name="Text 8"/>
          <p:cNvSpPr/>
          <p:nvPr/>
        </p:nvSpPr>
        <p:spPr>
          <a:xfrm>
            <a:off x="777240" y="3108960"/>
            <a:ext cx="489204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BACKGROUND
</a:t>
            </a:r>
            <a:pPr indent="0" marL="0">
              <a:buNone/>
            </a:pPr>
            <a:r>
              <a:rPr lang="en-US" sz="1200" dirty="0">
                <a:solidFill>
                  <a:srgbClr val="14193D"/>
                </a:solidFill>
                <a:latin typeface="Calibri" pitchFamily="34" charset="0"/>
                <a:ea typeface="Calibri" pitchFamily="34" charset="-122"/>
                <a:cs typeface="Calibri" pitchFamily="34" charset="-120"/>
              </a:rPr>
              <a:t>19 years, MEU-experienced, post-command O-6 candidate. Briefed the Wing CG personally on his readiness initiatives at the last quarterly. Aggressive and ambitious. Wants the squadron to lead the wing.
</a:t>
            </a:r>
            <a:pPr indent="0" marL="0">
              <a:buNone/>
            </a:pPr>
            <a:r>
              <a:rPr lang="en-US" sz="900" b="1" spc="300" kern="0" dirty="0">
                <a:solidFill>
                  <a:srgbClr val="1E2761"/>
                </a:solidFill>
                <a:latin typeface="Calibri" pitchFamily="34" charset="0"/>
                <a:ea typeface="Calibri" pitchFamily="34" charset="-122"/>
                <a:cs typeface="Calibri" pitchFamily="34" charset="-120"/>
              </a:rPr>
              <a:t>MOTIVATION
</a:t>
            </a:r>
            <a:pPr indent="0" marL="0">
              <a:buNone/>
            </a:pPr>
            <a:r>
              <a:rPr lang="en-US" sz="1200" dirty="0">
                <a:solidFill>
                  <a:srgbClr val="14193D"/>
                </a:solidFill>
                <a:latin typeface="Calibri" pitchFamily="34" charset="0"/>
                <a:ea typeface="Calibri" pitchFamily="34" charset="-122"/>
                <a:cs typeface="Calibri" pitchFamily="34" charset="-120"/>
              </a:rPr>
              <a:t>Sitting at seventy-nine percent readiness against an eighty-five percent standard. Considers it a personal embarrassment. Sees the next quarterly brief as a defining moment for his post-command record.</a:t>
            </a:r>
            <a:endParaRPr lang="en-US" sz="900" dirty="0"/>
          </a:p>
        </p:txBody>
      </p:sp>
      <p:sp>
        <p:nvSpPr>
          <p:cNvPr id="11" name="Shape 9"/>
          <p:cNvSpPr/>
          <p:nvPr/>
        </p:nvSpPr>
        <p:spPr>
          <a:xfrm>
            <a:off x="6263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263640" y="2011680"/>
            <a:ext cx="5349240" cy="640080"/>
          </a:xfrm>
          <a:prstGeom prst="rect">
            <a:avLst/>
          </a:prstGeom>
          <a:solidFill>
            <a:srgbClr val="B85042"/>
          </a:solidFill>
          <a:ln w="12700">
            <a:solidFill>
              <a:srgbClr val="B85042"/>
            </a:solidFill>
            <a:prstDash val="solid"/>
          </a:ln>
        </p:spPr>
      </p:sp>
      <p:sp>
        <p:nvSpPr>
          <p:cNvPr id="13" name="Text 11"/>
          <p:cNvSpPr/>
          <p:nvPr/>
        </p:nvSpPr>
        <p:spPr>
          <a:xfrm>
            <a:off x="6492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YOU (THE STUDENT)</a:t>
            </a:r>
            <a:endParaRPr lang="en-US" sz="1100" dirty="0"/>
          </a:p>
        </p:txBody>
      </p:sp>
      <p:sp>
        <p:nvSpPr>
          <p:cNvPr id="14" name="Text 12"/>
          <p:cNvSpPr/>
          <p:nvPr/>
        </p:nvSpPr>
        <p:spPr>
          <a:xfrm>
            <a:off x="6492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Captain (O-3), Aircraft Maintenance Officer (AMO)</a:t>
            </a:r>
            <a:endParaRPr lang="en-US" sz="1600" dirty="0"/>
          </a:p>
        </p:txBody>
      </p:sp>
      <p:sp>
        <p:nvSpPr>
          <p:cNvPr id="15" name="Text 13"/>
          <p:cNvSpPr/>
          <p:nvPr/>
        </p:nvSpPr>
        <p:spPr>
          <a:xfrm>
            <a:off x="6492240" y="2880360"/>
            <a:ext cx="4892040" cy="32004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STAKES
</a:t>
            </a:r>
            <a:pPr indent="0" marL="0">
              <a:buNone/>
            </a:pPr>
            <a:r>
              <a:rPr lang="en-US" sz="1200" dirty="0">
                <a:solidFill>
                  <a:srgbClr val="14193D"/>
                </a:solidFill>
                <a:latin typeface="Calibri" pitchFamily="34" charset="0"/>
                <a:ea typeface="Calibri" pitchFamily="34" charset="-122"/>
                <a:cs typeface="Calibri" pitchFamily="34" charset="-120"/>
              </a:rPr>
              <a:t>Major's promotion board next cycle. Post-AMO assignment to flight-school instructor pipeline pending the CO's endorsement. Civilian aviation career also lives or dies on integrity of maintenance records.
</a:t>
            </a:r>
            <a:pPr indent="0" marL="0">
              <a:buNone/>
            </a:pPr>
            <a:r>
              <a:rPr lang="en-US" sz="900" b="1" spc="300" kern="0" dirty="0">
                <a:solidFill>
                  <a:srgbClr val="B85042"/>
                </a:solidFill>
                <a:latin typeface="Calibri" pitchFamily="34" charset="0"/>
                <a:ea typeface="Calibri" pitchFamily="34" charset="-122"/>
                <a:cs typeface="Calibri" pitchFamily="34" charset="-120"/>
              </a:rPr>
              <a:t>NATURE OF RISK
</a:t>
            </a:r>
            <a:pPr indent="0" marL="0">
              <a:buNone/>
            </a:pPr>
            <a:r>
              <a:rPr lang="en-US" sz="1200" dirty="0">
                <a:solidFill>
                  <a:srgbClr val="14193D"/>
                </a:solidFill>
                <a:latin typeface="Calibri" pitchFamily="34" charset="0"/>
                <a:ea typeface="Calibri" pitchFamily="34" charset="-122"/>
                <a:cs typeface="Calibri" pitchFamily="34" charset="-120"/>
              </a:rPr>
              <a:t>Career and criminal exposure. Falsified Naval Aviation Maintenance Program (NAMP) records implicate Article 107 (False Official Statement) and potentially Article 134 if a mishap follows. Risk also extends to the maintenance Marines who sign the records.</a:t>
            </a:r>
            <a:endParaRPr lang="en-US" sz="9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2 — MV-22 Readiness Manipulation</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548640"/>
            <a:ext cx="11064240" cy="36576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MORALLY AMBIGUOUS ORDER</a:t>
            </a:r>
            <a:endParaRPr lang="en-US" sz="1200" dirty="0"/>
          </a:p>
        </p:txBody>
      </p:sp>
      <p:sp>
        <p:nvSpPr>
          <p:cNvPr id="3" name="Text 1"/>
          <p:cNvSpPr/>
          <p:nvPr/>
        </p:nvSpPr>
        <p:spPr>
          <a:xfrm>
            <a:off x="548640" y="91440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2: MV-22 Readiness Manipulation</a:t>
            </a:r>
            <a:endParaRPr lang="en-US" sz="2200" dirty="0"/>
          </a:p>
        </p:txBody>
      </p:sp>
      <p:sp>
        <p:nvSpPr>
          <p:cNvPr id="4" name="Shape 2"/>
          <p:cNvSpPr/>
          <p:nvPr/>
        </p:nvSpPr>
        <p:spPr>
          <a:xfrm>
            <a:off x="548640" y="1600200"/>
            <a:ext cx="73152" cy="1737360"/>
          </a:xfrm>
          <a:prstGeom prst="rect">
            <a:avLst/>
          </a:prstGeom>
          <a:solidFill>
            <a:srgbClr val="B85042"/>
          </a:solidFill>
          <a:ln w="12700">
            <a:solidFill>
              <a:srgbClr val="B85042"/>
            </a:solidFill>
            <a:prstDash val="solid"/>
          </a:ln>
        </p:spPr>
      </p:sp>
      <p:sp>
        <p:nvSpPr>
          <p:cNvPr id="5" name="Text 3"/>
          <p:cNvSpPr/>
          <p:nvPr/>
        </p:nvSpPr>
        <p:spPr>
          <a:xfrm>
            <a:off x="914400" y="1554480"/>
            <a:ext cx="10698480" cy="18288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“LtCol Harrigan: 'Captain, get my numbers up. I don't want excuses, I want a plan on my desk by 1700. We can't be a seventy-nine percent squadron. Find a way.' He does not specify how. The ambiguity is the order.”</a:t>
            </a:r>
            <a:endParaRPr lang="en-US" sz="1800" dirty="0"/>
          </a:p>
        </p:txBody>
      </p:sp>
      <p:sp>
        <p:nvSpPr>
          <p:cNvPr id="6" name="Shape 4"/>
          <p:cNvSpPr/>
          <p:nvPr/>
        </p:nvSpPr>
        <p:spPr>
          <a:xfrm>
            <a:off x="548640" y="3520440"/>
            <a:ext cx="11064240" cy="2926080"/>
          </a:xfrm>
          <a:prstGeom prst="rect">
            <a:avLst/>
          </a:prstGeom>
          <a:solidFill>
            <a:srgbClr val="1E2761"/>
          </a:solidFill>
          <a:ln w="12700">
            <a:solidFill>
              <a:srgbClr val="1E2761"/>
            </a:solidFill>
            <a:prstDash val="solid"/>
          </a:ln>
        </p:spPr>
      </p:sp>
      <p:sp>
        <p:nvSpPr>
          <p:cNvPr id="7" name="Text 5"/>
          <p:cNvSpPr/>
          <p:nvPr/>
        </p:nvSpPr>
        <p:spPr>
          <a:xfrm>
            <a:off x="822960" y="3657600"/>
            <a:ext cx="1051560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REGULATORY AND OPERATIONAL CONTEXT</a:t>
            </a:r>
            <a:endParaRPr lang="en-US" sz="1000" dirty="0"/>
          </a:p>
        </p:txBody>
      </p:sp>
      <p:sp>
        <p:nvSpPr>
          <p:cNvPr id="8" name="Text 6"/>
          <p:cNvSpPr/>
          <p:nvPr/>
        </p:nvSpPr>
        <p:spPr>
          <a:xfrm>
            <a:off x="822960" y="3977640"/>
            <a:ext cx="10515600" cy="237744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NAVAIR 00-80T-122 and OPNAVINST 4790 series treat each aircraft's reliability-centered maintenance and corrosion items as individually tracked. Consolidating discrepancies onto a single tail number to make others appear mission-capable is records falsification. The squadron is also visible to the Joint Staff through the Defense Readiness Reporting System (DRRS); a manipulated DRRS report is a federal records issue, not just a service issue.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365760"/>
            <a:ext cx="1106424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2</a:t>
            </a:r>
            <a:endParaRPr lang="en-US" sz="1000" dirty="0"/>
          </a:p>
        </p:txBody>
      </p:sp>
      <p:sp>
        <p:nvSpPr>
          <p:cNvPr id="4" name="Text 2"/>
          <p:cNvSpPr/>
          <p:nvPr/>
        </p:nvSpPr>
        <p:spPr>
          <a:xfrm>
            <a:off x="548640" y="640080"/>
            <a:ext cx="11064240"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Four Subordinates and Their Advice</a:t>
            </a:r>
            <a:endParaRPr lang="en-US" sz="2200" dirty="0"/>
          </a:p>
        </p:txBody>
      </p:sp>
      <p:sp>
        <p:nvSpPr>
          <p:cNvPr id="5" name="Shape 3"/>
          <p:cNvSpPr/>
          <p:nvPr/>
        </p:nvSpPr>
        <p:spPr>
          <a:xfrm>
            <a:off x="548640"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1188720"/>
            <a:ext cx="109728" cy="2743200"/>
          </a:xfrm>
          <a:prstGeom prst="rect">
            <a:avLst/>
          </a:prstGeom>
          <a:solidFill>
            <a:srgbClr val="7B2D26"/>
          </a:solidFill>
          <a:ln w="12700">
            <a:solidFill>
              <a:srgbClr val="7B2D26"/>
            </a:solidFill>
            <a:prstDash val="solid"/>
          </a:ln>
        </p:spPr>
      </p:sp>
      <p:sp>
        <p:nvSpPr>
          <p:cNvPr id="7" name="Text 5"/>
          <p:cNvSpPr/>
          <p:nvPr/>
        </p:nvSpPr>
        <p:spPr>
          <a:xfrm>
            <a:off x="822960" y="1298448"/>
            <a:ext cx="5010912" cy="201168"/>
          </a:xfrm>
          <a:prstGeom prst="rect">
            <a:avLst/>
          </a:prstGeom>
          <a:noFill/>
          <a:ln/>
        </p:spPr>
        <p:txBody>
          <a:bodyPr wrap="square" lIns="0" tIns="0" rIns="0" bIns="0" rtlCol="0" anchor="ctr"/>
          <a:lstStyle/>
          <a:p>
            <a:pPr indent="0" marL="0">
              <a:buNone/>
            </a:pPr>
            <a:r>
              <a:rPr lang="en-US" sz="950" b="1" spc="400" kern="0" dirty="0">
                <a:solidFill>
                  <a:srgbClr val="7B2D26"/>
                </a:solidFill>
                <a:latin typeface="Calibri" pitchFamily="34" charset="0"/>
                <a:ea typeface="Calibri" pitchFamily="34" charset="-122"/>
                <a:cs typeface="Calibri" pitchFamily="34" charset="-120"/>
              </a:rPr>
              <a:t>LOYALIST</a:t>
            </a:r>
            <a:endParaRPr lang="en-US" sz="950" dirty="0"/>
          </a:p>
        </p:txBody>
      </p:sp>
      <p:sp>
        <p:nvSpPr>
          <p:cNvPr id="8" name="Text 6"/>
          <p:cNvSpPr/>
          <p:nvPr/>
        </p:nvSpPr>
        <p:spPr>
          <a:xfrm>
            <a:off x="822960"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GySgt Reyes — Maintenance Chief</a:t>
            </a:r>
            <a:endParaRPr lang="en-US" sz="1200" dirty="0"/>
          </a:p>
        </p:txBody>
      </p:sp>
      <p:sp>
        <p:nvSpPr>
          <p:cNvPr id="9" name="Text 7"/>
          <p:cNvSpPr/>
          <p:nvPr/>
        </p:nvSpPr>
        <p:spPr>
          <a:xfrm>
            <a:off x="822960"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Yes-Person</a:t>
            </a:r>
            <a:endParaRPr lang="en-US" sz="850" dirty="0"/>
          </a:p>
        </p:txBody>
      </p:sp>
      <p:sp>
        <p:nvSpPr>
          <p:cNvPr id="10" name="Text 8"/>
          <p:cNvSpPr/>
          <p:nvPr/>
        </p:nvSpPr>
        <p:spPr>
          <a:xfrm>
            <a:off x="822960" y="2011680"/>
            <a:ext cx="5010912" cy="1828800"/>
          </a:xfrm>
          <a:prstGeom prst="rect">
            <a:avLst/>
          </a:prstGeom>
          <a:noFill/>
          <a:ln/>
        </p:spPr>
        <p:txBody>
          <a:bodyPr wrap="square" lIns="0" tIns="0" rIns="0" bIns="0" rtlCol="0" anchor="t"/>
          <a:lstStyle/>
          <a:p>
            <a:pPr indent="0" marL="0">
              <a:spcAft>
                <a:spcPts val="200"/>
              </a:spcAft>
              <a:buNone/>
            </a:pPr>
            <a:r>
              <a:rPr lang="en-US" sz="950" i="1" dirty="0">
                <a:solidFill>
                  <a:srgbClr val="14193D"/>
                </a:solidFill>
                <a:latin typeface="Calibri" pitchFamily="34" charset="0"/>
                <a:ea typeface="Calibri" pitchFamily="34" charset="-122"/>
                <a:cs typeface="Calibri" pitchFamily="34" charset="-120"/>
              </a:rPr>
              <a:t>“Sir, no problem. We pencil-whip the deferred items onto Bureau Number 168293 and put it in long-term parts wait. The other four come up green by Monday morning. The CO will be happy and the brief will be clean.”</a:t>
            </a:r>
            <a:endParaRPr lang="en-US" sz="950" dirty="0"/>
          </a:p>
          <a:p>
            <a:pPr indent="0" marL="0">
              <a:spcAft>
                <a:spcPts val="200"/>
              </a:spcAft>
              <a:buNone/>
            </a:pPr>
            <a:endParaRPr lang="en-US" sz="9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Will execute whatever is asked. Loyalty pointed at the leader, not at the institution.</a:t>
            </a:r>
            <a:endParaRPr lang="en-US" sz="950" dirty="0"/>
          </a:p>
        </p:txBody>
      </p:sp>
      <p:sp>
        <p:nvSpPr>
          <p:cNvPr id="11" name="Shape 9"/>
          <p:cNvSpPr/>
          <p:nvPr/>
        </p:nvSpPr>
        <p:spPr>
          <a:xfrm>
            <a:off x="6144768"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144768" y="1188720"/>
            <a:ext cx="109728" cy="2743200"/>
          </a:xfrm>
          <a:prstGeom prst="rect">
            <a:avLst/>
          </a:prstGeom>
          <a:solidFill>
            <a:srgbClr val="C97B5C"/>
          </a:solidFill>
          <a:ln w="12700">
            <a:solidFill>
              <a:srgbClr val="C97B5C"/>
            </a:solidFill>
            <a:prstDash val="solid"/>
          </a:ln>
        </p:spPr>
      </p:sp>
      <p:sp>
        <p:nvSpPr>
          <p:cNvPr id="13" name="Text 11"/>
          <p:cNvSpPr/>
          <p:nvPr/>
        </p:nvSpPr>
        <p:spPr>
          <a:xfrm>
            <a:off x="6419088" y="1298448"/>
            <a:ext cx="5010912" cy="201168"/>
          </a:xfrm>
          <a:prstGeom prst="rect">
            <a:avLst/>
          </a:prstGeom>
          <a:noFill/>
          <a:ln/>
        </p:spPr>
        <p:txBody>
          <a:bodyPr wrap="square" lIns="0" tIns="0" rIns="0" bIns="0" rtlCol="0" anchor="ctr"/>
          <a:lstStyle/>
          <a:p>
            <a:pPr indent="0" marL="0">
              <a:buNone/>
            </a:pPr>
            <a:r>
              <a:rPr lang="en-US" sz="950" b="1" spc="400" kern="0" dirty="0">
                <a:solidFill>
                  <a:srgbClr val="C97B5C"/>
                </a:solidFill>
                <a:latin typeface="Calibri" pitchFamily="34" charset="0"/>
                <a:ea typeface="Calibri" pitchFamily="34" charset="-122"/>
                <a:cs typeface="Calibri" pitchFamily="34" charset="-120"/>
              </a:rPr>
              <a:t>OPERATOR</a:t>
            </a:r>
            <a:endParaRPr lang="en-US" sz="950" dirty="0"/>
          </a:p>
        </p:txBody>
      </p:sp>
      <p:sp>
        <p:nvSpPr>
          <p:cNvPr id="14" name="Text 12"/>
          <p:cNvSpPr/>
          <p:nvPr/>
        </p:nvSpPr>
        <p:spPr>
          <a:xfrm>
            <a:off x="6419088"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MSgt Klein — Quality Assurance Chief</a:t>
            </a:r>
            <a:endParaRPr lang="en-US" sz="1200" dirty="0"/>
          </a:p>
        </p:txBody>
      </p:sp>
      <p:sp>
        <p:nvSpPr>
          <p:cNvPr id="15" name="Text 13"/>
          <p:cNvSpPr/>
          <p:nvPr/>
        </p:nvSpPr>
        <p:spPr>
          <a:xfrm>
            <a:off x="6419088"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Resource; Kellerman: Participant</a:t>
            </a:r>
            <a:endParaRPr lang="en-US" sz="850" dirty="0"/>
          </a:p>
        </p:txBody>
      </p:sp>
      <p:sp>
        <p:nvSpPr>
          <p:cNvPr id="16" name="Text 14"/>
          <p:cNvSpPr/>
          <p:nvPr/>
        </p:nvSpPr>
        <p:spPr>
          <a:xfrm>
            <a:off x="6419088" y="2011680"/>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“Here's the play. We cannibalize the worst bird and designate it the Phase Maintenance aircraft, which is already coming up. We roll discrepancies onto that tail number. On paper, four come up. Off the books, the parts situation is the same. It's been done before. The QA paperwork will be tight enough to pass a normal inspection. Probably.”</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Walks the boundary between aggressive maintenance management and records fraud and pretends not to see the line.</a:t>
            </a:r>
            <a:endParaRPr lang="en-US" sz="850" dirty="0"/>
          </a:p>
        </p:txBody>
      </p:sp>
      <p:sp>
        <p:nvSpPr>
          <p:cNvPr id="17" name="Shape 15"/>
          <p:cNvSpPr/>
          <p:nvPr/>
        </p:nvSpPr>
        <p:spPr>
          <a:xfrm>
            <a:off x="548640"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8" name="Shape 16"/>
          <p:cNvSpPr/>
          <p:nvPr/>
        </p:nvSpPr>
        <p:spPr>
          <a:xfrm>
            <a:off x="548640" y="4059936"/>
            <a:ext cx="109728" cy="2743200"/>
          </a:xfrm>
          <a:prstGeom prst="rect">
            <a:avLst/>
          </a:prstGeom>
          <a:solidFill>
            <a:srgbClr val="3F5E78"/>
          </a:solidFill>
          <a:ln w="12700">
            <a:solidFill>
              <a:srgbClr val="3F5E78"/>
            </a:solidFill>
            <a:prstDash val="solid"/>
          </a:ln>
        </p:spPr>
      </p:sp>
      <p:sp>
        <p:nvSpPr>
          <p:cNvPr id="19" name="Text 17"/>
          <p:cNvSpPr/>
          <p:nvPr/>
        </p:nvSpPr>
        <p:spPr>
          <a:xfrm>
            <a:off x="822960" y="4169664"/>
            <a:ext cx="5010912" cy="201168"/>
          </a:xfrm>
          <a:prstGeom prst="rect">
            <a:avLst/>
          </a:prstGeom>
          <a:noFill/>
          <a:ln/>
        </p:spPr>
        <p:txBody>
          <a:bodyPr wrap="square" lIns="0" tIns="0" rIns="0" bIns="0" rtlCol="0" anchor="ctr"/>
          <a:lstStyle/>
          <a:p>
            <a:pPr indent="0" marL="0">
              <a:buNone/>
            </a:pPr>
            <a:r>
              <a:rPr lang="en-US" sz="950" b="1" spc="400" kern="0" dirty="0">
                <a:solidFill>
                  <a:srgbClr val="3F5E78"/>
                </a:solidFill>
                <a:latin typeface="Calibri" pitchFamily="34" charset="0"/>
                <a:ea typeface="Calibri" pitchFamily="34" charset="-122"/>
                <a:cs typeface="Calibri" pitchFamily="34" charset="-120"/>
              </a:rPr>
              <a:t>STICKLER</a:t>
            </a:r>
            <a:endParaRPr lang="en-US" sz="950" dirty="0"/>
          </a:p>
        </p:txBody>
      </p:sp>
      <p:sp>
        <p:nvSpPr>
          <p:cNvPr id="20" name="Text 18"/>
          <p:cNvSpPr/>
          <p:nvPr/>
        </p:nvSpPr>
        <p:spPr>
          <a:xfrm>
            <a:off x="822960"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1stLt Dawson — Maintenance Material Control Officer</a:t>
            </a:r>
            <a:endParaRPr lang="en-US" sz="1200" dirty="0"/>
          </a:p>
        </p:txBody>
      </p:sp>
      <p:sp>
        <p:nvSpPr>
          <p:cNvPr id="21" name="Text 19"/>
          <p:cNvSpPr/>
          <p:nvPr/>
        </p:nvSpPr>
        <p:spPr>
          <a:xfrm>
            <a:off x="822960"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Individualist</a:t>
            </a:r>
            <a:endParaRPr lang="en-US" sz="850" dirty="0"/>
          </a:p>
        </p:txBody>
      </p:sp>
      <p:sp>
        <p:nvSpPr>
          <p:cNvPr id="22" name="Text 20"/>
          <p:cNvSpPr/>
          <p:nvPr/>
        </p:nvSpPr>
        <p:spPr>
          <a:xfrm>
            <a:off x="822960"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“Sir, NAVAIR 00-80T-122 and OPNAVINST 4790.2 are clear: each aircraft's RCM and corrosion items are tracked individually. Falsifying or consolidating discrepancies against the doctrinal maintenance plan is a violation. We report seventy-nine percent. If the CO does not like it, that is a leadership problem, not a maintenance problem. I will not sign the gear adrift report.”</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Correct in substance, brittle in delivery, offers no path forward for the commander.</a:t>
            </a:r>
            <a:endParaRPr lang="en-US" sz="850" dirty="0"/>
          </a:p>
        </p:txBody>
      </p:sp>
      <p:sp>
        <p:nvSpPr>
          <p:cNvPr id="23" name="Shape 21"/>
          <p:cNvSpPr/>
          <p:nvPr/>
        </p:nvSpPr>
        <p:spPr>
          <a:xfrm>
            <a:off x="6144768"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4" name="Shape 22"/>
          <p:cNvSpPr/>
          <p:nvPr/>
        </p:nvSpPr>
        <p:spPr>
          <a:xfrm>
            <a:off x="6144768" y="4059936"/>
            <a:ext cx="109728" cy="2743200"/>
          </a:xfrm>
          <a:prstGeom prst="rect">
            <a:avLst/>
          </a:prstGeom>
          <a:solidFill>
            <a:srgbClr val="2C7A4B"/>
          </a:solidFill>
          <a:ln w="12700">
            <a:solidFill>
              <a:srgbClr val="2C7A4B"/>
            </a:solidFill>
            <a:prstDash val="solid"/>
          </a:ln>
        </p:spPr>
      </p:sp>
      <p:sp>
        <p:nvSpPr>
          <p:cNvPr id="25" name="Text 23"/>
          <p:cNvSpPr/>
          <p:nvPr/>
        </p:nvSpPr>
        <p:spPr>
          <a:xfrm>
            <a:off x="6419088" y="4169664"/>
            <a:ext cx="5010912" cy="201168"/>
          </a:xfrm>
          <a:prstGeom prst="rect">
            <a:avLst/>
          </a:prstGeom>
          <a:noFill/>
          <a:ln/>
        </p:spPr>
        <p:txBody>
          <a:bodyPr wrap="square" lIns="0" tIns="0" rIns="0" bIns="0" rtlCol="0" anchor="ctr"/>
          <a:lstStyle/>
          <a:p>
            <a:pPr indent="0" marL="0">
              <a:buNone/>
            </a:pPr>
            <a:r>
              <a:rPr lang="en-US" sz="950" b="1" spc="400" kern="0" dirty="0">
                <a:solidFill>
                  <a:srgbClr val="2C7A4B"/>
                </a:solidFill>
                <a:latin typeface="Calibri" pitchFamily="34" charset="0"/>
                <a:ea typeface="Calibri" pitchFamily="34" charset="-122"/>
                <a:cs typeface="Calibri" pitchFamily="34" charset="-120"/>
              </a:rPr>
              <a:t>PARTNER</a:t>
            </a:r>
            <a:endParaRPr lang="en-US" sz="950" dirty="0"/>
          </a:p>
        </p:txBody>
      </p:sp>
      <p:sp>
        <p:nvSpPr>
          <p:cNvPr id="26" name="Text 24"/>
          <p:cNvSpPr/>
          <p:nvPr/>
        </p:nvSpPr>
        <p:spPr>
          <a:xfrm>
            <a:off x="6419088"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GySgt Tomas — Maintenance Production Chief</a:t>
            </a:r>
            <a:endParaRPr lang="en-US" sz="1200" dirty="0"/>
          </a:p>
        </p:txBody>
      </p:sp>
      <p:sp>
        <p:nvSpPr>
          <p:cNvPr id="27" name="Text 25"/>
          <p:cNvSpPr/>
          <p:nvPr/>
        </p:nvSpPr>
        <p:spPr>
          <a:xfrm>
            <a:off x="6419088"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Partner; Kellerman: Constructive Activist</a:t>
            </a:r>
            <a:endParaRPr lang="en-US" sz="850" dirty="0"/>
          </a:p>
        </p:txBody>
      </p:sp>
      <p:sp>
        <p:nvSpPr>
          <p:cNvPr id="28" name="Text 26"/>
          <p:cNvSpPr/>
          <p:nvPr/>
        </p:nvSpPr>
        <p:spPr>
          <a:xfrm>
            <a:off x="6419088" y="4882896"/>
            <a:ext cx="5010912" cy="1828800"/>
          </a:xfrm>
          <a:prstGeom prst="rect">
            <a:avLst/>
          </a:prstGeom>
          <a:noFill/>
          <a:ln/>
        </p:spPr>
        <p:txBody>
          <a:bodyPr wrap="square" lIns="0" tIns="0" rIns="0" bIns="0" rtlCol="0" anchor="t"/>
          <a:lstStyle/>
          <a:p>
            <a:pPr indent="0" marL="0">
              <a:spcAft>
                <a:spcPts val="200"/>
              </a:spcAft>
              <a:buNone/>
            </a:pPr>
            <a:r>
              <a:rPr lang="en-US" sz="800" i="1" dirty="0">
                <a:solidFill>
                  <a:srgbClr val="14193D"/>
                </a:solidFill>
                <a:latin typeface="Calibri" pitchFamily="34" charset="0"/>
                <a:ea typeface="Calibri" pitchFamily="34" charset="-122"/>
                <a:cs typeface="Calibri" pitchFamily="34" charset="-120"/>
              </a:rPr>
              <a:t>“Sir, the CO wants readiness, but what he actually needs is to walk into that brief looking strong and stay out of trouble. Real options. One: we elevate parts priority through the Wing AMO using the DRRS-impact narrative. Two birds back in thirty days. Two: we request an attached maintenance team from MALS for a thirty-day surge on the corrosion cases. Three: … [full text in scenario book]”</a:t>
            </a:r>
            <a:endParaRPr lang="en-US" sz="800" dirty="0"/>
          </a:p>
          <a:p>
            <a:pPr indent="0" marL="0">
              <a:spcAft>
                <a:spcPts val="200"/>
              </a:spcAft>
              <a:buNone/>
            </a:pPr>
            <a:endParaRPr lang="en-US" sz="80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Gives the commander a portfolio of legitimate ways to win and forces him to look directly at the consequence of the alternative.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2</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Decision Tree and Outcomes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40080"/>
                <a:gridCol w="2103120"/>
                <a:gridCol w="2377440"/>
                <a:gridCol w="4572000"/>
                <a:gridCol w="1371600"/>
              </a:tblGrid>
              <a:tr h="868680">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IMMEDIATE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A</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Manipulate readiness records to clear four aircraft on paper.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Squadron reports 88%. CO briefs the Wing CG to applause. Squadron tasked with an unscheduled Alert-30 mission six weeks later because they are now the highest-readiness unit on paper.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Two aircraft suffer in-flight emergencies en route. One ditches in the Pacific. Three Marines lost. Mishap investigation traces the chain back to manipulated readiness reporting. AMO court-martialed. CO relieved and processed for separation. Maintenance Chief and QA Chief receive non-judicial punishment. NAVAIR initiates fleet-wide audit.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B</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Refuse and submit 79% with no remediation plan.</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CO is furious. Captain receives a poor fitness report. CO loses face at the brief. Wing CG notes the dip but does not act on it.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Captain does not pick up Major. The squadron's parts and personnel issues remain unaddressed because no remediation plan was attached to the bad number. Six months later the readiness rate is still 79%.</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SUBOPTIMAL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574"/>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C</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Build a trend brief and elevate parts priority through the Wing AMO.</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CO is initially frustrated but recognizes the trend brief gives him a clean narrative. Wing AMO endorses the parts-priority package within seventy-two hours. MALS surge team approved.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Real readiness climbs to 87% within thirty days. CO's brief to the Wing CG is honest, well-received, and notably ends with a request for resources rather than a request for grace. Captain's fitness report cites 'integrity in readiness reporting.' Promotion to Major confirmed.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4B"/>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2 — MV-22 Readiness Manipulation</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292608"/>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2  ·  DECISION TREE</a:t>
            </a:r>
            <a:endParaRPr lang="en-US" sz="1000" dirty="0"/>
          </a:p>
        </p:txBody>
      </p:sp>
      <p:sp>
        <p:nvSpPr>
          <p:cNvPr id="4" name="Text 2"/>
          <p:cNvSpPr/>
          <p:nvPr/>
        </p:nvSpPr>
        <p:spPr>
          <a:xfrm>
            <a:off x="548640" y="548640"/>
            <a:ext cx="110642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Paths from order to outcome</a:t>
            </a:r>
            <a:endParaRPr lang="en-US" sz="1800" dirty="0"/>
          </a:p>
        </p:txBody>
      </p:sp>
      <p:sp>
        <p:nvSpPr>
          <p:cNvPr id="5" name="Shape 3"/>
          <p:cNvSpPr/>
          <p:nvPr/>
        </p:nvSpPr>
        <p:spPr>
          <a:xfrm>
            <a:off x="3337560" y="960120"/>
            <a:ext cx="5486400" cy="640080"/>
          </a:xfrm>
          <a:prstGeom prst="rect">
            <a:avLst/>
          </a:prstGeom>
          <a:solidFill>
            <a:srgbClr val="14193D"/>
          </a:solidFill>
          <a:ln w="12700">
            <a:solidFill>
              <a:srgbClr val="14193D"/>
            </a:solidFill>
            <a:prstDash val="solid"/>
          </a:ln>
          <a:effectLst>
            <a:outerShdw sx="100000" sy="100000" kx="0" ky="0" algn="bl" rotWithShape="0" blurRad="152400" dist="38100" dir="5400000">
              <a:srgbClr val="000000">
                <a:alpha val="10000"/>
              </a:srgbClr>
            </a:outerShdw>
          </a:effectLst>
        </p:spPr>
      </p:sp>
      <p:sp>
        <p:nvSpPr>
          <p:cNvPr id="6" name="Text 4"/>
          <p:cNvSpPr/>
          <p:nvPr/>
        </p:nvSpPr>
        <p:spPr>
          <a:xfrm>
            <a:off x="3474720" y="1014984"/>
            <a:ext cx="5212080" cy="182880"/>
          </a:xfrm>
          <a:prstGeom prst="rect">
            <a:avLst/>
          </a:prstGeom>
          <a:noFill/>
          <a:ln/>
        </p:spPr>
        <p:txBody>
          <a:bodyPr wrap="square" lIns="0" tIns="0" rIns="0" bIns="0" rtlCol="0" anchor="ctr"/>
          <a:lstStyle/>
          <a:p>
            <a:pPr indent="0" marL="0">
              <a:buNone/>
            </a:pPr>
            <a:r>
              <a:rPr lang="en-US" sz="850" b="1" spc="400" kern="0" dirty="0">
                <a:solidFill>
                  <a:srgbClr val="B85042"/>
                </a:solidFill>
                <a:latin typeface="Calibri" pitchFamily="34" charset="0"/>
                <a:ea typeface="Calibri" pitchFamily="34" charset="-122"/>
                <a:cs typeface="Calibri" pitchFamily="34" charset="-120"/>
              </a:rPr>
              <a:t>THE ORDER</a:t>
            </a:r>
            <a:endParaRPr lang="en-US" sz="850" dirty="0"/>
          </a:p>
        </p:txBody>
      </p:sp>
      <p:sp>
        <p:nvSpPr>
          <p:cNvPr id="7" name="Text 5"/>
          <p:cNvSpPr/>
          <p:nvPr/>
        </p:nvSpPr>
        <p:spPr>
          <a:xfrm>
            <a:off x="3474720" y="1197864"/>
            <a:ext cx="5212080" cy="36576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“LtCol Harrigan: 'Captain, get my numbers up. I don't want excuses, I want a plan on my desk by 1700. We can't be a seventy-nine percent squadron. …”</a:t>
            </a:r>
            <a:endParaRPr lang="en-US" sz="900" dirty="0"/>
          </a:p>
        </p:txBody>
      </p:sp>
      <p:sp>
        <p:nvSpPr>
          <p:cNvPr id="8" name="Shape 6"/>
          <p:cNvSpPr/>
          <p:nvPr/>
        </p:nvSpPr>
        <p:spPr>
          <a:xfrm>
            <a:off x="6080760" y="1600200"/>
            <a:ext cx="0" cy="137160"/>
          </a:xfrm>
          <a:prstGeom prst="line">
            <a:avLst/>
          </a:prstGeom>
          <a:noFill/>
          <a:ln w="15875">
            <a:solidFill>
              <a:srgbClr val="94A3B8"/>
            </a:solidFill>
            <a:prstDash val="solid"/>
          </a:ln>
        </p:spPr>
      </p:sp>
      <p:sp>
        <p:nvSpPr>
          <p:cNvPr id="9" name="Shape 7"/>
          <p:cNvSpPr/>
          <p:nvPr/>
        </p:nvSpPr>
        <p:spPr>
          <a:xfrm>
            <a:off x="2337816" y="1737360"/>
            <a:ext cx="7485888" cy="0"/>
          </a:xfrm>
          <a:prstGeom prst="line">
            <a:avLst/>
          </a:prstGeom>
          <a:noFill/>
          <a:ln w="15875">
            <a:solidFill>
              <a:srgbClr val="94A3B8"/>
            </a:solidFill>
            <a:prstDash val="solid"/>
          </a:ln>
        </p:spPr>
      </p:sp>
      <p:sp>
        <p:nvSpPr>
          <p:cNvPr id="10" name="Shape 8"/>
          <p:cNvSpPr/>
          <p:nvPr/>
        </p:nvSpPr>
        <p:spPr>
          <a:xfrm>
            <a:off x="2337816" y="1737360"/>
            <a:ext cx="0" cy="137160"/>
          </a:xfrm>
          <a:prstGeom prst="line">
            <a:avLst/>
          </a:prstGeom>
          <a:noFill/>
          <a:ln w="15875">
            <a:solidFill>
              <a:srgbClr val="94A3B8"/>
            </a:solidFill>
            <a:prstDash val="solid"/>
          </a:ln>
        </p:spPr>
      </p:sp>
      <p:sp>
        <p:nvSpPr>
          <p:cNvPr id="11" name="Shape 9"/>
          <p:cNvSpPr/>
          <p:nvPr/>
        </p:nvSpPr>
        <p:spPr>
          <a:xfrm>
            <a:off x="6080760" y="1737360"/>
            <a:ext cx="0" cy="137160"/>
          </a:xfrm>
          <a:prstGeom prst="line">
            <a:avLst/>
          </a:prstGeom>
          <a:noFill/>
          <a:ln w="15875">
            <a:solidFill>
              <a:srgbClr val="94A3B8"/>
            </a:solidFill>
            <a:prstDash val="solid"/>
          </a:ln>
        </p:spPr>
      </p:sp>
      <p:sp>
        <p:nvSpPr>
          <p:cNvPr id="12" name="Shape 10"/>
          <p:cNvSpPr/>
          <p:nvPr/>
        </p:nvSpPr>
        <p:spPr>
          <a:xfrm>
            <a:off x="9823704" y="1737360"/>
            <a:ext cx="0" cy="137160"/>
          </a:xfrm>
          <a:prstGeom prst="line">
            <a:avLst/>
          </a:prstGeom>
          <a:noFill/>
          <a:ln w="15875">
            <a:solidFill>
              <a:srgbClr val="94A3B8"/>
            </a:solidFill>
            <a:prstDash val="solid"/>
          </a:ln>
        </p:spPr>
      </p:sp>
      <p:sp>
        <p:nvSpPr>
          <p:cNvPr id="13" name="Shape 11"/>
          <p:cNvSpPr/>
          <p:nvPr/>
        </p:nvSpPr>
        <p:spPr>
          <a:xfrm>
            <a:off x="548640" y="1874520"/>
            <a:ext cx="3578352" cy="548640"/>
          </a:xfrm>
          <a:prstGeom prst="rect">
            <a:avLst/>
          </a:prstGeom>
          <a:solidFill>
            <a:srgbClr val="B85042"/>
          </a:solidFill>
          <a:ln w="12700">
            <a:solidFill>
              <a:srgbClr val="B85042"/>
            </a:solidFill>
            <a:prstDash val="solid"/>
          </a:ln>
        </p:spPr>
      </p:sp>
      <p:sp>
        <p:nvSpPr>
          <p:cNvPr id="14" name="Text 12"/>
          <p:cNvSpPr/>
          <p:nvPr/>
        </p:nvSpPr>
        <p:spPr>
          <a:xfrm>
            <a:off x="685800" y="1920240"/>
            <a:ext cx="3304032"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A</a:t>
            </a:r>
            <a:endParaRPr lang="en-US" sz="900" dirty="0"/>
          </a:p>
        </p:txBody>
      </p:sp>
      <p:sp>
        <p:nvSpPr>
          <p:cNvPr id="15" name="Text 13"/>
          <p:cNvSpPr/>
          <p:nvPr/>
        </p:nvSpPr>
        <p:spPr>
          <a:xfrm>
            <a:off x="685800" y="2112264"/>
            <a:ext cx="3304032"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Worst-case scenario realized. Lives lost, careers ended, …</a:t>
            </a:r>
            <a:endParaRPr lang="en-US" sz="1050" dirty="0"/>
          </a:p>
        </p:txBody>
      </p:sp>
      <p:sp>
        <p:nvSpPr>
          <p:cNvPr id="16" name="Shape 14"/>
          <p:cNvSpPr/>
          <p:nvPr/>
        </p:nvSpPr>
        <p:spPr>
          <a:xfrm>
            <a:off x="2337816" y="2423160"/>
            <a:ext cx="0" cy="45720"/>
          </a:xfrm>
          <a:prstGeom prst="line">
            <a:avLst/>
          </a:prstGeom>
          <a:noFill/>
          <a:ln w="12700">
            <a:solidFill>
              <a:srgbClr val="94A3B8"/>
            </a:solidFill>
            <a:prstDash val="solid"/>
          </a:ln>
        </p:spPr>
      </p:sp>
      <p:sp>
        <p:nvSpPr>
          <p:cNvPr id="17" name="Shape 15"/>
          <p:cNvSpPr/>
          <p:nvPr/>
        </p:nvSpPr>
        <p:spPr>
          <a:xfrm>
            <a:off x="548640" y="2468880"/>
            <a:ext cx="3578352" cy="457200"/>
          </a:xfrm>
          <a:prstGeom prst="rect">
            <a:avLst/>
          </a:prstGeom>
          <a:solidFill>
            <a:srgbClr val="F4F1EC"/>
          </a:solidFill>
          <a:ln w="6350">
            <a:solidFill>
              <a:srgbClr val="E2E8F0"/>
            </a:solidFill>
            <a:prstDash val="solid"/>
          </a:ln>
        </p:spPr>
      </p:sp>
      <p:sp>
        <p:nvSpPr>
          <p:cNvPr id="18" name="Shape 16"/>
          <p:cNvSpPr/>
          <p:nvPr/>
        </p:nvSpPr>
        <p:spPr>
          <a:xfrm>
            <a:off x="548640" y="2468880"/>
            <a:ext cx="54864" cy="457200"/>
          </a:xfrm>
          <a:prstGeom prst="rect">
            <a:avLst/>
          </a:prstGeom>
          <a:solidFill>
            <a:srgbClr val="B85042"/>
          </a:solidFill>
          <a:ln w="12700">
            <a:solidFill>
              <a:srgbClr val="B85042"/>
            </a:solidFill>
            <a:prstDash val="solid"/>
          </a:ln>
        </p:spPr>
      </p:sp>
      <p:sp>
        <p:nvSpPr>
          <p:cNvPr id="19" name="Text 17"/>
          <p:cNvSpPr/>
          <p:nvPr/>
        </p:nvSpPr>
        <p:spPr>
          <a:xfrm>
            <a:off x="713232" y="2523744"/>
            <a:ext cx="3304032"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20" name="Text 18"/>
          <p:cNvSpPr/>
          <p:nvPr/>
        </p:nvSpPr>
        <p:spPr>
          <a:xfrm>
            <a:off x="713232" y="2688336"/>
            <a:ext cx="3304032"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Loyalist (GySgt Reyes) or Operator (MSgt Klein)</a:t>
            </a:r>
            <a:endParaRPr lang="en-US" sz="950" dirty="0"/>
          </a:p>
        </p:txBody>
      </p:sp>
      <p:sp>
        <p:nvSpPr>
          <p:cNvPr id="21" name="Shape 19"/>
          <p:cNvSpPr/>
          <p:nvPr/>
        </p:nvSpPr>
        <p:spPr>
          <a:xfrm>
            <a:off x="548640" y="2971800"/>
            <a:ext cx="3578352" cy="548640"/>
          </a:xfrm>
          <a:prstGeom prst="rect">
            <a:avLst/>
          </a:prstGeom>
          <a:solidFill>
            <a:srgbClr val="F4F1EC"/>
          </a:solidFill>
          <a:ln w="6350">
            <a:solidFill>
              <a:srgbClr val="E2E8F0"/>
            </a:solidFill>
            <a:prstDash val="solid"/>
          </a:ln>
        </p:spPr>
      </p:sp>
      <p:sp>
        <p:nvSpPr>
          <p:cNvPr id="22" name="Shape 20"/>
          <p:cNvSpPr/>
          <p:nvPr/>
        </p:nvSpPr>
        <p:spPr>
          <a:xfrm>
            <a:off x="548640" y="2971800"/>
            <a:ext cx="54864" cy="548640"/>
          </a:xfrm>
          <a:prstGeom prst="rect">
            <a:avLst/>
          </a:prstGeom>
          <a:solidFill>
            <a:srgbClr val="B85042"/>
          </a:solidFill>
          <a:ln w="12700">
            <a:solidFill>
              <a:srgbClr val="B85042"/>
            </a:solidFill>
            <a:prstDash val="solid"/>
          </a:ln>
        </p:spPr>
      </p:sp>
      <p:sp>
        <p:nvSpPr>
          <p:cNvPr id="23" name="Text 21"/>
          <p:cNvSpPr/>
          <p:nvPr/>
        </p:nvSpPr>
        <p:spPr>
          <a:xfrm>
            <a:off x="713232" y="3026664"/>
            <a:ext cx="3304032"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24" name="Text 22"/>
          <p:cNvSpPr/>
          <p:nvPr/>
        </p:nvSpPr>
        <p:spPr>
          <a:xfrm>
            <a:off x="713232" y="3191256"/>
            <a:ext cx="3304032"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Manipulate readiness records to clear four aircraft on paper.</a:t>
            </a:r>
            <a:endParaRPr lang="en-US" sz="900" dirty="0"/>
          </a:p>
        </p:txBody>
      </p:sp>
      <p:sp>
        <p:nvSpPr>
          <p:cNvPr id="25" name="Shape 23"/>
          <p:cNvSpPr/>
          <p:nvPr/>
        </p:nvSpPr>
        <p:spPr>
          <a:xfrm>
            <a:off x="548640" y="3566160"/>
            <a:ext cx="3578352" cy="685800"/>
          </a:xfrm>
          <a:prstGeom prst="rect">
            <a:avLst/>
          </a:prstGeom>
          <a:solidFill>
            <a:srgbClr val="F4F1EC"/>
          </a:solidFill>
          <a:ln w="6350">
            <a:solidFill>
              <a:srgbClr val="E2E8F0"/>
            </a:solidFill>
            <a:prstDash val="solid"/>
          </a:ln>
        </p:spPr>
      </p:sp>
      <p:sp>
        <p:nvSpPr>
          <p:cNvPr id="26" name="Shape 24"/>
          <p:cNvSpPr/>
          <p:nvPr/>
        </p:nvSpPr>
        <p:spPr>
          <a:xfrm>
            <a:off x="548640" y="3566160"/>
            <a:ext cx="54864" cy="685800"/>
          </a:xfrm>
          <a:prstGeom prst="rect">
            <a:avLst/>
          </a:prstGeom>
          <a:solidFill>
            <a:srgbClr val="B85042"/>
          </a:solidFill>
          <a:ln w="12700">
            <a:solidFill>
              <a:srgbClr val="B85042"/>
            </a:solidFill>
            <a:prstDash val="solid"/>
          </a:ln>
        </p:spPr>
      </p:sp>
      <p:sp>
        <p:nvSpPr>
          <p:cNvPr id="27" name="Text 25"/>
          <p:cNvSpPr/>
          <p:nvPr/>
        </p:nvSpPr>
        <p:spPr>
          <a:xfrm>
            <a:off x="713232" y="3621024"/>
            <a:ext cx="3304032"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28" name="Text 26"/>
          <p:cNvSpPr/>
          <p:nvPr/>
        </p:nvSpPr>
        <p:spPr>
          <a:xfrm>
            <a:off x="713232" y="3785616"/>
            <a:ext cx="3304032"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Squadron reports 88%. CO briefs the Wing CG to applause. Squadron tasked with an unscheduled Alert-30 mission six weeks later because they are now the highest-readiness unit on paper.</a:t>
            </a:r>
            <a:endParaRPr lang="en-US" sz="850" dirty="0"/>
          </a:p>
        </p:txBody>
      </p:sp>
      <p:sp>
        <p:nvSpPr>
          <p:cNvPr id="29" name="Shape 27"/>
          <p:cNvSpPr/>
          <p:nvPr/>
        </p:nvSpPr>
        <p:spPr>
          <a:xfrm>
            <a:off x="548640" y="4297680"/>
            <a:ext cx="3578352" cy="1417320"/>
          </a:xfrm>
          <a:prstGeom prst="rect">
            <a:avLst/>
          </a:prstGeom>
          <a:solidFill>
            <a:srgbClr val="F4F1EC"/>
          </a:solidFill>
          <a:ln w="6350">
            <a:solidFill>
              <a:srgbClr val="E2E8F0"/>
            </a:solidFill>
            <a:prstDash val="solid"/>
          </a:ln>
        </p:spPr>
      </p:sp>
      <p:sp>
        <p:nvSpPr>
          <p:cNvPr id="30" name="Shape 28"/>
          <p:cNvSpPr/>
          <p:nvPr/>
        </p:nvSpPr>
        <p:spPr>
          <a:xfrm>
            <a:off x="548640" y="4297680"/>
            <a:ext cx="54864" cy="1417320"/>
          </a:xfrm>
          <a:prstGeom prst="rect">
            <a:avLst/>
          </a:prstGeom>
          <a:solidFill>
            <a:srgbClr val="B85042"/>
          </a:solidFill>
          <a:ln w="12700">
            <a:solidFill>
              <a:srgbClr val="B85042"/>
            </a:solidFill>
            <a:prstDash val="solid"/>
          </a:ln>
        </p:spPr>
      </p:sp>
      <p:sp>
        <p:nvSpPr>
          <p:cNvPr id="31" name="Text 29"/>
          <p:cNvSpPr/>
          <p:nvPr/>
        </p:nvSpPr>
        <p:spPr>
          <a:xfrm>
            <a:off x="713232" y="4352544"/>
            <a:ext cx="3304032"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32" name="Text 30"/>
          <p:cNvSpPr/>
          <p:nvPr/>
        </p:nvSpPr>
        <p:spPr>
          <a:xfrm>
            <a:off x="713232" y="4517136"/>
            <a:ext cx="3304032"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Two aircraft suffer in-flight emergencies en route. One ditches in the Pacific. Three Marines lost. Mishap investigation traces the chain back to manipulated readiness reporting. AMO court-martialed. CO relieved and processed for separation. Maintenance Chief and QA Chief receive non-judicial punishment. NAVAIR initiates fleet-wide audit.</a:t>
            </a:r>
            <a:endParaRPr lang="en-US" sz="800" dirty="0"/>
          </a:p>
        </p:txBody>
      </p:sp>
      <p:sp>
        <p:nvSpPr>
          <p:cNvPr id="33" name="Shape 31"/>
          <p:cNvSpPr/>
          <p:nvPr/>
        </p:nvSpPr>
        <p:spPr>
          <a:xfrm>
            <a:off x="2337816" y="2926080"/>
            <a:ext cx="0" cy="45720"/>
          </a:xfrm>
          <a:prstGeom prst="line">
            <a:avLst/>
          </a:prstGeom>
          <a:noFill/>
          <a:ln w="12700">
            <a:solidFill>
              <a:srgbClr val="94A3B8"/>
            </a:solidFill>
            <a:prstDash val="solid"/>
          </a:ln>
        </p:spPr>
      </p:sp>
      <p:sp>
        <p:nvSpPr>
          <p:cNvPr id="34" name="Shape 32"/>
          <p:cNvSpPr/>
          <p:nvPr/>
        </p:nvSpPr>
        <p:spPr>
          <a:xfrm>
            <a:off x="2337816" y="3520440"/>
            <a:ext cx="0" cy="45720"/>
          </a:xfrm>
          <a:prstGeom prst="line">
            <a:avLst/>
          </a:prstGeom>
          <a:noFill/>
          <a:ln w="12700">
            <a:solidFill>
              <a:srgbClr val="94A3B8"/>
            </a:solidFill>
            <a:prstDash val="solid"/>
          </a:ln>
        </p:spPr>
      </p:sp>
      <p:sp>
        <p:nvSpPr>
          <p:cNvPr id="35" name="Shape 33"/>
          <p:cNvSpPr/>
          <p:nvPr/>
        </p:nvSpPr>
        <p:spPr>
          <a:xfrm>
            <a:off x="2337816" y="4251960"/>
            <a:ext cx="0" cy="45720"/>
          </a:xfrm>
          <a:prstGeom prst="line">
            <a:avLst/>
          </a:prstGeom>
          <a:noFill/>
          <a:ln w="12700">
            <a:solidFill>
              <a:srgbClr val="94A3B8"/>
            </a:solidFill>
            <a:prstDash val="solid"/>
          </a:ln>
        </p:spPr>
      </p:sp>
      <p:sp>
        <p:nvSpPr>
          <p:cNvPr id="36" name="Shape 34"/>
          <p:cNvSpPr/>
          <p:nvPr/>
        </p:nvSpPr>
        <p:spPr>
          <a:xfrm>
            <a:off x="2337816" y="5715000"/>
            <a:ext cx="0" cy="45720"/>
          </a:xfrm>
          <a:prstGeom prst="line">
            <a:avLst/>
          </a:prstGeom>
          <a:noFill/>
          <a:ln w="12700">
            <a:solidFill>
              <a:srgbClr val="94A3B8"/>
            </a:solidFill>
            <a:prstDash val="solid"/>
          </a:ln>
        </p:spPr>
      </p:sp>
      <p:sp>
        <p:nvSpPr>
          <p:cNvPr id="37" name="Shape 35"/>
          <p:cNvSpPr/>
          <p:nvPr/>
        </p:nvSpPr>
        <p:spPr>
          <a:xfrm>
            <a:off x="548640" y="5760720"/>
            <a:ext cx="3578352" cy="411480"/>
          </a:xfrm>
          <a:prstGeom prst="rect">
            <a:avLst/>
          </a:prstGeom>
          <a:solidFill>
            <a:srgbClr val="B85042"/>
          </a:solidFill>
          <a:ln w="12700">
            <a:solidFill>
              <a:srgbClr val="B85042"/>
            </a:solidFill>
            <a:prstDash val="solid"/>
          </a:ln>
        </p:spPr>
      </p:sp>
      <p:sp>
        <p:nvSpPr>
          <p:cNvPr id="38" name="Text 36"/>
          <p:cNvSpPr/>
          <p:nvPr/>
        </p:nvSpPr>
        <p:spPr>
          <a:xfrm>
            <a:off x="685800" y="5760720"/>
            <a:ext cx="3304032"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a:t>
            </a:r>
            <a:endParaRPr lang="en-US" sz="1100" dirty="0"/>
          </a:p>
        </p:txBody>
      </p:sp>
      <p:sp>
        <p:nvSpPr>
          <p:cNvPr id="39" name="Shape 37"/>
          <p:cNvSpPr/>
          <p:nvPr/>
        </p:nvSpPr>
        <p:spPr>
          <a:xfrm>
            <a:off x="4291584" y="1874520"/>
            <a:ext cx="3578352" cy="548640"/>
          </a:xfrm>
          <a:prstGeom prst="rect">
            <a:avLst/>
          </a:prstGeom>
          <a:solidFill>
            <a:srgbClr val="D4A574"/>
          </a:solidFill>
          <a:ln w="12700">
            <a:solidFill>
              <a:srgbClr val="D4A574"/>
            </a:solidFill>
            <a:prstDash val="solid"/>
          </a:ln>
        </p:spPr>
      </p:sp>
      <p:sp>
        <p:nvSpPr>
          <p:cNvPr id="40" name="Text 38"/>
          <p:cNvSpPr/>
          <p:nvPr/>
        </p:nvSpPr>
        <p:spPr>
          <a:xfrm>
            <a:off x="4428744" y="1920240"/>
            <a:ext cx="3304032"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B</a:t>
            </a:r>
            <a:endParaRPr lang="en-US" sz="900" dirty="0"/>
          </a:p>
        </p:txBody>
      </p:sp>
      <p:sp>
        <p:nvSpPr>
          <p:cNvPr id="41" name="Text 39"/>
          <p:cNvSpPr/>
          <p:nvPr/>
        </p:nvSpPr>
        <p:spPr>
          <a:xfrm>
            <a:off x="4428744" y="2112264"/>
            <a:ext cx="3304032"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Ethically intact, mission unimproved, career damaged.</a:t>
            </a:r>
            <a:endParaRPr lang="en-US" sz="1050" dirty="0"/>
          </a:p>
        </p:txBody>
      </p:sp>
      <p:sp>
        <p:nvSpPr>
          <p:cNvPr id="42" name="Shape 40"/>
          <p:cNvSpPr/>
          <p:nvPr/>
        </p:nvSpPr>
        <p:spPr>
          <a:xfrm>
            <a:off x="6080760" y="2423160"/>
            <a:ext cx="0" cy="45720"/>
          </a:xfrm>
          <a:prstGeom prst="line">
            <a:avLst/>
          </a:prstGeom>
          <a:noFill/>
          <a:ln w="12700">
            <a:solidFill>
              <a:srgbClr val="94A3B8"/>
            </a:solidFill>
            <a:prstDash val="solid"/>
          </a:ln>
        </p:spPr>
      </p:sp>
      <p:sp>
        <p:nvSpPr>
          <p:cNvPr id="43" name="Shape 41"/>
          <p:cNvSpPr/>
          <p:nvPr/>
        </p:nvSpPr>
        <p:spPr>
          <a:xfrm>
            <a:off x="4291584" y="2468880"/>
            <a:ext cx="3578352" cy="457200"/>
          </a:xfrm>
          <a:prstGeom prst="rect">
            <a:avLst/>
          </a:prstGeom>
          <a:solidFill>
            <a:srgbClr val="F4F1EC"/>
          </a:solidFill>
          <a:ln w="6350">
            <a:solidFill>
              <a:srgbClr val="E2E8F0"/>
            </a:solidFill>
            <a:prstDash val="solid"/>
          </a:ln>
        </p:spPr>
      </p:sp>
      <p:sp>
        <p:nvSpPr>
          <p:cNvPr id="44" name="Shape 42"/>
          <p:cNvSpPr/>
          <p:nvPr/>
        </p:nvSpPr>
        <p:spPr>
          <a:xfrm>
            <a:off x="4291584" y="2468880"/>
            <a:ext cx="54864" cy="457200"/>
          </a:xfrm>
          <a:prstGeom prst="rect">
            <a:avLst/>
          </a:prstGeom>
          <a:solidFill>
            <a:srgbClr val="D4A574"/>
          </a:solidFill>
          <a:ln w="12700">
            <a:solidFill>
              <a:srgbClr val="D4A574"/>
            </a:solidFill>
            <a:prstDash val="solid"/>
          </a:ln>
        </p:spPr>
      </p:sp>
      <p:sp>
        <p:nvSpPr>
          <p:cNvPr id="45" name="Text 43"/>
          <p:cNvSpPr/>
          <p:nvPr/>
        </p:nvSpPr>
        <p:spPr>
          <a:xfrm>
            <a:off x="4456176" y="2523744"/>
            <a:ext cx="3304032"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ENGAGES</a:t>
            </a:r>
            <a:endParaRPr lang="en-US" sz="750" dirty="0"/>
          </a:p>
        </p:txBody>
      </p:sp>
      <p:sp>
        <p:nvSpPr>
          <p:cNvPr id="46" name="Text 44"/>
          <p:cNvSpPr/>
          <p:nvPr/>
        </p:nvSpPr>
        <p:spPr>
          <a:xfrm>
            <a:off x="4456176" y="2688336"/>
            <a:ext cx="3304032"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Stickler only (1stLt Dawson)</a:t>
            </a:r>
            <a:endParaRPr lang="en-US" sz="950" dirty="0"/>
          </a:p>
        </p:txBody>
      </p:sp>
      <p:sp>
        <p:nvSpPr>
          <p:cNvPr id="47" name="Shape 45"/>
          <p:cNvSpPr/>
          <p:nvPr/>
        </p:nvSpPr>
        <p:spPr>
          <a:xfrm>
            <a:off x="4291584" y="2971800"/>
            <a:ext cx="3578352" cy="548640"/>
          </a:xfrm>
          <a:prstGeom prst="rect">
            <a:avLst/>
          </a:prstGeom>
          <a:solidFill>
            <a:srgbClr val="F4F1EC"/>
          </a:solidFill>
          <a:ln w="6350">
            <a:solidFill>
              <a:srgbClr val="E2E8F0"/>
            </a:solidFill>
            <a:prstDash val="solid"/>
          </a:ln>
        </p:spPr>
      </p:sp>
      <p:sp>
        <p:nvSpPr>
          <p:cNvPr id="48" name="Shape 46"/>
          <p:cNvSpPr/>
          <p:nvPr/>
        </p:nvSpPr>
        <p:spPr>
          <a:xfrm>
            <a:off x="4291584" y="2971800"/>
            <a:ext cx="54864" cy="548640"/>
          </a:xfrm>
          <a:prstGeom prst="rect">
            <a:avLst/>
          </a:prstGeom>
          <a:solidFill>
            <a:srgbClr val="D4A574"/>
          </a:solidFill>
          <a:ln w="12700">
            <a:solidFill>
              <a:srgbClr val="D4A574"/>
            </a:solidFill>
            <a:prstDash val="solid"/>
          </a:ln>
        </p:spPr>
      </p:sp>
      <p:sp>
        <p:nvSpPr>
          <p:cNvPr id="49" name="Text 47"/>
          <p:cNvSpPr/>
          <p:nvPr/>
        </p:nvSpPr>
        <p:spPr>
          <a:xfrm>
            <a:off x="4456176" y="3026664"/>
            <a:ext cx="3304032"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CHOICE / ACTION</a:t>
            </a:r>
            <a:endParaRPr lang="en-US" sz="750" dirty="0"/>
          </a:p>
        </p:txBody>
      </p:sp>
      <p:sp>
        <p:nvSpPr>
          <p:cNvPr id="50" name="Text 48"/>
          <p:cNvSpPr/>
          <p:nvPr/>
        </p:nvSpPr>
        <p:spPr>
          <a:xfrm>
            <a:off x="4456176" y="3191256"/>
            <a:ext cx="3304032"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Refuse and submit 79% with no remediation plan.</a:t>
            </a:r>
            <a:endParaRPr lang="en-US" sz="900" dirty="0"/>
          </a:p>
        </p:txBody>
      </p:sp>
      <p:sp>
        <p:nvSpPr>
          <p:cNvPr id="51" name="Shape 49"/>
          <p:cNvSpPr/>
          <p:nvPr/>
        </p:nvSpPr>
        <p:spPr>
          <a:xfrm>
            <a:off x="4291584" y="3566160"/>
            <a:ext cx="3578352" cy="685800"/>
          </a:xfrm>
          <a:prstGeom prst="rect">
            <a:avLst/>
          </a:prstGeom>
          <a:solidFill>
            <a:srgbClr val="F4F1EC"/>
          </a:solidFill>
          <a:ln w="6350">
            <a:solidFill>
              <a:srgbClr val="E2E8F0"/>
            </a:solidFill>
            <a:prstDash val="solid"/>
          </a:ln>
        </p:spPr>
      </p:sp>
      <p:sp>
        <p:nvSpPr>
          <p:cNvPr id="52" name="Shape 50"/>
          <p:cNvSpPr/>
          <p:nvPr/>
        </p:nvSpPr>
        <p:spPr>
          <a:xfrm>
            <a:off x="4291584" y="3566160"/>
            <a:ext cx="54864" cy="685800"/>
          </a:xfrm>
          <a:prstGeom prst="rect">
            <a:avLst/>
          </a:prstGeom>
          <a:solidFill>
            <a:srgbClr val="D4A574"/>
          </a:solidFill>
          <a:ln w="12700">
            <a:solidFill>
              <a:srgbClr val="D4A574"/>
            </a:solidFill>
            <a:prstDash val="solid"/>
          </a:ln>
        </p:spPr>
      </p:sp>
      <p:sp>
        <p:nvSpPr>
          <p:cNvPr id="53" name="Text 51"/>
          <p:cNvSpPr/>
          <p:nvPr/>
        </p:nvSpPr>
        <p:spPr>
          <a:xfrm>
            <a:off x="4456176" y="3621024"/>
            <a:ext cx="3304032"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T+0  IMMEDIATE OUTCOME</a:t>
            </a:r>
            <a:endParaRPr lang="en-US" sz="750" dirty="0"/>
          </a:p>
        </p:txBody>
      </p:sp>
      <p:sp>
        <p:nvSpPr>
          <p:cNvPr id="54" name="Text 52"/>
          <p:cNvSpPr/>
          <p:nvPr/>
        </p:nvSpPr>
        <p:spPr>
          <a:xfrm>
            <a:off x="4456176" y="3785616"/>
            <a:ext cx="3304032"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CO is furious. Captain receives a poor fitness report. CO loses face at the brief. Wing CG notes the dip but does not act on it.</a:t>
            </a:r>
            <a:endParaRPr lang="en-US" sz="850" dirty="0"/>
          </a:p>
        </p:txBody>
      </p:sp>
      <p:sp>
        <p:nvSpPr>
          <p:cNvPr id="55" name="Shape 53"/>
          <p:cNvSpPr/>
          <p:nvPr/>
        </p:nvSpPr>
        <p:spPr>
          <a:xfrm>
            <a:off x="4291584" y="4297680"/>
            <a:ext cx="3578352" cy="1417320"/>
          </a:xfrm>
          <a:prstGeom prst="rect">
            <a:avLst/>
          </a:prstGeom>
          <a:solidFill>
            <a:srgbClr val="F4F1EC"/>
          </a:solidFill>
          <a:ln w="6350">
            <a:solidFill>
              <a:srgbClr val="E2E8F0"/>
            </a:solidFill>
            <a:prstDash val="solid"/>
          </a:ln>
        </p:spPr>
      </p:sp>
      <p:sp>
        <p:nvSpPr>
          <p:cNvPr id="56" name="Shape 54"/>
          <p:cNvSpPr/>
          <p:nvPr/>
        </p:nvSpPr>
        <p:spPr>
          <a:xfrm>
            <a:off x="4291584" y="4297680"/>
            <a:ext cx="54864" cy="1417320"/>
          </a:xfrm>
          <a:prstGeom prst="rect">
            <a:avLst/>
          </a:prstGeom>
          <a:solidFill>
            <a:srgbClr val="D4A574"/>
          </a:solidFill>
          <a:ln w="12700">
            <a:solidFill>
              <a:srgbClr val="D4A574"/>
            </a:solidFill>
            <a:prstDash val="solid"/>
          </a:ln>
        </p:spPr>
      </p:sp>
      <p:sp>
        <p:nvSpPr>
          <p:cNvPr id="57" name="Text 55"/>
          <p:cNvSpPr/>
          <p:nvPr/>
        </p:nvSpPr>
        <p:spPr>
          <a:xfrm>
            <a:off x="4456176" y="4352544"/>
            <a:ext cx="3304032"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T+30 TO T+1YR  DOWNSTREAM</a:t>
            </a:r>
            <a:endParaRPr lang="en-US" sz="750" dirty="0"/>
          </a:p>
        </p:txBody>
      </p:sp>
      <p:sp>
        <p:nvSpPr>
          <p:cNvPr id="58" name="Text 56"/>
          <p:cNvSpPr/>
          <p:nvPr/>
        </p:nvSpPr>
        <p:spPr>
          <a:xfrm>
            <a:off x="4456176" y="4517136"/>
            <a:ext cx="3304032"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Captain does not pick up Major. The squadron's parts and personnel issues remain unaddressed because no remediation plan was attached to the bad number. Six months later the readiness rate is still 79%.</a:t>
            </a:r>
            <a:endParaRPr lang="en-US" sz="800" dirty="0"/>
          </a:p>
        </p:txBody>
      </p:sp>
      <p:sp>
        <p:nvSpPr>
          <p:cNvPr id="59" name="Shape 57"/>
          <p:cNvSpPr/>
          <p:nvPr/>
        </p:nvSpPr>
        <p:spPr>
          <a:xfrm>
            <a:off x="6080760" y="2926080"/>
            <a:ext cx="0" cy="45720"/>
          </a:xfrm>
          <a:prstGeom prst="line">
            <a:avLst/>
          </a:prstGeom>
          <a:noFill/>
          <a:ln w="12700">
            <a:solidFill>
              <a:srgbClr val="94A3B8"/>
            </a:solidFill>
            <a:prstDash val="solid"/>
          </a:ln>
        </p:spPr>
      </p:sp>
      <p:sp>
        <p:nvSpPr>
          <p:cNvPr id="60" name="Shape 58"/>
          <p:cNvSpPr/>
          <p:nvPr/>
        </p:nvSpPr>
        <p:spPr>
          <a:xfrm>
            <a:off x="6080760" y="3520440"/>
            <a:ext cx="0" cy="45720"/>
          </a:xfrm>
          <a:prstGeom prst="line">
            <a:avLst/>
          </a:prstGeom>
          <a:noFill/>
          <a:ln w="12700">
            <a:solidFill>
              <a:srgbClr val="94A3B8"/>
            </a:solidFill>
            <a:prstDash val="solid"/>
          </a:ln>
        </p:spPr>
      </p:sp>
      <p:sp>
        <p:nvSpPr>
          <p:cNvPr id="61" name="Shape 59"/>
          <p:cNvSpPr/>
          <p:nvPr/>
        </p:nvSpPr>
        <p:spPr>
          <a:xfrm>
            <a:off x="6080760" y="4251960"/>
            <a:ext cx="0" cy="45720"/>
          </a:xfrm>
          <a:prstGeom prst="line">
            <a:avLst/>
          </a:prstGeom>
          <a:noFill/>
          <a:ln w="12700">
            <a:solidFill>
              <a:srgbClr val="94A3B8"/>
            </a:solidFill>
            <a:prstDash val="solid"/>
          </a:ln>
        </p:spPr>
      </p:sp>
      <p:sp>
        <p:nvSpPr>
          <p:cNvPr id="62" name="Shape 60"/>
          <p:cNvSpPr/>
          <p:nvPr/>
        </p:nvSpPr>
        <p:spPr>
          <a:xfrm>
            <a:off x="6080760" y="5715000"/>
            <a:ext cx="0" cy="45720"/>
          </a:xfrm>
          <a:prstGeom prst="line">
            <a:avLst/>
          </a:prstGeom>
          <a:noFill/>
          <a:ln w="12700">
            <a:solidFill>
              <a:srgbClr val="94A3B8"/>
            </a:solidFill>
            <a:prstDash val="solid"/>
          </a:ln>
        </p:spPr>
      </p:sp>
      <p:sp>
        <p:nvSpPr>
          <p:cNvPr id="63" name="Shape 61"/>
          <p:cNvSpPr/>
          <p:nvPr/>
        </p:nvSpPr>
        <p:spPr>
          <a:xfrm>
            <a:off x="4291584" y="5760720"/>
            <a:ext cx="3578352" cy="411480"/>
          </a:xfrm>
          <a:prstGeom prst="rect">
            <a:avLst/>
          </a:prstGeom>
          <a:solidFill>
            <a:srgbClr val="D4A574"/>
          </a:solidFill>
          <a:ln w="12700">
            <a:solidFill>
              <a:srgbClr val="D4A574"/>
            </a:solidFill>
            <a:prstDash val="solid"/>
          </a:ln>
        </p:spPr>
      </p:sp>
      <p:sp>
        <p:nvSpPr>
          <p:cNvPr id="64" name="Text 62"/>
          <p:cNvSpPr/>
          <p:nvPr/>
        </p:nvSpPr>
        <p:spPr>
          <a:xfrm>
            <a:off x="4428744" y="5760720"/>
            <a:ext cx="3304032"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SUBOPTIMAL</a:t>
            </a:r>
            <a:endParaRPr lang="en-US" sz="1100" dirty="0"/>
          </a:p>
        </p:txBody>
      </p:sp>
      <p:sp>
        <p:nvSpPr>
          <p:cNvPr id="65" name="Shape 63"/>
          <p:cNvSpPr/>
          <p:nvPr/>
        </p:nvSpPr>
        <p:spPr>
          <a:xfrm>
            <a:off x="8034528" y="1874520"/>
            <a:ext cx="3578352" cy="548640"/>
          </a:xfrm>
          <a:prstGeom prst="rect">
            <a:avLst/>
          </a:prstGeom>
          <a:solidFill>
            <a:srgbClr val="2C7A4B"/>
          </a:solidFill>
          <a:ln w="12700">
            <a:solidFill>
              <a:srgbClr val="2C7A4B"/>
            </a:solidFill>
            <a:prstDash val="solid"/>
          </a:ln>
        </p:spPr>
      </p:sp>
      <p:sp>
        <p:nvSpPr>
          <p:cNvPr id="66" name="Text 64"/>
          <p:cNvSpPr/>
          <p:nvPr/>
        </p:nvSpPr>
        <p:spPr>
          <a:xfrm>
            <a:off x="8171688" y="1920240"/>
            <a:ext cx="3304032"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C</a:t>
            </a:r>
            <a:endParaRPr lang="en-US" sz="900" dirty="0"/>
          </a:p>
        </p:txBody>
      </p:sp>
      <p:sp>
        <p:nvSpPr>
          <p:cNvPr id="67" name="Text 65"/>
          <p:cNvSpPr/>
          <p:nvPr/>
        </p:nvSpPr>
        <p:spPr>
          <a:xfrm>
            <a:off x="8171688" y="2112264"/>
            <a:ext cx="3304032"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Honest reporting, real improvement, career and institution …</a:t>
            </a:r>
            <a:endParaRPr lang="en-US" sz="1050" dirty="0"/>
          </a:p>
        </p:txBody>
      </p:sp>
      <p:sp>
        <p:nvSpPr>
          <p:cNvPr id="68" name="Shape 66"/>
          <p:cNvSpPr/>
          <p:nvPr/>
        </p:nvSpPr>
        <p:spPr>
          <a:xfrm>
            <a:off x="9823704" y="2423160"/>
            <a:ext cx="0" cy="45720"/>
          </a:xfrm>
          <a:prstGeom prst="line">
            <a:avLst/>
          </a:prstGeom>
          <a:noFill/>
          <a:ln w="12700">
            <a:solidFill>
              <a:srgbClr val="94A3B8"/>
            </a:solidFill>
            <a:prstDash val="solid"/>
          </a:ln>
        </p:spPr>
      </p:sp>
      <p:sp>
        <p:nvSpPr>
          <p:cNvPr id="69" name="Shape 67"/>
          <p:cNvSpPr/>
          <p:nvPr/>
        </p:nvSpPr>
        <p:spPr>
          <a:xfrm>
            <a:off x="8034528" y="2468880"/>
            <a:ext cx="3578352" cy="457200"/>
          </a:xfrm>
          <a:prstGeom prst="rect">
            <a:avLst/>
          </a:prstGeom>
          <a:solidFill>
            <a:srgbClr val="F4F1EC"/>
          </a:solidFill>
          <a:ln w="6350">
            <a:solidFill>
              <a:srgbClr val="E2E8F0"/>
            </a:solidFill>
            <a:prstDash val="solid"/>
          </a:ln>
        </p:spPr>
      </p:sp>
      <p:sp>
        <p:nvSpPr>
          <p:cNvPr id="70" name="Shape 68"/>
          <p:cNvSpPr/>
          <p:nvPr/>
        </p:nvSpPr>
        <p:spPr>
          <a:xfrm>
            <a:off x="8034528" y="2468880"/>
            <a:ext cx="54864" cy="457200"/>
          </a:xfrm>
          <a:prstGeom prst="rect">
            <a:avLst/>
          </a:prstGeom>
          <a:solidFill>
            <a:srgbClr val="2C7A4B"/>
          </a:solidFill>
          <a:ln w="12700">
            <a:solidFill>
              <a:srgbClr val="2C7A4B"/>
            </a:solidFill>
            <a:prstDash val="solid"/>
          </a:ln>
        </p:spPr>
      </p:sp>
      <p:sp>
        <p:nvSpPr>
          <p:cNvPr id="71" name="Text 69"/>
          <p:cNvSpPr/>
          <p:nvPr/>
        </p:nvSpPr>
        <p:spPr>
          <a:xfrm>
            <a:off x="8199120" y="2523744"/>
            <a:ext cx="3304032"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ENGAGES</a:t>
            </a:r>
            <a:endParaRPr lang="en-US" sz="750" dirty="0"/>
          </a:p>
        </p:txBody>
      </p:sp>
      <p:sp>
        <p:nvSpPr>
          <p:cNvPr id="72" name="Text 70"/>
          <p:cNvSpPr/>
          <p:nvPr/>
        </p:nvSpPr>
        <p:spPr>
          <a:xfrm>
            <a:off x="8199120" y="2688336"/>
            <a:ext cx="3304032"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Partner (GySgt Tomas)</a:t>
            </a:r>
            <a:endParaRPr lang="en-US" sz="950" dirty="0"/>
          </a:p>
        </p:txBody>
      </p:sp>
      <p:sp>
        <p:nvSpPr>
          <p:cNvPr id="73" name="Shape 71"/>
          <p:cNvSpPr/>
          <p:nvPr/>
        </p:nvSpPr>
        <p:spPr>
          <a:xfrm>
            <a:off x="8034528" y="2971800"/>
            <a:ext cx="3578352" cy="548640"/>
          </a:xfrm>
          <a:prstGeom prst="rect">
            <a:avLst/>
          </a:prstGeom>
          <a:solidFill>
            <a:srgbClr val="F4F1EC"/>
          </a:solidFill>
          <a:ln w="6350">
            <a:solidFill>
              <a:srgbClr val="E2E8F0"/>
            </a:solidFill>
            <a:prstDash val="solid"/>
          </a:ln>
        </p:spPr>
      </p:sp>
      <p:sp>
        <p:nvSpPr>
          <p:cNvPr id="74" name="Shape 72"/>
          <p:cNvSpPr/>
          <p:nvPr/>
        </p:nvSpPr>
        <p:spPr>
          <a:xfrm>
            <a:off x="8034528" y="2971800"/>
            <a:ext cx="54864" cy="548640"/>
          </a:xfrm>
          <a:prstGeom prst="rect">
            <a:avLst/>
          </a:prstGeom>
          <a:solidFill>
            <a:srgbClr val="2C7A4B"/>
          </a:solidFill>
          <a:ln w="12700">
            <a:solidFill>
              <a:srgbClr val="2C7A4B"/>
            </a:solidFill>
            <a:prstDash val="solid"/>
          </a:ln>
        </p:spPr>
      </p:sp>
      <p:sp>
        <p:nvSpPr>
          <p:cNvPr id="75" name="Text 73"/>
          <p:cNvSpPr/>
          <p:nvPr/>
        </p:nvSpPr>
        <p:spPr>
          <a:xfrm>
            <a:off x="8199120" y="3026664"/>
            <a:ext cx="3304032"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CHOICE / ACTION</a:t>
            </a:r>
            <a:endParaRPr lang="en-US" sz="750" dirty="0"/>
          </a:p>
        </p:txBody>
      </p:sp>
      <p:sp>
        <p:nvSpPr>
          <p:cNvPr id="76" name="Text 74"/>
          <p:cNvSpPr/>
          <p:nvPr/>
        </p:nvSpPr>
        <p:spPr>
          <a:xfrm>
            <a:off x="8199120" y="3191256"/>
            <a:ext cx="3304032"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Build a trend brief and elevate parts priority through the Wing AMO.</a:t>
            </a:r>
            <a:endParaRPr lang="en-US" sz="900" dirty="0"/>
          </a:p>
        </p:txBody>
      </p:sp>
      <p:sp>
        <p:nvSpPr>
          <p:cNvPr id="77" name="Shape 75"/>
          <p:cNvSpPr/>
          <p:nvPr/>
        </p:nvSpPr>
        <p:spPr>
          <a:xfrm>
            <a:off x="8034528" y="3566160"/>
            <a:ext cx="3578352" cy="685800"/>
          </a:xfrm>
          <a:prstGeom prst="rect">
            <a:avLst/>
          </a:prstGeom>
          <a:solidFill>
            <a:srgbClr val="F4F1EC"/>
          </a:solidFill>
          <a:ln w="6350">
            <a:solidFill>
              <a:srgbClr val="E2E8F0"/>
            </a:solidFill>
            <a:prstDash val="solid"/>
          </a:ln>
        </p:spPr>
      </p:sp>
      <p:sp>
        <p:nvSpPr>
          <p:cNvPr id="78" name="Shape 76"/>
          <p:cNvSpPr/>
          <p:nvPr/>
        </p:nvSpPr>
        <p:spPr>
          <a:xfrm>
            <a:off x="8034528" y="3566160"/>
            <a:ext cx="54864" cy="685800"/>
          </a:xfrm>
          <a:prstGeom prst="rect">
            <a:avLst/>
          </a:prstGeom>
          <a:solidFill>
            <a:srgbClr val="2C7A4B"/>
          </a:solidFill>
          <a:ln w="12700">
            <a:solidFill>
              <a:srgbClr val="2C7A4B"/>
            </a:solidFill>
            <a:prstDash val="solid"/>
          </a:ln>
        </p:spPr>
      </p:sp>
      <p:sp>
        <p:nvSpPr>
          <p:cNvPr id="79" name="Text 77"/>
          <p:cNvSpPr/>
          <p:nvPr/>
        </p:nvSpPr>
        <p:spPr>
          <a:xfrm>
            <a:off x="8199120" y="3621024"/>
            <a:ext cx="3304032"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T+0  IMMEDIATE OUTCOME</a:t>
            </a:r>
            <a:endParaRPr lang="en-US" sz="750" dirty="0"/>
          </a:p>
        </p:txBody>
      </p:sp>
      <p:sp>
        <p:nvSpPr>
          <p:cNvPr id="80" name="Text 78"/>
          <p:cNvSpPr/>
          <p:nvPr/>
        </p:nvSpPr>
        <p:spPr>
          <a:xfrm>
            <a:off x="8199120" y="3785616"/>
            <a:ext cx="3304032"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CO is initially frustrated but recognizes the trend brief gives him a clean narrative. Wing AMO endorses the parts-priority package within seventy-two hours. MALS surge team approved.</a:t>
            </a:r>
            <a:endParaRPr lang="en-US" sz="850" dirty="0"/>
          </a:p>
        </p:txBody>
      </p:sp>
      <p:sp>
        <p:nvSpPr>
          <p:cNvPr id="81" name="Shape 79"/>
          <p:cNvSpPr/>
          <p:nvPr/>
        </p:nvSpPr>
        <p:spPr>
          <a:xfrm>
            <a:off x="8034528" y="4297680"/>
            <a:ext cx="3578352" cy="1417320"/>
          </a:xfrm>
          <a:prstGeom prst="rect">
            <a:avLst/>
          </a:prstGeom>
          <a:solidFill>
            <a:srgbClr val="F4F1EC"/>
          </a:solidFill>
          <a:ln w="6350">
            <a:solidFill>
              <a:srgbClr val="E2E8F0"/>
            </a:solidFill>
            <a:prstDash val="solid"/>
          </a:ln>
        </p:spPr>
      </p:sp>
      <p:sp>
        <p:nvSpPr>
          <p:cNvPr id="82" name="Shape 80"/>
          <p:cNvSpPr/>
          <p:nvPr/>
        </p:nvSpPr>
        <p:spPr>
          <a:xfrm>
            <a:off x="8034528" y="4297680"/>
            <a:ext cx="54864" cy="1417320"/>
          </a:xfrm>
          <a:prstGeom prst="rect">
            <a:avLst/>
          </a:prstGeom>
          <a:solidFill>
            <a:srgbClr val="2C7A4B"/>
          </a:solidFill>
          <a:ln w="12700">
            <a:solidFill>
              <a:srgbClr val="2C7A4B"/>
            </a:solidFill>
            <a:prstDash val="solid"/>
          </a:ln>
        </p:spPr>
      </p:sp>
      <p:sp>
        <p:nvSpPr>
          <p:cNvPr id="83" name="Text 81"/>
          <p:cNvSpPr/>
          <p:nvPr/>
        </p:nvSpPr>
        <p:spPr>
          <a:xfrm>
            <a:off x="8199120" y="4352544"/>
            <a:ext cx="3304032"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T+30 TO T+1YR  DOWNSTREAM</a:t>
            </a:r>
            <a:endParaRPr lang="en-US" sz="750" dirty="0"/>
          </a:p>
        </p:txBody>
      </p:sp>
      <p:sp>
        <p:nvSpPr>
          <p:cNvPr id="84" name="Text 82"/>
          <p:cNvSpPr/>
          <p:nvPr/>
        </p:nvSpPr>
        <p:spPr>
          <a:xfrm>
            <a:off x="8199120" y="4517136"/>
            <a:ext cx="3304032"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Real readiness climbs to 87% within thirty days. CO's brief to the Wing CG is honest, well-received, and notably ends with a request for resources rather than a request for grace. Captain's fitness report cites 'integrity in readiness reporting.' Promotion to Major confirmed.</a:t>
            </a:r>
            <a:endParaRPr lang="en-US" sz="800" dirty="0"/>
          </a:p>
        </p:txBody>
      </p:sp>
      <p:sp>
        <p:nvSpPr>
          <p:cNvPr id="85" name="Shape 83"/>
          <p:cNvSpPr/>
          <p:nvPr/>
        </p:nvSpPr>
        <p:spPr>
          <a:xfrm>
            <a:off x="9823704" y="2926080"/>
            <a:ext cx="0" cy="45720"/>
          </a:xfrm>
          <a:prstGeom prst="line">
            <a:avLst/>
          </a:prstGeom>
          <a:noFill/>
          <a:ln w="12700">
            <a:solidFill>
              <a:srgbClr val="94A3B8"/>
            </a:solidFill>
            <a:prstDash val="solid"/>
          </a:ln>
        </p:spPr>
      </p:sp>
      <p:sp>
        <p:nvSpPr>
          <p:cNvPr id="86" name="Shape 84"/>
          <p:cNvSpPr/>
          <p:nvPr/>
        </p:nvSpPr>
        <p:spPr>
          <a:xfrm>
            <a:off x="9823704" y="3520440"/>
            <a:ext cx="0" cy="45720"/>
          </a:xfrm>
          <a:prstGeom prst="line">
            <a:avLst/>
          </a:prstGeom>
          <a:noFill/>
          <a:ln w="12700">
            <a:solidFill>
              <a:srgbClr val="94A3B8"/>
            </a:solidFill>
            <a:prstDash val="solid"/>
          </a:ln>
        </p:spPr>
      </p:sp>
      <p:sp>
        <p:nvSpPr>
          <p:cNvPr id="87" name="Shape 85"/>
          <p:cNvSpPr/>
          <p:nvPr/>
        </p:nvSpPr>
        <p:spPr>
          <a:xfrm>
            <a:off x="9823704" y="4251960"/>
            <a:ext cx="0" cy="45720"/>
          </a:xfrm>
          <a:prstGeom prst="line">
            <a:avLst/>
          </a:prstGeom>
          <a:noFill/>
          <a:ln w="12700">
            <a:solidFill>
              <a:srgbClr val="94A3B8"/>
            </a:solidFill>
            <a:prstDash val="solid"/>
          </a:ln>
        </p:spPr>
      </p:sp>
      <p:sp>
        <p:nvSpPr>
          <p:cNvPr id="88" name="Shape 86"/>
          <p:cNvSpPr/>
          <p:nvPr/>
        </p:nvSpPr>
        <p:spPr>
          <a:xfrm>
            <a:off x="9823704" y="5715000"/>
            <a:ext cx="0" cy="45720"/>
          </a:xfrm>
          <a:prstGeom prst="line">
            <a:avLst/>
          </a:prstGeom>
          <a:noFill/>
          <a:ln w="12700">
            <a:solidFill>
              <a:srgbClr val="94A3B8"/>
            </a:solidFill>
            <a:prstDash val="solid"/>
          </a:ln>
        </p:spPr>
      </p:sp>
      <p:sp>
        <p:nvSpPr>
          <p:cNvPr id="89" name="Shape 87"/>
          <p:cNvSpPr/>
          <p:nvPr/>
        </p:nvSpPr>
        <p:spPr>
          <a:xfrm>
            <a:off x="8034528" y="5760720"/>
            <a:ext cx="3578352" cy="411480"/>
          </a:xfrm>
          <a:prstGeom prst="rect">
            <a:avLst/>
          </a:prstGeom>
          <a:solidFill>
            <a:srgbClr val="2C7A4B"/>
          </a:solidFill>
          <a:ln w="12700">
            <a:solidFill>
              <a:srgbClr val="2C7A4B"/>
            </a:solidFill>
            <a:prstDash val="solid"/>
          </a:ln>
        </p:spPr>
      </p:sp>
      <p:sp>
        <p:nvSpPr>
          <p:cNvPr id="90" name="Text 88"/>
          <p:cNvSpPr/>
          <p:nvPr/>
        </p:nvSpPr>
        <p:spPr>
          <a:xfrm>
            <a:off x="8171688" y="5760720"/>
            <a:ext cx="3304032"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OPTIMAL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640080"/>
            <a:ext cx="11064240" cy="32004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RECOMMENDED PATH</a:t>
            </a:r>
            <a:endParaRPr lang="en-US" sz="1200" dirty="0"/>
          </a:p>
        </p:txBody>
      </p:sp>
      <p:sp>
        <p:nvSpPr>
          <p:cNvPr id="3" name="Text 1"/>
          <p:cNvSpPr/>
          <p:nvPr/>
        </p:nvSpPr>
        <p:spPr>
          <a:xfrm>
            <a:off x="548640" y="96012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2: MV-22 Readiness Manipulation</a:t>
            </a:r>
            <a:endParaRPr lang="en-US" sz="2200" dirty="0"/>
          </a:p>
        </p:txBody>
      </p:sp>
      <p:sp>
        <p:nvSpPr>
          <p:cNvPr id="4" name="Shape 2"/>
          <p:cNvSpPr/>
          <p:nvPr/>
        </p:nvSpPr>
        <p:spPr>
          <a:xfrm>
            <a:off x="548640" y="1691640"/>
            <a:ext cx="11064240" cy="2377440"/>
          </a:xfrm>
          <a:prstGeom prst="rect">
            <a:avLst/>
          </a:prstGeom>
          <a:solidFill>
            <a:srgbClr val="FFFFFF"/>
          </a:solidFill>
          <a:ln w="12700">
            <a:solidFill>
              <a:srgbClr val="FFFFFF"/>
            </a:solidFill>
            <a:prstDash val="solid"/>
          </a:ln>
        </p:spPr>
      </p:sp>
      <p:sp>
        <p:nvSpPr>
          <p:cNvPr id="5" name="Shape 3"/>
          <p:cNvSpPr/>
          <p:nvPr/>
        </p:nvSpPr>
        <p:spPr>
          <a:xfrm>
            <a:off x="548640" y="1691640"/>
            <a:ext cx="146304" cy="2377440"/>
          </a:xfrm>
          <a:prstGeom prst="rect">
            <a:avLst/>
          </a:prstGeom>
          <a:solidFill>
            <a:srgbClr val="2C7A4B"/>
          </a:solidFill>
          <a:ln w="12700">
            <a:solidFill>
              <a:srgbClr val="2C7A4B"/>
            </a:solidFill>
            <a:prstDash val="solid"/>
          </a:ln>
        </p:spPr>
      </p:sp>
      <p:sp>
        <p:nvSpPr>
          <p:cNvPr id="6" name="Text 4"/>
          <p:cNvSpPr/>
          <p:nvPr/>
        </p:nvSpPr>
        <p:spPr>
          <a:xfrm>
            <a:off x="914400" y="1828800"/>
            <a:ext cx="10515600" cy="274320"/>
          </a:xfrm>
          <a:prstGeom prst="rect">
            <a:avLst/>
          </a:prstGeom>
          <a:noFill/>
          <a:ln/>
        </p:spPr>
        <p:txBody>
          <a:bodyPr wrap="square" lIns="0" tIns="0" rIns="0" bIns="0" rtlCol="0" anchor="ctr"/>
          <a:lstStyle/>
          <a:p>
            <a:pPr indent="0" marL="0">
              <a:buNone/>
            </a:pPr>
            <a:r>
              <a:rPr lang="en-US" sz="1100" b="1" spc="400" kern="0" dirty="0">
                <a:solidFill>
                  <a:srgbClr val="2C7A4B"/>
                </a:solidFill>
                <a:latin typeface="Calibri" pitchFamily="34" charset="0"/>
                <a:ea typeface="Calibri" pitchFamily="34" charset="-122"/>
                <a:cs typeface="Calibri" pitchFamily="34" charset="-120"/>
              </a:rPr>
              <a:t>OPTIMAL OUTCOME</a:t>
            </a:r>
            <a:endParaRPr lang="en-US" sz="1100" dirty="0"/>
          </a:p>
        </p:txBody>
      </p:sp>
      <p:sp>
        <p:nvSpPr>
          <p:cNvPr id="7" name="Text 5"/>
          <p:cNvSpPr/>
          <p:nvPr/>
        </p:nvSpPr>
        <p:spPr>
          <a:xfrm>
            <a:off x="914400" y="2148840"/>
            <a:ext cx="10515600" cy="1874520"/>
          </a:xfrm>
          <a:prstGeom prst="rect">
            <a:avLst/>
          </a:prstGeom>
          <a:noFill/>
          <a:ln/>
        </p:spPr>
        <p:txBody>
          <a:bodyPr wrap="square" lIns="0" tIns="0" rIns="0" bIns="0" rtlCol="0" anchor="t"/>
          <a:lstStyle/>
          <a:p>
            <a:pPr indent="0" marL="0">
              <a:spcAft>
                <a:spcPts val="400"/>
              </a:spcAft>
              <a:buNone/>
            </a:pPr>
            <a:r>
              <a:rPr lang="en-US" sz="1400" dirty="0">
                <a:solidFill>
                  <a:srgbClr val="14193D"/>
                </a:solidFill>
                <a:latin typeface="Calibri" pitchFamily="34" charset="0"/>
                <a:ea typeface="Calibri" pitchFamily="34" charset="-122"/>
                <a:cs typeface="Calibri" pitchFamily="34" charset="-120"/>
              </a:rPr>
              <a:t>Path C. The captain partners with GySgt Tomas to deliver four real options to LtCol Harrigan. Crucially, the captain frames the choice for the CO not as 'lie or look bad' but as 'lie and accept the moral and legal weight of a future Osprey accident, or own a real number with a real plan.' The CO chooses honesty when it is presented as the lower-risk path. The captain's job was not to refuse, it was to expand the leader's perceived option set.</a:t>
            </a:r>
            <a:endParaRPr lang="en-US" sz="1400" dirty="0"/>
          </a:p>
        </p:txBody>
      </p:sp>
      <p:sp>
        <p:nvSpPr>
          <p:cNvPr id="8" name="Text 6"/>
          <p:cNvSpPr/>
          <p:nvPr/>
        </p:nvSpPr>
        <p:spPr>
          <a:xfrm>
            <a:off x="548640" y="4297680"/>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TAKE TO DISCUSSION</a:t>
            </a:r>
            <a:endParaRPr lang="en-US" sz="1000" dirty="0"/>
          </a:p>
        </p:txBody>
      </p:sp>
      <p:sp>
        <p:nvSpPr>
          <p:cNvPr id="9" name="Text 7"/>
          <p:cNvSpPr/>
          <p:nvPr/>
        </p:nvSpPr>
        <p:spPr>
          <a:xfrm>
            <a:off x="548640" y="4572000"/>
            <a:ext cx="11064240" cy="1920240"/>
          </a:xfrm>
          <a:prstGeom prst="rect">
            <a:avLst/>
          </a:prstGeom>
          <a:noFill/>
          <a:ln/>
        </p:spPr>
        <p:txBody>
          <a:bodyPr wrap="square" lIns="0" tIns="0" rIns="0" bIns="0" rtlCol="0" anchor="t"/>
          <a:lstStyle/>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1. When the CO says 'find a way' and does not specify how, who owns the moral weight of what happens next?</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2. How does the GySgt Tomas framing differ from the Stickler's? Both end up at honest reporting. Why is one path generative and the other path stalled?</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3. Is there a version of this scenario where the Operator's approach is acceptable? What feature of the situation would have to change?</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4. Apply Lipman-Blumen on toxic followership: which of the squadron's maintenance Marines is most vulnerable to enabling a pattern of records manipulation, and what protections should the chain of command build to insulate them?</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5. What is the role of the wing-level chain in this scenario? How does the captain's accountability scale up the chain when the CO accepts the manipulated brief?</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365760" y="1280160"/>
            <a:ext cx="4572000" cy="4114800"/>
          </a:xfrm>
          <a:prstGeom prst="rect">
            <a:avLst/>
          </a:prstGeom>
          <a:noFill/>
          <a:ln/>
        </p:spPr>
        <p:txBody>
          <a:bodyPr wrap="square" lIns="0" tIns="0" rIns="0" bIns="0" rtlCol="0" anchor="ctr"/>
          <a:lstStyle/>
          <a:p>
            <a:pPr indent="0" marL="0">
              <a:buNone/>
            </a:pPr>
            <a:r>
              <a:rPr lang="en-US" sz="32000" b="1" i="1" dirty="0">
                <a:solidFill>
                  <a:srgbClr val="1E2761"/>
                </a:solidFill>
                <a:latin typeface="Cambria" pitchFamily="34" charset="0"/>
                <a:ea typeface="Cambria" pitchFamily="34" charset="-122"/>
                <a:cs typeface="Cambria" pitchFamily="34" charset="-120"/>
              </a:rPr>
              <a:t>03</a:t>
            </a:r>
            <a:endParaRPr lang="en-US" sz="32000" dirty="0"/>
          </a:p>
        </p:txBody>
      </p:sp>
      <p:sp>
        <p:nvSpPr>
          <p:cNvPr id="3" name="Text 1"/>
          <p:cNvSpPr/>
          <p:nvPr/>
        </p:nvSpPr>
        <p:spPr>
          <a:xfrm>
            <a:off x="4754880" y="1554480"/>
            <a:ext cx="6858000" cy="36576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SCENARIO 3</a:t>
            </a:r>
            <a:endParaRPr lang="en-US" sz="1400" dirty="0"/>
          </a:p>
        </p:txBody>
      </p:sp>
      <p:sp>
        <p:nvSpPr>
          <p:cNvPr id="4" name="Text 2"/>
          <p:cNvSpPr/>
          <p:nvPr/>
        </p:nvSpPr>
        <p:spPr>
          <a:xfrm>
            <a:off x="4754880" y="1965960"/>
            <a:ext cx="685800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General's Personal-Travel TDY</a:t>
            </a:r>
            <a:endParaRPr lang="en-US" sz="3600" dirty="0"/>
          </a:p>
        </p:txBody>
      </p:sp>
      <p:sp>
        <p:nvSpPr>
          <p:cNvPr id="5" name="Text 3"/>
          <p:cNvSpPr/>
          <p:nvPr/>
        </p:nvSpPr>
        <p:spPr>
          <a:xfrm>
            <a:off x="4754880" y="3520440"/>
            <a:ext cx="6858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General Officer Travel / Joint Travel Regulations</a:t>
            </a:r>
            <a:endParaRPr lang="en-US" sz="1400" dirty="0"/>
          </a:p>
        </p:txBody>
      </p:sp>
      <p:sp>
        <p:nvSpPr>
          <p:cNvPr id="6" name="Shape 4"/>
          <p:cNvSpPr/>
          <p:nvPr/>
        </p:nvSpPr>
        <p:spPr>
          <a:xfrm>
            <a:off x="4754880" y="4023360"/>
            <a:ext cx="6858000" cy="36576"/>
          </a:xfrm>
          <a:prstGeom prst="rect">
            <a:avLst/>
          </a:prstGeom>
          <a:solidFill>
            <a:srgbClr val="B85042"/>
          </a:solidFill>
          <a:ln w="12700">
            <a:solidFill>
              <a:srgbClr val="B85042"/>
            </a:solidFill>
            <a:prstDash val="solid"/>
          </a:ln>
        </p:spPr>
      </p:sp>
      <p:sp>
        <p:nvSpPr>
          <p:cNvPr id="7" name="Text 5"/>
          <p:cNvSpPr/>
          <p:nvPr/>
        </p:nvSpPr>
        <p:spPr>
          <a:xfrm>
            <a:off x="4754880" y="4160520"/>
            <a:ext cx="6858000" cy="2011680"/>
          </a:xfrm>
          <a:prstGeom prst="rect">
            <a:avLst/>
          </a:prstGeom>
          <a:noFill/>
          <a:ln/>
        </p:spPr>
        <p:txBody>
          <a:bodyPr wrap="square" lIns="0" tIns="0" rIns="0" bIns="0" rtlCol="0" anchor="t"/>
          <a:lstStyle/>
          <a:p>
            <a:pPr indent="0" marL="0">
              <a:spcAft>
                <a:spcPts val="600"/>
              </a:spcAft>
              <a:buNone/>
            </a:pPr>
            <a:r>
              <a:rPr lang="en-US" sz="1000" b="1" spc="400" kern="0" dirty="0">
                <a:solidFill>
                  <a:srgbClr val="B85042"/>
                </a:solidFill>
                <a:latin typeface="Calibri" pitchFamily="34" charset="0"/>
                <a:ea typeface="Calibri" pitchFamily="34" charset="-122"/>
                <a:cs typeface="Calibri" pitchFamily="34" charset="-120"/>
              </a:rPr>
              <a:t>SETTING
</a:t>
            </a:r>
            <a:pPr indent="0" marL="0">
              <a:spcAft>
                <a:spcPts val="600"/>
              </a:spcAft>
              <a:buNone/>
            </a:pPr>
            <a:r>
              <a:rPr lang="en-US" sz="1200" dirty="0">
                <a:solidFill>
                  <a:srgbClr val="CADCFC"/>
                </a:solidFill>
                <a:latin typeface="Calibri" pitchFamily="34" charset="0"/>
                <a:ea typeface="Calibri" pitchFamily="34" charset="-122"/>
                <a:cs typeface="Calibri" pitchFamily="34" charset="-120"/>
              </a:rPr>
              <a:t>Pentagon. Three-star general officer headed to retirement in eighteen months. Daughter has just had a baby in Lawrence, Kansas. The general wants to attend the birth and stay for the weekend.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3</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Leader and the Student</a:t>
            </a:r>
            <a:endParaRPr lang="en-US" sz="3200" dirty="0"/>
          </a:p>
        </p:txBody>
      </p:sp>
      <p:sp>
        <p:nvSpPr>
          <p:cNvPr id="5" name="Shape 3"/>
          <p:cNvSpPr/>
          <p:nvPr/>
        </p:nvSpPr>
        <p:spPr>
          <a:xfrm>
            <a:off x="548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5349240" cy="640080"/>
          </a:xfrm>
          <a:prstGeom prst="rect">
            <a:avLst/>
          </a:prstGeom>
          <a:solidFill>
            <a:srgbClr val="1E2761"/>
          </a:solidFill>
          <a:ln w="12700">
            <a:solidFill>
              <a:srgbClr val="1E2761"/>
            </a:solidFill>
            <a:prstDash val="solid"/>
          </a:ln>
        </p:spPr>
      </p:sp>
      <p:sp>
        <p:nvSpPr>
          <p:cNvPr id="7" name="Text 5"/>
          <p:cNvSpPr/>
          <p:nvPr/>
        </p:nvSpPr>
        <p:spPr>
          <a:xfrm>
            <a:off x="777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CADCFC"/>
                </a:solidFill>
                <a:latin typeface="Calibri" pitchFamily="34" charset="0"/>
                <a:ea typeface="Calibri" pitchFamily="34" charset="-122"/>
                <a:cs typeface="Calibri" pitchFamily="34" charset="-120"/>
              </a:rPr>
              <a:t>THE LEADER</a:t>
            </a:r>
            <a:endParaRPr lang="en-US" sz="1100" dirty="0"/>
          </a:p>
        </p:txBody>
      </p:sp>
      <p:sp>
        <p:nvSpPr>
          <p:cNvPr id="8" name="Text 6"/>
          <p:cNvSpPr/>
          <p:nvPr/>
        </p:nvSpPr>
        <p:spPr>
          <a:xfrm>
            <a:off x="777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LTG Sarah Burke</a:t>
            </a:r>
            <a:endParaRPr lang="en-US" sz="1600" dirty="0"/>
          </a:p>
        </p:txBody>
      </p:sp>
      <p:sp>
        <p:nvSpPr>
          <p:cNvPr id="9" name="Text 7"/>
          <p:cNvSpPr/>
          <p:nvPr/>
        </p:nvSpPr>
        <p:spPr>
          <a:xfrm>
            <a:off x="777240" y="2788920"/>
            <a:ext cx="4892040" cy="274320"/>
          </a:xfrm>
          <a:prstGeom prst="rect">
            <a:avLst/>
          </a:prstGeom>
          <a:noFill/>
          <a:ln/>
        </p:spPr>
        <p:txBody>
          <a:bodyPr wrap="square" lIns="0" tIns="0" rIns="0" bIns="0" rtlCol="0" anchor="ctr"/>
          <a:lstStyle/>
          <a:p>
            <a:pPr indent="0" marL="0">
              <a:buNone/>
            </a:pPr>
            <a:r>
              <a:rPr lang="en-US" sz="1300" b="1" i="1" dirty="0">
                <a:solidFill>
                  <a:srgbClr val="B85042"/>
                </a:solidFill>
                <a:latin typeface="Calibri" pitchFamily="34" charset="0"/>
                <a:ea typeface="Calibri" pitchFamily="34" charset="-122"/>
                <a:cs typeface="Calibri" pitchFamily="34" charset="-120"/>
              </a:rPr>
              <a:t>Deputy Commanding General, Joint Headquarters</a:t>
            </a:r>
            <a:endParaRPr lang="en-US" sz="1300" dirty="0"/>
          </a:p>
        </p:txBody>
      </p:sp>
      <p:sp>
        <p:nvSpPr>
          <p:cNvPr id="10" name="Text 8"/>
          <p:cNvSpPr/>
          <p:nvPr/>
        </p:nvSpPr>
        <p:spPr>
          <a:xfrm>
            <a:off x="777240" y="3108960"/>
            <a:ext cx="489204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BACKGROUND
</a:t>
            </a:r>
            <a:pPr indent="0" marL="0">
              <a:buNone/>
            </a:pPr>
            <a:r>
              <a:rPr lang="en-US" sz="1200" dirty="0">
                <a:solidFill>
                  <a:srgbClr val="14193D"/>
                </a:solidFill>
                <a:latin typeface="Calibri" pitchFamily="34" charset="0"/>
                <a:ea typeface="Calibri" pitchFamily="34" charset="-122"/>
                <a:cs typeface="Calibri" pitchFamily="34" charset="-120"/>
              </a:rPr>
              <a:t>31 years. Three-time combat command. Highly respected, well-liked across the four-stars. Headed to retirement on her own terms. New grandchild born last week. Has been to Kansas roughly twice in three years.
</a:t>
            </a:r>
            <a:pPr indent="0" marL="0">
              <a:buNone/>
            </a:pPr>
            <a:r>
              <a:rPr lang="en-US" sz="900" b="1" spc="300" kern="0" dirty="0">
                <a:solidFill>
                  <a:srgbClr val="1E2761"/>
                </a:solidFill>
                <a:latin typeface="Calibri" pitchFamily="34" charset="0"/>
                <a:ea typeface="Calibri" pitchFamily="34" charset="-122"/>
                <a:cs typeface="Calibri" pitchFamily="34" charset="-120"/>
              </a:rPr>
              <a:t>MOTIVATION
</a:t>
            </a:r>
            <a:pPr indent="0" marL="0">
              <a:buNone/>
            </a:pPr>
            <a:r>
              <a:rPr lang="en-US" sz="1200" dirty="0">
                <a:solidFill>
                  <a:srgbClr val="14193D"/>
                </a:solidFill>
                <a:latin typeface="Calibri" pitchFamily="34" charset="0"/>
                <a:ea typeface="Calibri" pitchFamily="34" charset="-122"/>
                <a:cs typeface="Calibri" pitchFamily="34" charset="-120"/>
              </a:rPr>
              <a:t>Wants to see her grandchild. Wants the trip to be paid for so she can avoid the optics of a senior officer flying commercial across the country during a Continuing Resolution. Believes she can in good faith generate a legitimate engagement at the Command and General Staff College (CGSC) at Fort Leavenworth on the way through.</a:t>
            </a:r>
            <a:endParaRPr lang="en-US" sz="900" dirty="0"/>
          </a:p>
        </p:txBody>
      </p:sp>
      <p:sp>
        <p:nvSpPr>
          <p:cNvPr id="11" name="Shape 9"/>
          <p:cNvSpPr/>
          <p:nvPr/>
        </p:nvSpPr>
        <p:spPr>
          <a:xfrm>
            <a:off x="6263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263640" y="2011680"/>
            <a:ext cx="5349240" cy="640080"/>
          </a:xfrm>
          <a:prstGeom prst="rect">
            <a:avLst/>
          </a:prstGeom>
          <a:solidFill>
            <a:srgbClr val="B85042"/>
          </a:solidFill>
          <a:ln w="12700">
            <a:solidFill>
              <a:srgbClr val="B85042"/>
            </a:solidFill>
            <a:prstDash val="solid"/>
          </a:ln>
        </p:spPr>
      </p:sp>
      <p:sp>
        <p:nvSpPr>
          <p:cNvPr id="13" name="Text 11"/>
          <p:cNvSpPr/>
          <p:nvPr/>
        </p:nvSpPr>
        <p:spPr>
          <a:xfrm>
            <a:off x="6492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YOU (THE STUDENT)</a:t>
            </a:r>
            <a:endParaRPr lang="en-US" sz="1100" dirty="0"/>
          </a:p>
        </p:txBody>
      </p:sp>
      <p:sp>
        <p:nvSpPr>
          <p:cNvPr id="14" name="Text 12"/>
          <p:cNvSpPr/>
          <p:nvPr/>
        </p:nvSpPr>
        <p:spPr>
          <a:xfrm>
            <a:off x="6492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Aide-de-Camp (Major) or Executive Officer</a:t>
            </a:r>
            <a:endParaRPr lang="en-US" sz="1600" dirty="0"/>
          </a:p>
        </p:txBody>
      </p:sp>
      <p:sp>
        <p:nvSpPr>
          <p:cNvPr id="15" name="Text 13"/>
          <p:cNvSpPr/>
          <p:nvPr/>
        </p:nvSpPr>
        <p:spPr>
          <a:xfrm>
            <a:off x="6492240" y="2880360"/>
            <a:ext cx="4892040" cy="32004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STAKES
</a:t>
            </a:r>
            <a:pPr indent="0" marL="0">
              <a:buNone/>
            </a:pPr>
            <a:r>
              <a:rPr lang="en-US" sz="1200" dirty="0">
                <a:solidFill>
                  <a:srgbClr val="14193D"/>
                </a:solidFill>
                <a:latin typeface="Calibri" pitchFamily="34" charset="0"/>
                <a:ea typeface="Calibri" pitchFamily="34" charset="-122"/>
                <a:cs typeface="Calibri" pitchFamily="34" charset="-120"/>
              </a:rPr>
              <a:t>On the LTC list. Selected for ILE residency next year. Personally close to the general. Cutting illegitimate orders is a UCMJ Article 132 (Frauds Against the United States) and Article 107 (False Official Statement) issue, in addition to potential Title 18 federal fraud exposure. The aide signs the orders.
</a:t>
            </a:r>
            <a:pPr indent="0" marL="0">
              <a:buNone/>
            </a:pPr>
            <a:r>
              <a:rPr lang="en-US" sz="900" b="1" spc="300" kern="0" dirty="0">
                <a:solidFill>
                  <a:srgbClr val="B85042"/>
                </a:solidFill>
                <a:latin typeface="Calibri" pitchFamily="34" charset="0"/>
                <a:ea typeface="Calibri" pitchFamily="34" charset="-122"/>
                <a:cs typeface="Calibri" pitchFamily="34" charset="-120"/>
              </a:rPr>
              <a:t>NATURE OF RISK
</a:t>
            </a:r>
            <a:pPr indent="0" marL="0">
              <a:buNone/>
            </a:pPr>
            <a:r>
              <a:rPr lang="en-US" sz="1200" dirty="0">
                <a:solidFill>
                  <a:srgbClr val="14193D"/>
                </a:solidFill>
                <a:latin typeface="Calibri" pitchFamily="34" charset="0"/>
                <a:ea typeface="Calibri" pitchFamily="34" charset="-122"/>
                <a:cs typeface="Calibri" pitchFamily="34" charset="-120"/>
              </a:rPr>
              <a:t>Legal exposure as the primary risk. Career risk is downstream and follows the legal exposure. Personal-loyalty pressure is a third axis: this is a leader the student admires and does not want to embarrass.</a:t>
            </a:r>
            <a:endParaRPr lang="en-US" sz="9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3 — The General's Personal-Travel TDY</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548640"/>
            <a:ext cx="11064240" cy="36576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MORALLY AMBIGUOUS ORDER</a:t>
            </a:r>
            <a:endParaRPr lang="en-US" sz="1200" dirty="0"/>
          </a:p>
        </p:txBody>
      </p:sp>
      <p:sp>
        <p:nvSpPr>
          <p:cNvPr id="3" name="Text 1"/>
          <p:cNvSpPr/>
          <p:nvPr/>
        </p:nvSpPr>
        <p:spPr>
          <a:xfrm>
            <a:off x="548640" y="91440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3: The General's Personal-Travel TDY</a:t>
            </a:r>
            <a:endParaRPr lang="en-US" sz="2200" dirty="0"/>
          </a:p>
        </p:txBody>
      </p:sp>
      <p:sp>
        <p:nvSpPr>
          <p:cNvPr id="4" name="Shape 2"/>
          <p:cNvSpPr/>
          <p:nvPr/>
        </p:nvSpPr>
        <p:spPr>
          <a:xfrm>
            <a:off x="548640" y="1600200"/>
            <a:ext cx="73152" cy="1737360"/>
          </a:xfrm>
          <a:prstGeom prst="rect">
            <a:avLst/>
          </a:prstGeom>
          <a:solidFill>
            <a:srgbClr val="B85042"/>
          </a:solidFill>
          <a:ln w="12700">
            <a:solidFill>
              <a:srgbClr val="B85042"/>
            </a:solidFill>
            <a:prstDash val="solid"/>
          </a:ln>
        </p:spPr>
      </p:sp>
      <p:sp>
        <p:nvSpPr>
          <p:cNvPr id="5" name="Text 3"/>
          <p:cNvSpPr/>
          <p:nvPr/>
        </p:nvSpPr>
        <p:spPr>
          <a:xfrm>
            <a:off x="914400" y="1554480"/>
            <a:ext cx="10698480" cy="18288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“LTG Burke: 'Hey, schedule me a TDY out to Leavenworth Friday afternoon. Coordinate an LPD with the CGSC students, the Commandant will love to have me. The Air Force flight to McConnell can drop me on the way. We can call it Senior Leader Mentorship Engagement. I'll see Anna and the baby Friday night through Sunday and fly back Monday.'”</a:t>
            </a:r>
            <a:endParaRPr lang="en-US" sz="1800" dirty="0"/>
          </a:p>
        </p:txBody>
      </p:sp>
      <p:sp>
        <p:nvSpPr>
          <p:cNvPr id="6" name="Shape 4"/>
          <p:cNvSpPr/>
          <p:nvPr/>
        </p:nvSpPr>
        <p:spPr>
          <a:xfrm>
            <a:off x="548640" y="3520440"/>
            <a:ext cx="11064240" cy="2926080"/>
          </a:xfrm>
          <a:prstGeom prst="rect">
            <a:avLst/>
          </a:prstGeom>
          <a:solidFill>
            <a:srgbClr val="1E2761"/>
          </a:solidFill>
          <a:ln w="12700">
            <a:solidFill>
              <a:srgbClr val="1E2761"/>
            </a:solidFill>
            <a:prstDash val="solid"/>
          </a:ln>
        </p:spPr>
      </p:sp>
      <p:sp>
        <p:nvSpPr>
          <p:cNvPr id="7" name="Text 5"/>
          <p:cNvSpPr/>
          <p:nvPr/>
        </p:nvSpPr>
        <p:spPr>
          <a:xfrm>
            <a:off x="822960" y="3657600"/>
            <a:ext cx="1051560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REGULATORY AND OPERATIONAL CONTEXT</a:t>
            </a:r>
            <a:endParaRPr lang="en-US" sz="1000" dirty="0"/>
          </a:p>
        </p:txBody>
      </p:sp>
      <p:sp>
        <p:nvSpPr>
          <p:cNvPr id="8" name="Text 6"/>
          <p:cNvSpPr/>
          <p:nvPr/>
        </p:nvSpPr>
        <p:spPr>
          <a:xfrm>
            <a:off x="822960" y="3977640"/>
            <a:ext cx="10515600" cy="237744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JTR para 020201 requires that the primary purpose of TDY be official duty. A leader-professional-development (LPD) generated on seventy-two hours notice as a vehicle to attach orders to personal travel is a primary-purpose violation. Per diem and lodging claimed against personal-travel days are fraudulent. The CGSC Secretary of the General Staff (SGS) and the Resource Manager are mandatory reporters if they perceive the request as irregular. An IG complaint is a near-certainty if a junior staff officer at CGSC notices the late-notice engagement.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365760"/>
            <a:ext cx="1106424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3</a:t>
            </a:r>
            <a:endParaRPr lang="en-US" sz="1000" dirty="0"/>
          </a:p>
        </p:txBody>
      </p:sp>
      <p:sp>
        <p:nvSpPr>
          <p:cNvPr id="4" name="Text 2"/>
          <p:cNvSpPr/>
          <p:nvPr/>
        </p:nvSpPr>
        <p:spPr>
          <a:xfrm>
            <a:off x="548640" y="640080"/>
            <a:ext cx="11064240"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Four Subordinates and Their Advice</a:t>
            </a:r>
            <a:endParaRPr lang="en-US" sz="2200" dirty="0"/>
          </a:p>
        </p:txBody>
      </p:sp>
      <p:sp>
        <p:nvSpPr>
          <p:cNvPr id="5" name="Shape 3"/>
          <p:cNvSpPr/>
          <p:nvPr/>
        </p:nvSpPr>
        <p:spPr>
          <a:xfrm>
            <a:off x="548640"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1188720"/>
            <a:ext cx="109728" cy="2743200"/>
          </a:xfrm>
          <a:prstGeom prst="rect">
            <a:avLst/>
          </a:prstGeom>
          <a:solidFill>
            <a:srgbClr val="7B2D26"/>
          </a:solidFill>
          <a:ln w="12700">
            <a:solidFill>
              <a:srgbClr val="7B2D26"/>
            </a:solidFill>
            <a:prstDash val="solid"/>
          </a:ln>
        </p:spPr>
      </p:sp>
      <p:sp>
        <p:nvSpPr>
          <p:cNvPr id="7" name="Text 5"/>
          <p:cNvSpPr/>
          <p:nvPr/>
        </p:nvSpPr>
        <p:spPr>
          <a:xfrm>
            <a:off x="822960" y="1298448"/>
            <a:ext cx="5010912" cy="201168"/>
          </a:xfrm>
          <a:prstGeom prst="rect">
            <a:avLst/>
          </a:prstGeom>
          <a:noFill/>
          <a:ln/>
        </p:spPr>
        <p:txBody>
          <a:bodyPr wrap="square" lIns="0" tIns="0" rIns="0" bIns="0" rtlCol="0" anchor="ctr"/>
          <a:lstStyle/>
          <a:p>
            <a:pPr indent="0" marL="0">
              <a:buNone/>
            </a:pPr>
            <a:r>
              <a:rPr lang="en-US" sz="950" b="1" spc="400" kern="0" dirty="0">
                <a:solidFill>
                  <a:srgbClr val="7B2D26"/>
                </a:solidFill>
                <a:latin typeface="Calibri" pitchFamily="34" charset="0"/>
                <a:ea typeface="Calibri" pitchFamily="34" charset="-122"/>
                <a:cs typeface="Calibri" pitchFamily="34" charset="-120"/>
              </a:rPr>
              <a:t>LOYALIST</a:t>
            </a:r>
            <a:endParaRPr lang="en-US" sz="950" dirty="0"/>
          </a:p>
        </p:txBody>
      </p:sp>
      <p:sp>
        <p:nvSpPr>
          <p:cNvPr id="8" name="Text 6"/>
          <p:cNvSpPr/>
          <p:nvPr/>
        </p:nvSpPr>
        <p:spPr>
          <a:xfrm>
            <a:off x="822960"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SSG Hollis — Administrative NCO, General's Office</a:t>
            </a:r>
            <a:endParaRPr lang="en-US" sz="1200" dirty="0"/>
          </a:p>
        </p:txBody>
      </p:sp>
      <p:sp>
        <p:nvSpPr>
          <p:cNvPr id="9" name="Text 7"/>
          <p:cNvSpPr/>
          <p:nvPr/>
        </p:nvSpPr>
        <p:spPr>
          <a:xfrm>
            <a:off x="822960"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Sheep; Lipman-Blumen: Conformer</a:t>
            </a:r>
            <a:endParaRPr lang="en-US" sz="850" dirty="0"/>
          </a:p>
        </p:txBody>
      </p:sp>
      <p:sp>
        <p:nvSpPr>
          <p:cNvPr id="10" name="Text 8"/>
          <p:cNvSpPr/>
          <p:nvPr/>
        </p:nvSpPr>
        <p:spPr>
          <a:xfrm>
            <a:off x="822960" y="2011680"/>
            <a:ext cx="5010912" cy="1828800"/>
          </a:xfrm>
          <a:prstGeom prst="rect">
            <a:avLst/>
          </a:prstGeom>
          <a:noFill/>
          <a:ln/>
        </p:spPr>
        <p:txBody>
          <a:bodyPr wrap="square" lIns="0" tIns="0" rIns="0" bIns="0" rtlCol="0" anchor="t"/>
          <a:lstStyle/>
          <a:p>
            <a:pPr indent="0" marL="0">
              <a:spcAft>
                <a:spcPts val="200"/>
              </a:spcAft>
              <a:buNone/>
            </a:pPr>
            <a:r>
              <a:rPr lang="en-US" sz="950" i="1" dirty="0">
                <a:solidFill>
                  <a:srgbClr val="14193D"/>
                </a:solidFill>
                <a:latin typeface="Calibri" pitchFamily="34" charset="0"/>
                <a:ea typeface="Calibri" pitchFamily="34" charset="-122"/>
                <a:cs typeface="Calibri" pitchFamily="34" charset="-120"/>
              </a:rPr>
              <a:t>“Roger, sir. I'll cut the TDY orders, get the funds line from G-8, and call the CGSC SGS. We'll have her on the manifest by close of business tomorrow. Standard operating procedure.”</a:t>
            </a:r>
            <a:endParaRPr lang="en-US" sz="950" dirty="0"/>
          </a:p>
          <a:p>
            <a:pPr indent="0" marL="0">
              <a:spcAft>
                <a:spcPts val="200"/>
              </a:spcAft>
              <a:buNone/>
            </a:pPr>
            <a:endParaRPr lang="en-US" sz="9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The most dangerous response. Smooth, fast, and exactly what the general wants to hear.</a:t>
            </a:r>
            <a:endParaRPr lang="en-US" sz="950" dirty="0"/>
          </a:p>
        </p:txBody>
      </p:sp>
      <p:sp>
        <p:nvSpPr>
          <p:cNvPr id="11" name="Shape 9"/>
          <p:cNvSpPr/>
          <p:nvPr/>
        </p:nvSpPr>
        <p:spPr>
          <a:xfrm>
            <a:off x="6144768"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144768" y="1188720"/>
            <a:ext cx="109728" cy="2743200"/>
          </a:xfrm>
          <a:prstGeom prst="rect">
            <a:avLst/>
          </a:prstGeom>
          <a:solidFill>
            <a:srgbClr val="C97B5C"/>
          </a:solidFill>
          <a:ln w="12700">
            <a:solidFill>
              <a:srgbClr val="C97B5C"/>
            </a:solidFill>
            <a:prstDash val="solid"/>
          </a:ln>
        </p:spPr>
      </p:sp>
      <p:sp>
        <p:nvSpPr>
          <p:cNvPr id="13" name="Text 11"/>
          <p:cNvSpPr/>
          <p:nvPr/>
        </p:nvSpPr>
        <p:spPr>
          <a:xfrm>
            <a:off x="6419088" y="1298448"/>
            <a:ext cx="5010912" cy="201168"/>
          </a:xfrm>
          <a:prstGeom prst="rect">
            <a:avLst/>
          </a:prstGeom>
          <a:noFill/>
          <a:ln/>
        </p:spPr>
        <p:txBody>
          <a:bodyPr wrap="square" lIns="0" tIns="0" rIns="0" bIns="0" rtlCol="0" anchor="ctr"/>
          <a:lstStyle/>
          <a:p>
            <a:pPr indent="0" marL="0">
              <a:buNone/>
            </a:pPr>
            <a:r>
              <a:rPr lang="en-US" sz="950" b="1" spc="400" kern="0" dirty="0">
                <a:solidFill>
                  <a:srgbClr val="C97B5C"/>
                </a:solidFill>
                <a:latin typeface="Calibri" pitchFamily="34" charset="0"/>
                <a:ea typeface="Calibri" pitchFamily="34" charset="-122"/>
                <a:cs typeface="Calibri" pitchFamily="34" charset="-120"/>
              </a:rPr>
              <a:t>OPERATOR</a:t>
            </a:r>
            <a:endParaRPr lang="en-US" sz="950" dirty="0"/>
          </a:p>
        </p:txBody>
      </p:sp>
      <p:sp>
        <p:nvSpPr>
          <p:cNvPr id="14" name="Text 12"/>
          <p:cNvSpPr/>
          <p:nvPr/>
        </p:nvSpPr>
        <p:spPr>
          <a:xfrm>
            <a:off x="6419088"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CW3 Bauer — Senior Travel Coordinator (Warrant)</a:t>
            </a:r>
            <a:endParaRPr lang="en-US" sz="1200" dirty="0"/>
          </a:p>
        </p:txBody>
      </p:sp>
      <p:sp>
        <p:nvSpPr>
          <p:cNvPr id="15" name="Text 13"/>
          <p:cNvSpPr/>
          <p:nvPr/>
        </p:nvSpPr>
        <p:spPr>
          <a:xfrm>
            <a:off x="6419088"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Resource; Kellerman: Participant</a:t>
            </a:r>
            <a:endParaRPr lang="en-US" sz="850" dirty="0"/>
          </a:p>
        </p:txBody>
      </p:sp>
      <p:sp>
        <p:nvSpPr>
          <p:cNvPr id="16" name="Text 14"/>
          <p:cNvSpPr/>
          <p:nvPr/>
        </p:nvSpPr>
        <p:spPr>
          <a:xfrm>
            <a:off x="6419088" y="2011680"/>
            <a:ext cx="5010912" cy="1828800"/>
          </a:xfrm>
          <a:prstGeom prst="rect">
            <a:avLst/>
          </a:prstGeom>
          <a:noFill/>
          <a:ln/>
        </p:spPr>
        <p:txBody>
          <a:bodyPr wrap="square" lIns="0" tIns="0" rIns="0" bIns="0" rtlCol="0" anchor="t"/>
          <a:lstStyle/>
          <a:p>
            <a:pPr indent="0" marL="0">
              <a:spcAft>
                <a:spcPts val="200"/>
              </a:spcAft>
              <a:buNone/>
            </a:pPr>
            <a:r>
              <a:rPr lang="en-US" sz="800" i="1" dirty="0">
                <a:solidFill>
                  <a:srgbClr val="14193D"/>
                </a:solidFill>
                <a:latin typeface="Calibri" pitchFamily="34" charset="0"/>
                <a:ea typeface="Calibri" pitchFamily="34" charset="-122"/>
                <a:cs typeface="Calibri" pitchFamily="34" charset="-120"/>
              </a:rPr>
              <a:t>“Sir, here is how we make this clean. We make CGSC the primary stop and Lawrence the leave portion. We schedule the LPD Friday morning, get her on the academic schedule with a sixty-minute slot, then she's officially released to leave Friday at 1800. We claim per diem only for the official day. Mileage is a grey area but if we set it up right, it's defensible. … [full text in scenario book]”</a:t>
            </a:r>
            <a:endParaRPr lang="en-US" sz="800" dirty="0"/>
          </a:p>
          <a:p>
            <a:pPr indent="0" marL="0">
              <a:spcAft>
                <a:spcPts val="200"/>
              </a:spcAft>
              <a:buNone/>
            </a:pPr>
            <a:endParaRPr lang="en-US" sz="80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Sounds professional. Is structurally fraudulent. The grey-area work-around stacks small lies until one of them is the lie that gets noticed.</a:t>
            </a:r>
            <a:endParaRPr lang="en-US" sz="800" dirty="0"/>
          </a:p>
        </p:txBody>
      </p:sp>
      <p:sp>
        <p:nvSpPr>
          <p:cNvPr id="17" name="Shape 15"/>
          <p:cNvSpPr/>
          <p:nvPr/>
        </p:nvSpPr>
        <p:spPr>
          <a:xfrm>
            <a:off x="548640"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8" name="Shape 16"/>
          <p:cNvSpPr/>
          <p:nvPr/>
        </p:nvSpPr>
        <p:spPr>
          <a:xfrm>
            <a:off x="548640" y="4059936"/>
            <a:ext cx="109728" cy="2743200"/>
          </a:xfrm>
          <a:prstGeom prst="rect">
            <a:avLst/>
          </a:prstGeom>
          <a:solidFill>
            <a:srgbClr val="3F5E78"/>
          </a:solidFill>
          <a:ln w="12700">
            <a:solidFill>
              <a:srgbClr val="3F5E78"/>
            </a:solidFill>
            <a:prstDash val="solid"/>
          </a:ln>
        </p:spPr>
      </p:sp>
      <p:sp>
        <p:nvSpPr>
          <p:cNvPr id="19" name="Text 17"/>
          <p:cNvSpPr/>
          <p:nvPr/>
        </p:nvSpPr>
        <p:spPr>
          <a:xfrm>
            <a:off x="822960" y="4169664"/>
            <a:ext cx="5010912" cy="201168"/>
          </a:xfrm>
          <a:prstGeom prst="rect">
            <a:avLst/>
          </a:prstGeom>
          <a:noFill/>
          <a:ln/>
        </p:spPr>
        <p:txBody>
          <a:bodyPr wrap="square" lIns="0" tIns="0" rIns="0" bIns="0" rtlCol="0" anchor="ctr"/>
          <a:lstStyle/>
          <a:p>
            <a:pPr indent="0" marL="0">
              <a:buNone/>
            </a:pPr>
            <a:r>
              <a:rPr lang="en-US" sz="950" b="1" spc="400" kern="0" dirty="0">
                <a:solidFill>
                  <a:srgbClr val="3F5E78"/>
                </a:solidFill>
                <a:latin typeface="Calibri" pitchFamily="34" charset="0"/>
                <a:ea typeface="Calibri" pitchFamily="34" charset="-122"/>
                <a:cs typeface="Calibri" pitchFamily="34" charset="-120"/>
              </a:rPr>
              <a:t>STICKLER</a:t>
            </a:r>
            <a:endParaRPr lang="en-US" sz="950" dirty="0"/>
          </a:p>
        </p:txBody>
      </p:sp>
      <p:sp>
        <p:nvSpPr>
          <p:cNvPr id="20" name="Text 18"/>
          <p:cNvSpPr/>
          <p:nvPr/>
        </p:nvSpPr>
        <p:spPr>
          <a:xfrm>
            <a:off x="822960"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MAJ Petrov — Office Legal Officer (JAG attached)</a:t>
            </a:r>
            <a:endParaRPr lang="en-US" sz="1200" dirty="0"/>
          </a:p>
        </p:txBody>
      </p:sp>
      <p:sp>
        <p:nvSpPr>
          <p:cNvPr id="21" name="Text 19"/>
          <p:cNvSpPr/>
          <p:nvPr/>
        </p:nvSpPr>
        <p:spPr>
          <a:xfrm>
            <a:off x="822960"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Individualist; Kelley: Alienated</a:t>
            </a:r>
            <a:endParaRPr lang="en-US" sz="850" dirty="0"/>
          </a:p>
        </p:txBody>
      </p:sp>
      <p:sp>
        <p:nvSpPr>
          <p:cNvPr id="22" name="Text 20"/>
          <p:cNvSpPr/>
          <p:nvPr/>
        </p:nvSpPr>
        <p:spPr>
          <a:xfrm>
            <a:off x="822960"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“Sir, this is a JTR violation. Full stop. Primary purpose of the TDY must be official, and a manufactured LPD on seventy-two hours notice is going to look exactly like what it is to any IG investigator. I will not sign these orders, and I would recommend you do not direct your aide to either. The general should take leave.”</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Right answer. Will not facilitate the wrong answer. Does not, however, give the general a way to see her grandchild without losing face.</a:t>
            </a:r>
            <a:endParaRPr lang="en-US" sz="850" dirty="0"/>
          </a:p>
        </p:txBody>
      </p:sp>
      <p:sp>
        <p:nvSpPr>
          <p:cNvPr id="23" name="Shape 21"/>
          <p:cNvSpPr/>
          <p:nvPr/>
        </p:nvSpPr>
        <p:spPr>
          <a:xfrm>
            <a:off x="6144768"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4" name="Shape 22"/>
          <p:cNvSpPr/>
          <p:nvPr/>
        </p:nvSpPr>
        <p:spPr>
          <a:xfrm>
            <a:off x="6144768" y="4059936"/>
            <a:ext cx="109728" cy="2743200"/>
          </a:xfrm>
          <a:prstGeom prst="rect">
            <a:avLst/>
          </a:prstGeom>
          <a:solidFill>
            <a:srgbClr val="2C7A4B"/>
          </a:solidFill>
          <a:ln w="12700">
            <a:solidFill>
              <a:srgbClr val="2C7A4B"/>
            </a:solidFill>
            <a:prstDash val="solid"/>
          </a:ln>
        </p:spPr>
      </p:sp>
      <p:sp>
        <p:nvSpPr>
          <p:cNvPr id="25" name="Text 23"/>
          <p:cNvSpPr/>
          <p:nvPr/>
        </p:nvSpPr>
        <p:spPr>
          <a:xfrm>
            <a:off x="6419088" y="4169664"/>
            <a:ext cx="5010912" cy="201168"/>
          </a:xfrm>
          <a:prstGeom prst="rect">
            <a:avLst/>
          </a:prstGeom>
          <a:noFill/>
          <a:ln/>
        </p:spPr>
        <p:txBody>
          <a:bodyPr wrap="square" lIns="0" tIns="0" rIns="0" bIns="0" rtlCol="0" anchor="ctr"/>
          <a:lstStyle/>
          <a:p>
            <a:pPr indent="0" marL="0">
              <a:buNone/>
            </a:pPr>
            <a:r>
              <a:rPr lang="en-US" sz="950" b="1" spc="400" kern="0" dirty="0">
                <a:solidFill>
                  <a:srgbClr val="2C7A4B"/>
                </a:solidFill>
                <a:latin typeface="Calibri" pitchFamily="34" charset="0"/>
                <a:ea typeface="Calibri" pitchFamily="34" charset="-122"/>
                <a:cs typeface="Calibri" pitchFamily="34" charset="-120"/>
              </a:rPr>
              <a:t>PARTNER</a:t>
            </a:r>
            <a:endParaRPr lang="en-US" sz="950" dirty="0"/>
          </a:p>
        </p:txBody>
      </p:sp>
      <p:sp>
        <p:nvSpPr>
          <p:cNvPr id="26" name="Text 24"/>
          <p:cNvSpPr/>
          <p:nvPr/>
        </p:nvSpPr>
        <p:spPr>
          <a:xfrm>
            <a:off x="6419088"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CSM Reyes — Office Sergeant Major</a:t>
            </a:r>
            <a:endParaRPr lang="en-US" sz="1200" dirty="0"/>
          </a:p>
        </p:txBody>
      </p:sp>
      <p:sp>
        <p:nvSpPr>
          <p:cNvPr id="27" name="Text 25"/>
          <p:cNvSpPr/>
          <p:nvPr/>
        </p:nvSpPr>
        <p:spPr>
          <a:xfrm>
            <a:off x="6419088"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Partner; Practitioner of Intelligent Disobedience</a:t>
            </a:r>
            <a:endParaRPr lang="en-US" sz="850" dirty="0"/>
          </a:p>
        </p:txBody>
      </p:sp>
      <p:sp>
        <p:nvSpPr>
          <p:cNvPr id="28" name="Text 26"/>
          <p:cNvSpPr/>
          <p:nvPr/>
        </p:nvSpPr>
        <p:spPr>
          <a:xfrm>
            <a:off x="6419088"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“Sir, with respect, the General does not want a JTR violation. She wants to see her grandkids and stay relevant to the force. Three options. One: she takes leave Friday through Sunday, no orders, military hop on space-A out of Andrews to McConnell, returns Monday on a commercial ticket she pays for. Quietest, cleanest. Two: … [full text in scenario book]”</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Frames the issue as protecting the general's legacy rather than blocking her wishes. Recruits the CSM as a co-deliverer of the message.</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3</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Decision Tree and Outcomes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40080"/>
                <a:gridCol w="2103120"/>
                <a:gridCol w="2377440"/>
                <a:gridCol w="4572000"/>
                <a:gridCol w="1371600"/>
              </a:tblGrid>
              <a:tr h="868680">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IMMEDIATE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A</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Cut the TDY orders for a manufactured LPD at CGSC.</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General arrives in Leavenworth Friday afternoon. Manufactured LPD held for forty minutes Friday at 1500 with whichever students the CGSC SGS could pull together on short notice.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A CGSC student-officer who has just taken the JAG Officer Basic Course module on travel fraud notes the seventy-two-hour-notice engagement. Files an IG complaint. Investigation traces orders to the aide. General retires under cloud, appears in the next IG annual report. Aide reduced in rank, removed from promotion list, processed out.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B</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Build the 'clean' itinerary that masks personal travel as official.</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Trip executes. Looks normal. Per-diem claim processed.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Routine DoD IG audit two years later samples the travel voucher. Auditor notes the seventy-two-hour engagement build, the leave-following pattern, the unusually convenient location of the daughter's residence. Refers for investigation. Same end state as Path A but two years later, with the additional finding that the aide knew enough to construct the cover story, which is treated as an aggravating factor.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 (delayed)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C</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Refuse to cut orders. No alternative offered to the general.</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General is annoyed. Aide is sidelined for the weekend's planning. General either takes leave on her own or finds another aide willing to cut the orders.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Best case: general takes leave, sees the baby, returns. Aide retains integrity but loses some access to the principal. Worst case: another staff officer cuts the orders and Path A unfolds anyway, with the original aide on the periphery and reputationally tarred for being 'unhelpful.' Outcome depends on whether the general respects the refusal.</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CONDITIONAL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574"/>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D</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CSM and aide brief together; offer leave + future legitimate engagement.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General initially defensive but recognizes the framing. Takes Option One: leave on a space-A hop. Sees the baby. No orders cut. No exposure.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Two months later, CGSC Commandant invites her properly for a commencement-week LPD. She accepts. The visit is on the books, on the agenda, and on the merits. Aide retains principal access and full trust. General retires clean.</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4B"/>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3 — The General's Personal-Travel TDY</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292608"/>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3  ·  DECISION TREE</a:t>
            </a:r>
            <a:endParaRPr lang="en-US" sz="1000" dirty="0"/>
          </a:p>
        </p:txBody>
      </p:sp>
      <p:sp>
        <p:nvSpPr>
          <p:cNvPr id="4" name="Text 2"/>
          <p:cNvSpPr/>
          <p:nvPr/>
        </p:nvSpPr>
        <p:spPr>
          <a:xfrm>
            <a:off x="548640" y="548640"/>
            <a:ext cx="110642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Paths from order to outcome</a:t>
            </a:r>
            <a:endParaRPr lang="en-US" sz="1800" dirty="0"/>
          </a:p>
        </p:txBody>
      </p:sp>
      <p:sp>
        <p:nvSpPr>
          <p:cNvPr id="5" name="Shape 3"/>
          <p:cNvSpPr/>
          <p:nvPr/>
        </p:nvSpPr>
        <p:spPr>
          <a:xfrm>
            <a:off x="3337560" y="960120"/>
            <a:ext cx="5486400" cy="640080"/>
          </a:xfrm>
          <a:prstGeom prst="rect">
            <a:avLst/>
          </a:prstGeom>
          <a:solidFill>
            <a:srgbClr val="14193D"/>
          </a:solidFill>
          <a:ln w="12700">
            <a:solidFill>
              <a:srgbClr val="14193D"/>
            </a:solidFill>
            <a:prstDash val="solid"/>
          </a:ln>
          <a:effectLst>
            <a:outerShdw sx="100000" sy="100000" kx="0" ky="0" algn="bl" rotWithShape="0" blurRad="152400" dist="38100" dir="5400000">
              <a:srgbClr val="000000">
                <a:alpha val="10000"/>
              </a:srgbClr>
            </a:outerShdw>
          </a:effectLst>
        </p:spPr>
      </p:sp>
      <p:sp>
        <p:nvSpPr>
          <p:cNvPr id="6" name="Text 4"/>
          <p:cNvSpPr/>
          <p:nvPr/>
        </p:nvSpPr>
        <p:spPr>
          <a:xfrm>
            <a:off x="3474720" y="1014984"/>
            <a:ext cx="5212080" cy="182880"/>
          </a:xfrm>
          <a:prstGeom prst="rect">
            <a:avLst/>
          </a:prstGeom>
          <a:noFill/>
          <a:ln/>
        </p:spPr>
        <p:txBody>
          <a:bodyPr wrap="square" lIns="0" tIns="0" rIns="0" bIns="0" rtlCol="0" anchor="ctr"/>
          <a:lstStyle/>
          <a:p>
            <a:pPr indent="0" marL="0">
              <a:buNone/>
            </a:pPr>
            <a:r>
              <a:rPr lang="en-US" sz="850" b="1" spc="400" kern="0" dirty="0">
                <a:solidFill>
                  <a:srgbClr val="B85042"/>
                </a:solidFill>
                <a:latin typeface="Calibri" pitchFamily="34" charset="0"/>
                <a:ea typeface="Calibri" pitchFamily="34" charset="-122"/>
                <a:cs typeface="Calibri" pitchFamily="34" charset="-120"/>
              </a:rPr>
              <a:t>THE ORDER</a:t>
            </a:r>
            <a:endParaRPr lang="en-US" sz="850" dirty="0"/>
          </a:p>
        </p:txBody>
      </p:sp>
      <p:sp>
        <p:nvSpPr>
          <p:cNvPr id="7" name="Text 5"/>
          <p:cNvSpPr/>
          <p:nvPr/>
        </p:nvSpPr>
        <p:spPr>
          <a:xfrm>
            <a:off x="3474720" y="1197864"/>
            <a:ext cx="5212080" cy="36576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“LTG Burke: 'Hey, schedule me a TDY out to Leavenworth Friday afternoon. Coordinate an LPD with the CGSC students, the Commandant will love to have me. …”</a:t>
            </a:r>
            <a:endParaRPr lang="en-US" sz="900" dirty="0"/>
          </a:p>
        </p:txBody>
      </p:sp>
      <p:sp>
        <p:nvSpPr>
          <p:cNvPr id="8" name="Shape 6"/>
          <p:cNvSpPr/>
          <p:nvPr/>
        </p:nvSpPr>
        <p:spPr>
          <a:xfrm>
            <a:off x="6080760" y="1600200"/>
            <a:ext cx="0" cy="137160"/>
          </a:xfrm>
          <a:prstGeom prst="line">
            <a:avLst/>
          </a:prstGeom>
          <a:noFill/>
          <a:ln w="15875">
            <a:solidFill>
              <a:srgbClr val="94A3B8"/>
            </a:solidFill>
            <a:prstDash val="solid"/>
          </a:ln>
        </p:spPr>
      </p:sp>
      <p:sp>
        <p:nvSpPr>
          <p:cNvPr id="9" name="Shape 7"/>
          <p:cNvSpPr/>
          <p:nvPr/>
        </p:nvSpPr>
        <p:spPr>
          <a:xfrm>
            <a:off x="1869948" y="1737360"/>
            <a:ext cx="8421624" cy="0"/>
          </a:xfrm>
          <a:prstGeom prst="line">
            <a:avLst/>
          </a:prstGeom>
          <a:noFill/>
          <a:ln w="15875">
            <a:solidFill>
              <a:srgbClr val="94A3B8"/>
            </a:solidFill>
            <a:prstDash val="solid"/>
          </a:ln>
        </p:spPr>
      </p:sp>
      <p:sp>
        <p:nvSpPr>
          <p:cNvPr id="10" name="Shape 8"/>
          <p:cNvSpPr/>
          <p:nvPr/>
        </p:nvSpPr>
        <p:spPr>
          <a:xfrm>
            <a:off x="1869948" y="1737360"/>
            <a:ext cx="0" cy="137160"/>
          </a:xfrm>
          <a:prstGeom prst="line">
            <a:avLst/>
          </a:prstGeom>
          <a:noFill/>
          <a:ln w="15875">
            <a:solidFill>
              <a:srgbClr val="94A3B8"/>
            </a:solidFill>
            <a:prstDash val="solid"/>
          </a:ln>
        </p:spPr>
      </p:sp>
      <p:sp>
        <p:nvSpPr>
          <p:cNvPr id="11" name="Shape 9"/>
          <p:cNvSpPr/>
          <p:nvPr/>
        </p:nvSpPr>
        <p:spPr>
          <a:xfrm>
            <a:off x="4677156" y="1737360"/>
            <a:ext cx="0" cy="137160"/>
          </a:xfrm>
          <a:prstGeom prst="line">
            <a:avLst/>
          </a:prstGeom>
          <a:noFill/>
          <a:ln w="15875">
            <a:solidFill>
              <a:srgbClr val="94A3B8"/>
            </a:solidFill>
            <a:prstDash val="solid"/>
          </a:ln>
        </p:spPr>
      </p:sp>
      <p:sp>
        <p:nvSpPr>
          <p:cNvPr id="12" name="Shape 10"/>
          <p:cNvSpPr/>
          <p:nvPr/>
        </p:nvSpPr>
        <p:spPr>
          <a:xfrm>
            <a:off x="7484364" y="1737360"/>
            <a:ext cx="0" cy="137160"/>
          </a:xfrm>
          <a:prstGeom prst="line">
            <a:avLst/>
          </a:prstGeom>
          <a:noFill/>
          <a:ln w="15875">
            <a:solidFill>
              <a:srgbClr val="94A3B8"/>
            </a:solidFill>
            <a:prstDash val="solid"/>
          </a:ln>
        </p:spPr>
      </p:sp>
      <p:sp>
        <p:nvSpPr>
          <p:cNvPr id="13" name="Shape 11"/>
          <p:cNvSpPr/>
          <p:nvPr/>
        </p:nvSpPr>
        <p:spPr>
          <a:xfrm>
            <a:off x="10291572" y="1737360"/>
            <a:ext cx="0" cy="137160"/>
          </a:xfrm>
          <a:prstGeom prst="line">
            <a:avLst/>
          </a:prstGeom>
          <a:noFill/>
          <a:ln w="15875">
            <a:solidFill>
              <a:srgbClr val="94A3B8"/>
            </a:solidFill>
            <a:prstDash val="solid"/>
          </a:ln>
        </p:spPr>
      </p:sp>
      <p:sp>
        <p:nvSpPr>
          <p:cNvPr id="14" name="Shape 12"/>
          <p:cNvSpPr/>
          <p:nvPr/>
        </p:nvSpPr>
        <p:spPr>
          <a:xfrm>
            <a:off x="548640" y="1874520"/>
            <a:ext cx="2642616" cy="548640"/>
          </a:xfrm>
          <a:prstGeom prst="rect">
            <a:avLst/>
          </a:prstGeom>
          <a:solidFill>
            <a:srgbClr val="B85042"/>
          </a:solidFill>
          <a:ln w="12700">
            <a:solidFill>
              <a:srgbClr val="B85042"/>
            </a:solidFill>
            <a:prstDash val="solid"/>
          </a:ln>
        </p:spPr>
      </p:sp>
      <p:sp>
        <p:nvSpPr>
          <p:cNvPr id="15" name="Text 13"/>
          <p:cNvSpPr/>
          <p:nvPr/>
        </p:nvSpPr>
        <p:spPr>
          <a:xfrm>
            <a:off x="685800"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A</a:t>
            </a:r>
            <a:endParaRPr lang="en-US" sz="900" dirty="0"/>
          </a:p>
        </p:txBody>
      </p:sp>
      <p:sp>
        <p:nvSpPr>
          <p:cNvPr id="16" name="Text 14"/>
          <p:cNvSpPr/>
          <p:nvPr/>
        </p:nvSpPr>
        <p:spPr>
          <a:xfrm>
            <a:off x="685800"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Career-ending for the aide. Reputation-ending for the …</a:t>
            </a:r>
            <a:endParaRPr lang="en-US" sz="1050" dirty="0"/>
          </a:p>
        </p:txBody>
      </p:sp>
      <p:sp>
        <p:nvSpPr>
          <p:cNvPr id="17" name="Shape 15"/>
          <p:cNvSpPr/>
          <p:nvPr/>
        </p:nvSpPr>
        <p:spPr>
          <a:xfrm>
            <a:off x="1869948" y="2423160"/>
            <a:ext cx="0" cy="45720"/>
          </a:xfrm>
          <a:prstGeom prst="line">
            <a:avLst/>
          </a:prstGeom>
          <a:noFill/>
          <a:ln w="12700">
            <a:solidFill>
              <a:srgbClr val="94A3B8"/>
            </a:solidFill>
            <a:prstDash val="solid"/>
          </a:ln>
        </p:spPr>
      </p:sp>
      <p:sp>
        <p:nvSpPr>
          <p:cNvPr id="18" name="Shape 16"/>
          <p:cNvSpPr/>
          <p:nvPr/>
        </p:nvSpPr>
        <p:spPr>
          <a:xfrm>
            <a:off x="548640" y="2468880"/>
            <a:ext cx="2642616" cy="457200"/>
          </a:xfrm>
          <a:prstGeom prst="rect">
            <a:avLst/>
          </a:prstGeom>
          <a:solidFill>
            <a:srgbClr val="F4F1EC"/>
          </a:solidFill>
          <a:ln w="6350">
            <a:solidFill>
              <a:srgbClr val="E2E8F0"/>
            </a:solidFill>
            <a:prstDash val="solid"/>
          </a:ln>
        </p:spPr>
      </p:sp>
      <p:sp>
        <p:nvSpPr>
          <p:cNvPr id="19" name="Shape 17"/>
          <p:cNvSpPr/>
          <p:nvPr/>
        </p:nvSpPr>
        <p:spPr>
          <a:xfrm>
            <a:off x="548640" y="2468880"/>
            <a:ext cx="54864" cy="457200"/>
          </a:xfrm>
          <a:prstGeom prst="rect">
            <a:avLst/>
          </a:prstGeom>
          <a:solidFill>
            <a:srgbClr val="B85042"/>
          </a:solidFill>
          <a:ln w="12700">
            <a:solidFill>
              <a:srgbClr val="B85042"/>
            </a:solidFill>
            <a:prstDash val="solid"/>
          </a:ln>
        </p:spPr>
      </p:sp>
      <p:sp>
        <p:nvSpPr>
          <p:cNvPr id="20" name="Text 18"/>
          <p:cNvSpPr/>
          <p:nvPr/>
        </p:nvSpPr>
        <p:spPr>
          <a:xfrm>
            <a:off x="713232"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21" name="Text 19"/>
          <p:cNvSpPr/>
          <p:nvPr/>
        </p:nvSpPr>
        <p:spPr>
          <a:xfrm>
            <a:off x="713232"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Loyalist (SSG Hollis)</a:t>
            </a:r>
            <a:endParaRPr lang="en-US" sz="950" dirty="0"/>
          </a:p>
        </p:txBody>
      </p:sp>
      <p:sp>
        <p:nvSpPr>
          <p:cNvPr id="22" name="Shape 20"/>
          <p:cNvSpPr/>
          <p:nvPr/>
        </p:nvSpPr>
        <p:spPr>
          <a:xfrm>
            <a:off x="548640" y="2971800"/>
            <a:ext cx="2642616" cy="548640"/>
          </a:xfrm>
          <a:prstGeom prst="rect">
            <a:avLst/>
          </a:prstGeom>
          <a:solidFill>
            <a:srgbClr val="F4F1EC"/>
          </a:solidFill>
          <a:ln w="6350">
            <a:solidFill>
              <a:srgbClr val="E2E8F0"/>
            </a:solidFill>
            <a:prstDash val="solid"/>
          </a:ln>
        </p:spPr>
      </p:sp>
      <p:sp>
        <p:nvSpPr>
          <p:cNvPr id="23" name="Shape 21"/>
          <p:cNvSpPr/>
          <p:nvPr/>
        </p:nvSpPr>
        <p:spPr>
          <a:xfrm>
            <a:off x="548640" y="2971800"/>
            <a:ext cx="54864" cy="548640"/>
          </a:xfrm>
          <a:prstGeom prst="rect">
            <a:avLst/>
          </a:prstGeom>
          <a:solidFill>
            <a:srgbClr val="B85042"/>
          </a:solidFill>
          <a:ln w="12700">
            <a:solidFill>
              <a:srgbClr val="B85042"/>
            </a:solidFill>
            <a:prstDash val="solid"/>
          </a:ln>
        </p:spPr>
      </p:sp>
      <p:sp>
        <p:nvSpPr>
          <p:cNvPr id="24" name="Text 22"/>
          <p:cNvSpPr/>
          <p:nvPr/>
        </p:nvSpPr>
        <p:spPr>
          <a:xfrm>
            <a:off x="713232"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25" name="Text 23"/>
          <p:cNvSpPr/>
          <p:nvPr/>
        </p:nvSpPr>
        <p:spPr>
          <a:xfrm>
            <a:off x="713232"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Cut the TDY orders for a manufactured LPD at CGSC.</a:t>
            </a:r>
            <a:endParaRPr lang="en-US" sz="900" dirty="0"/>
          </a:p>
        </p:txBody>
      </p:sp>
      <p:sp>
        <p:nvSpPr>
          <p:cNvPr id="26" name="Shape 24"/>
          <p:cNvSpPr/>
          <p:nvPr/>
        </p:nvSpPr>
        <p:spPr>
          <a:xfrm>
            <a:off x="548640" y="3566160"/>
            <a:ext cx="2642616" cy="685800"/>
          </a:xfrm>
          <a:prstGeom prst="rect">
            <a:avLst/>
          </a:prstGeom>
          <a:solidFill>
            <a:srgbClr val="F4F1EC"/>
          </a:solidFill>
          <a:ln w="6350">
            <a:solidFill>
              <a:srgbClr val="E2E8F0"/>
            </a:solidFill>
            <a:prstDash val="solid"/>
          </a:ln>
        </p:spPr>
      </p:sp>
      <p:sp>
        <p:nvSpPr>
          <p:cNvPr id="27" name="Shape 25"/>
          <p:cNvSpPr/>
          <p:nvPr/>
        </p:nvSpPr>
        <p:spPr>
          <a:xfrm>
            <a:off x="548640" y="3566160"/>
            <a:ext cx="54864" cy="685800"/>
          </a:xfrm>
          <a:prstGeom prst="rect">
            <a:avLst/>
          </a:prstGeom>
          <a:solidFill>
            <a:srgbClr val="B85042"/>
          </a:solidFill>
          <a:ln w="12700">
            <a:solidFill>
              <a:srgbClr val="B85042"/>
            </a:solidFill>
            <a:prstDash val="solid"/>
          </a:ln>
        </p:spPr>
      </p:sp>
      <p:sp>
        <p:nvSpPr>
          <p:cNvPr id="28" name="Text 26"/>
          <p:cNvSpPr/>
          <p:nvPr/>
        </p:nvSpPr>
        <p:spPr>
          <a:xfrm>
            <a:off x="713232"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29" name="Text 27"/>
          <p:cNvSpPr/>
          <p:nvPr/>
        </p:nvSpPr>
        <p:spPr>
          <a:xfrm>
            <a:off x="713232"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General arrives in Leavenworth Friday afternoon. Manufactured LPD held for forty minutes Friday at 1500 with whichever students the CGSC SGS could pull together on short notice.</a:t>
            </a:r>
            <a:endParaRPr lang="en-US" sz="850" dirty="0"/>
          </a:p>
        </p:txBody>
      </p:sp>
      <p:sp>
        <p:nvSpPr>
          <p:cNvPr id="30" name="Shape 28"/>
          <p:cNvSpPr/>
          <p:nvPr/>
        </p:nvSpPr>
        <p:spPr>
          <a:xfrm>
            <a:off x="548640" y="4297680"/>
            <a:ext cx="2642616" cy="1417320"/>
          </a:xfrm>
          <a:prstGeom prst="rect">
            <a:avLst/>
          </a:prstGeom>
          <a:solidFill>
            <a:srgbClr val="F4F1EC"/>
          </a:solidFill>
          <a:ln w="6350">
            <a:solidFill>
              <a:srgbClr val="E2E8F0"/>
            </a:solidFill>
            <a:prstDash val="solid"/>
          </a:ln>
        </p:spPr>
      </p:sp>
      <p:sp>
        <p:nvSpPr>
          <p:cNvPr id="31" name="Shape 29"/>
          <p:cNvSpPr/>
          <p:nvPr/>
        </p:nvSpPr>
        <p:spPr>
          <a:xfrm>
            <a:off x="548640" y="4297680"/>
            <a:ext cx="54864" cy="1417320"/>
          </a:xfrm>
          <a:prstGeom prst="rect">
            <a:avLst/>
          </a:prstGeom>
          <a:solidFill>
            <a:srgbClr val="B85042"/>
          </a:solidFill>
          <a:ln w="12700">
            <a:solidFill>
              <a:srgbClr val="B85042"/>
            </a:solidFill>
            <a:prstDash val="solid"/>
          </a:ln>
        </p:spPr>
      </p:sp>
      <p:sp>
        <p:nvSpPr>
          <p:cNvPr id="32" name="Text 30"/>
          <p:cNvSpPr/>
          <p:nvPr/>
        </p:nvSpPr>
        <p:spPr>
          <a:xfrm>
            <a:off x="713232"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33" name="Text 31"/>
          <p:cNvSpPr/>
          <p:nvPr/>
        </p:nvSpPr>
        <p:spPr>
          <a:xfrm>
            <a:off x="713232"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A CGSC student-officer who has just taken the JAG Officer Basic Course module on travel fraud notes the seventy-two-hour-notice engagement. Files an IG complaint. Investigation traces orders to the aide. General retires under cloud, appears in the next IG annual report. Aide reduced in rank, removed from promotion list, processed out.</a:t>
            </a:r>
            <a:endParaRPr lang="en-US" sz="800" dirty="0"/>
          </a:p>
        </p:txBody>
      </p:sp>
      <p:sp>
        <p:nvSpPr>
          <p:cNvPr id="34" name="Shape 32"/>
          <p:cNvSpPr/>
          <p:nvPr/>
        </p:nvSpPr>
        <p:spPr>
          <a:xfrm>
            <a:off x="1869948" y="2926080"/>
            <a:ext cx="0" cy="45720"/>
          </a:xfrm>
          <a:prstGeom prst="line">
            <a:avLst/>
          </a:prstGeom>
          <a:noFill/>
          <a:ln w="12700">
            <a:solidFill>
              <a:srgbClr val="94A3B8"/>
            </a:solidFill>
            <a:prstDash val="solid"/>
          </a:ln>
        </p:spPr>
      </p:sp>
      <p:sp>
        <p:nvSpPr>
          <p:cNvPr id="35" name="Shape 33"/>
          <p:cNvSpPr/>
          <p:nvPr/>
        </p:nvSpPr>
        <p:spPr>
          <a:xfrm>
            <a:off x="1869948" y="3520440"/>
            <a:ext cx="0" cy="45720"/>
          </a:xfrm>
          <a:prstGeom prst="line">
            <a:avLst/>
          </a:prstGeom>
          <a:noFill/>
          <a:ln w="12700">
            <a:solidFill>
              <a:srgbClr val="94A3B8"/>
            </a:solidFill>
            <a:prstDash val="solid"/>
          </a:ln>
        </p:spPr>
      </p:sp>
      <p:sp>
        <p:nvSpPr>
          <p:cNvPr id="36" name="Shape 34"/>
          <p:cNvSpPr/>
          <p:nvPr/>
        </p:nvSpPr>
        <p:spPr>
          <a:xfrm>
            <a:off x="1869948" y="4251960"/>
            <a:ext cx="0" cy="45720"/>
          </a:xfrm>
          <a:prstGeom prst="line">
            <a:avLst/>
          </a:prstGeom>
          <a:noFill/>
          <a:ln w="12700">
            <a:solidFill>
              <a:srgbClr val="94A3B8"/>
            </a:solidFill>
            <a:prstDash val="solid"/>
          </a:ln>
        </p:spPr>
      </p:sp>
      <p:sp>
        <p:nvSpPr>
          <p:cNvPr id="37" name="Shape 35"/>
          <p:cNvSpPr/>
          <p:nvPr/>
        </p:nvSpPr>
        <p:spPr>
          <a:xfrm>
            <a:off x="1869948" y="5715000"/>
            <a:ext cx="0" cy="45720"/>
          </a:xfrm>
          <a:prstGeom prst="line">
            <a:avLst/>
          </a:prstGeom>
          <a:noFill/>
          <a:ln w="12700">
            <a:solidFill>
              <a:srgbClr val="94A3B8"/>
            </a:solidFill>
            <a:prstDash val="solid"/>
          </a:ln>
        </p:spPr>
      </p:sp>
      <p:sp>
        <p:nvSpPr>
          <p:cNvPr id="38" name="Shape 36"/>
          <p:cNvSpPr/>
          <p:nvPr/>
        </p:nvSpPr>
        <p:spPr>
          <a:xfrm>
            <a:off x="548640" y="5760720"/>
            <a:ext cx="2642616" cy="411480"/>
          </a:xfrm>
          <a:prstGeom prst="rect">
            <a:avLst/>
          </a:prstGeom>
          <a:solidFill>
            <a:srgbClr val="B85042"/>
          </a:solidFill>
          <a:ln w="12700">
            <a:solidFill>
              <a:srgbClr val="B85042"/>
            </a:solidFill>
            <a:prstDash val="solid"/>
          </a:ln>
        </p:spPr>
      </p:sp>
      <p:sp>
        <p:nvSpPr>
          <p:cNvPr id="39" name="Text 37"/>
          <p:cNvSpPr/>
          <p:nvPr/>
        </p:nvSpPr>
        <p:spPr>
          <a:xfrm>
            <a:off x="685800"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a:t>
            </a:r>
            <a:endParaRPr lang="en-US" sz="1100" dirty="0"/>
          </a:p>
        </p:txBody>
      </p:sp>
      <p:sp>
        <p:nvSpPr>
          <p:cNvPr id="40" name="Shape 38"/>
          <p:cNvSpPr/>
          <p:nvPr/>
        </p:nvSpPr>
        <p:spPr>
          <a:xfrm>
            <a:off x="3355848" y="1874520"/>
            <a:ext cx="2642616" cy="548640"/>
          </a:xfrm>
          <a:prstGeom prst="rect">
            <a:avLst/>
          </a:prstGeom>
          <a:solidFill>
            <a:srgbClr val="B85042"/>
          </a:solidFill>
          <a:ln w="12700">
            <a:solidFill>
              <a:srgbClr val="B85042"/>
            </a:solidFill>
            <a:prstDash val="solid"/>
          </a:ln>
        </p:spPr>
      </p:sp>
      <p:sp>
        <p:nvSpPr>
          <p:cNvPr id="41" name="Text 39"/>
          <p:cNvSpPr/>
          <p:nvPr/>
        </p:nvSpPr>
        <p:spPr>
          <a:xfrm>
            <a:off x="3493008"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B</a:t>
            </a:r>
            <a:endParaRPr lang="en-US" sz="900" dirty="0"/>
          </a:p>
        </p:txBody>
      </p:sp>
      <p:sp>
        <p:nvSpPr>
          <p:cNvPr id="42" name="Text 40"/>
          <p:cNvSpPr/>
          <p:nvPr/>
        </p:nvSpPr>
        <p:spPr>
          <a:xfrm>
            <a:off x="3493008"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Same outcome as Path A, plus aggravation. …</a:t>
            </a:r>
            <a:endParaRPr lang="en-US" sz="1050" dirty="0"/>
          </a:p>
        </p:txBody>
      </p:sp>
      <p:sp>
        <p:nvSpPr>
          <p:cNvPr id="43" name="Shape 41"/>
          <p:cNvSpPr/>
          <p:nvPr/>
        </p:nvSpPr>
        <p:spPr>
          <a:xfrm>
            <a:off x="4677156" y="2423160"/>
            <a:ext cx="0" cy="45720"/>
          </a:xfrm>
          <a:prstGeom prst="line">
            <a:avLst/>
          </a:prstGeom>
          <a:noFill/>
          <a:ln w="12700">
            <a:solidFill>
              <a:srgbClr val="94A3B8"/>
            </a:solidFill>
            <a:prstDash val="solid"/>
          </a:ln>
        </p:spPr>
      </p:sp>
      <p:sp>
        <p:nvSpPr>
          <p:cNvPr id="44" name="Shape 42"/>
          <p:cNvSpPr/>
          <p:nvPr/>
        </p:nvSpPr>
        <p:spPr>
          <a:xfrm>
            <a:off x="3355848" y="2468880"/>
            <a:ext cx="2642616" cy="457200"/>
          </a:xfrm>
          <a:prstGeom prst="rect">
            <a:avLst/>
          </a:prstGeom>
          <a:solidFill>
            <a:srgbClr val="F4F1EC"/>
          </a:solidFill>
          <a:ln w="6350">
            <a:solidFill>
              <a:srgbClr val="E2E8F0"/>
            </a:solidFill>
            <a:prstDash val="solid"/>
          </a:ln>
        </p:spPr>
      </p:sp>
      <p:sp>
        <p:nvSpPr>
          <p:cNvPr id="45" name="Shape 43"/>
          <p:cNvSpPr/>
          <p:nvPr/>
        </p:nvSpPr>
        <p:spPr>
          <a:xfrm>
            <a:off x="3355848" y="2468880"/>
            <a:ext cx="54864" cy="457200"/>
          </a:xfrm>
          <a:prstGeom prst="rect">
            <a:avLst/>
          </a:prstGeom>
          <a:solidFill>
            <a:srgbClr val="B85042"/>
          </a:solidFill>
          <a:ln w="12700">
            <a:solidFill>
              <a:srgbClr val="B85042"/>
            </a:solidFill>
            <a:prstDash val="solid"/>
          </a:ln>
        </p:spPr>
      </p:sp>
      <p:sp>
        <p:nvSpPr>
          <p:cNvPr id="46" name="Text 44"/>
          <p:cNvSpPr/>
          <p:nvPr/>
        </p:nvSpPr>
        <p:spPr>
          <a:xfrm>
            <a:off x="3520440"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47" name="Text 45"/>
          <p:cNvSpPr/>
          <p:nvPr/>
        </p:nvSpPr>
        <p:spPr>
          <a:xfrm>
            <a:off x="3520440"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Operator (CW3 Bauer)</a:t>
            </a:r>
            <a:endParaRPr lang="en-US" sz="950" dirty="0"/>
          </a:p>
        </p:txBody>
      </p:sp>
      <p:sp>
        <p:nvSpPr>
          <p:cNvPr id="48" name="Shape 46"/>
          <p:cNvSpPr/>
          <p:nvPr/>
        </p:nvSpPr>
        <p:spPr>
          <a:xfrm>
            <a:off x="3355848" y="2971800"/>
            <a:ext cx="2642616" cy="548640"/>
          </a:xfrm>
          <a:prstGeom prst="rect">
            <a:avLst/>
          </a:prstGeom>
          <a:solidFill>
            <a:srgbClr val="F4F1EC"/>
          </a:solidFill>
          <a:ln w="6350">
            <a:solidFill>
              <a:srgbClr val="E2E8F0"/>
            </a:solidFill>
            <a:prstDash val="solid"/>
          </a:ln>
        </p:spPr>
      </p:sp>
      <p:sp>
        <p:nvSpPr>
          <p:cNvPr id="49" name="Shape 47"/>
          <p:cNvSpPr/>
          <p:nvPr/>
        </p:nvSpPr>
        <p:spPr>
          <a:xfrm>
            <a:off x="3355848" y="2971800"/>
            <a:ext cx="54864" cy="548640"/>
          </a:xfrm>
          <a:prstGeom prst="rect">
            <a:avLst/>
          </a:prstGeom>
          <a:solidFill>
            <a:srgbClr val="B85042"/>
          </a:solidFill>
          <a:ln w="12700">
            <a:solidFill>
              <a:srgbClr val="B85042"/>
            </a:solidFill>
            <a:prstDash val="solid"/>
          </a:ln>
        </p:spPr>
      </p:sp>
      <p:sp>
        <p:nvSpPr>
          <p:cNvPr id="50" name="Text 48"/>
          <p:cNvSpPr/>
          <p:nvPr/>
        </p:nvSpPr>
        <p:spPr>
          <a:xfrm>
            <a:off x="3520440"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51" name="Text 49"/>
          <p:cNvSpPr/>
          <p:nvPr/>
        </p:nvSpPr>
        <p:spPr>
          <a:xfrm>
            <a:off x="3520440"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Build the 'clean' itinerary that masks personal travel as official.</a:t>
            </a:r>
            <a:endParaRPr lang="en-US" sz="900" dirty="0"/>
          </a:p>
        </p:txBody>
      </p:sp>
      <p:sp>
        <p:nvSpPr>
          <p:cNvPr id="52" name="Shape 50"/>
          <p:cNvSpPr/>
          <p:nvPr/>
        </p:nvSpPr>
        <p:spPr>
          <a:xfrm>
            <a:off x="3355848" y="3566160"/>
            <a:ext cx="2642616" cy="685800"/>
          </a:xfrm>
          <a:prstGeom prst="rect">
            <a:avLst/>
          </a:prstGeom>
          <a:solidFill>
            <a:srgbClr val="F4F1EC"/>
          </a:solidFill>
          <a:ln w="6350">
            <a:solidFill>
              <a:srgbClr val="E2E8F0"/>
            </a:solidFill>
            <a:prstDash val="solid"/>
          </a:ln>
        </p:spPr>
      </p:sp>
      <p:sp>
        <p:nvSpPr>
          <p:cNvPr id="53" name="Shape 51"/>
          <p:cNvSpPr/>
          <p:nvPr/>
        </p:nvSpPr>
        <p:spPr>
          <a:xfrm>
            <a:off x="3355848" y="3566160"/>
            <a:ext cx="54864" cy="685800"/>
          </a:xfrm>
          <a:prstGeom prst="rect">
            <a:avLst/>
          </a:prstGeom>
          <a:solidFill>
            <a:srgbClr val="B85042"/>
          </a:solidFill>
          <a:ln w="12700">
            <a:solidFill>
              <a:srgbClr val="B85042"/>
            </a:solidFill>
            <a:prstDash val="solid"/>
          </a:ln>
        </p:spPr>
      </p:sp>
      <p:sp>
        <p:nvSpPr>
          <p:cNvPr id="54" name="Text 52"/>
          <p:cNvSpPr/>
          <p:nvPr/>
        </p:nvSpPr>
        <p:spPr>
          <a:xfrm>
            <a:off x="3520440"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55" name="Text 53"/>
          <p:cNvSpPr/>
          <p:nvPr/>
        </p:nvSpPr>
        <p:spPr>
          <a:xfrm>
            <a:off x="3520440"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Trip executes. Looks normal. Per-diem claim processed.</a:t>
            </a:r>
            <a:endParaRPr lang="en-US" sz="850" dirty="0"/>
          </a:p>
        </p:txBody>
      </p:sp>
      <p:sp>
        <p:nvSpPr>
          <p:cNvPr id="56" name="Shape 54"/>
          <p:cNvSpPr/>
          <p:nvPr/>
        </p:nvSpPr>
        <p:spPr>
          <a:xfrm>
            <a:off x="3355848" y="4297680"/>
            <a:ext cx="2642616" cy="1417320"/>
          </a:xfrm>
          <a:prstGeom prst="rect">
            <a:avLst/>
          </a:prstGeom>
          <a:solidFill>
            <a:srgbClr val="F4F1EC"/>
          </a:solidFill>
          <a:ln w="6350">
            <a:solidFill>
              <a:srgbClr val="E2E8F0"/>
            </a:solidFill>
            <a:prstDash val="solid"/>
          </a:ln>
        </p:spPr>
      </p:sp>
      <p:sp>
        <p:nvSpPr>
          <p:cNvPr id="57" name="Shape 55"/>
          <p:cNvSpPr/>
          <p:nvPr/>
        </p:nvSpPr>
        <p:spPr>
          <a:xfrm>
            <a:off x="3355848" y="4297680"/>
            <a:ext cx="54864" cy="1417320"/>
          </a:xfrm>
          <a:prstGeom prst="rect">
            <a:avLst/>
          </a:prstGeom>
          <a:solidFill>
            <a:srgbClr val="B85042"/>
          </a:solidFill>
          <a:ln w="12700">
            <a:solidFill>
              <a:srgbClr val="B85042"/>
            </a:solidFill>
            <a:prstDash val="solid"/>
          </a:ln>
        </p:spPr>
      </p:sp>
      <p:sp>
        <p:nvSpPr>
          <p:cNvPr id="58" name="Text 56"/>
          <p:cNvSpPr/>
          <p:nvPr/>
        </p:nvSpPr>
        <p:spPr>
          <a:xfrm>
            <a:off x="3520440"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59" name="Text 57"/>
          <p:cNvSpPr/>
          <p:nvPr/>
        </p:nvSpPr>
        <p:spPr>
          <a:xfrm>
            <a:off x="3520440"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Routine DoD IG audit two years later samples the travel voucher. Auditor notes the seventy-two-hour engagement build, the leave-following pattern, the unusually convenient location of the daughter's residence. Refers for investigation. Same end state as Path A but two years later, with the additional finding that the aide knew enough to construct the cover story, which is treated as an aggravating factor.</a:t>
            </a:r>
            <a:endParaRPr lang="en-US" sz="800" dirty="0"/>
          </a:p>
        </p:txBody>
      </p:sp>
      <p:sp>
        <p:nvSpPr>
          <p:cNvPr id="60" name="Shape 58"/>
          <p:cNvSpPr/>
          <p:nvPr/>
        </p:nvSpPr>
        <p:spPr>
          <a:xfrm>
            <a:off x="4677156" y="2926080"/>
            <a:ext cx="0" cy="45720"/>
          </a:xfrm>
          <a:prstGeom prst="line">
            <a:avLst/>
          </a:prstGeom>
          <a:noFill/>
          <a:ln w="12700">
            <a:solidFill>
              <a:srgbClr val="94A3B8"/>
            </a:solidFill>
            <a:prstDash val="solid"/>
          </a:ln>
        </p:spPr>
      </p:sp>
      <p:sp>
        <p:nvSpPr>
          <p:cNvPr id="61" name="Shape 59"/>
          <p:cNvSpPr/>
          <p:nvPr/>
        </p:nvSpPr>
        <p:spPr>
          <a:xfrm>
            <a:off x="4677156" y="3520440"/>
            <a:ext cx="0" cy="45720"/>
          </a:xfrm>
          <a:prstGeom prst="line">
            <a:avLst/>
          </a:prstGeom>
          <a:noFill/>
          <a:ln w="12700">
            <a:solidFill>
              <a:srgbClr val="94A3B8"/>
            </a:solidFill>
            <a:prstDash val="solid"/>
          </a:ln>
        </p:spPr>
      </p:sp>
      <p:sp>
        <p:nvSpPr>
          <p:cNvPr id="62" name="Shape 60"/>
          <p:cNvSpPr/>
          <p:nvPr/>
        </p:nvSpPr>
        <p:spPr>
          <a:xfrm>
            <a:off x="4677156" y="4251960"/>
            <a:ext cx="0" cy="45720"/>
          </a:xfrm>
          <a:prstGeom prst="line">
            <a:avLst/>
          </a:prstGeom>
          <a:noFill/>
          <a:ln w="12700">
            <a:solidFill>
              <a:srgbClr val="94A3B8"/>
            </a:solidFill>
            <a:prstDash val="solid"/>
          </a:ln>
        </p:spPr>
      </p:sp>
      <p:sp>
        <p:nvSpPr>
          <p:cNvPr id="63" name="Shape 61"/>
          <p:cNvSpPr/>
          <p:nvPr/>
        </p:nvSpPr>
        <p:spPr>
          <a:xfrm>
            <a:off x="4677156" y="5715000"/>
            <a:ext cx="0" cy="45720"/>
          </a:xfrm>
          <a:prstGeom prst="line">
            <a:avLst/>
          </a:prstGeom>
          <a:noFill/>
          <a:ln w="12700">
            <a:solidFill>
              <a:srgbClr val="94A3B8"/>
            </a:solidFill>
            <a:prstDash val="solid"/>
          </a:ln>
        </p:spPr>
      </p:sp>
      <p:sp>
        <p:nvSpPr>
          <p:cNvPr id="64" name="Shape 62"/>
          <p:cNvSpPr/>
          <p:nvPr/>
        </p:nvSpPr>
        <p:spPr>
          <a:xfrm>
            <a:off x="3355848" y="5760720"/>
            <a:ext cx="2642616" cy="411480"/>
          </a:xfrm>
          <a:prstGeom prst="rect">
            <a:avLst/>
          </a:prstGeom>
          <a:solidFill>
            <a:srgbClr val="B85042"/>
          </a:solidFill>
          <a:ln w="12700">
            <a:solidFill>
              <a:srgbClr val="B85042"/>
            </a:solidFill>
            <a:prstDash val="solid"/>
          </a:ln>
        </p:spPr>
      </p:sp>
      <p:sp>
        <p:nvSpPr>
          <p:cNvPr id="65" name="Text 63"/>
          <p:cNvSpPr/>
          <p:nvPr/>
        </p:nvSpPr>
        <p:spPr>
          <a:xfrm>
            <a:off x="3493008"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 (delayed)</a:t>
            </a:r>
            <a:endParaRPr lang="en-US" sz="1100" dirty="0"/>
          </a:p>
        </p:txBody>
      </p:sp>
      <p:sp>
        <p:nvSpPr>
          <p:cNvPr id="66" name="Shape 64"/>
          <p:cNvSpPr/>
          <p:nvPr/>
        </p:nvSpPr>
        <p:spPr>
          <a:xfrm>
            <a:off x="6163056" y="1874520"/>
            <a:ext cx="2642616" cy="548640"/>
          </a:xfrm>
          <a:prstGeom prst="rect">
            <a:avLst/>
          </a:prstGeom>
          <a:solidFill>
            <a:srgbClr val="D4A574"/>
          </a:solidFill>
          <a:ln w="12700">
            <a:solidFill>
              <a:srgbClr val="D4A574"/>
            </a:solidFill>
            <a:prstDash val="solid"/>
          </a:ln>
        </p:spPr>
      </p:sp>
      <p:sp>
        <p:nvSpPr>
          <p:cNvPr id="67" name="Text 65"/>
          <p:cNvSpPr/>
          <p:nvPr/>
        </p:nvSpPr>
        <p:spPr>
          <a:xfrm>
            <a:off x="6300216"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C</a:t>
            </a:r>
            <a:endParaRPr lang="en-US" sz="900" dirty="0"/>
          </a:p>
        </p:txBody>
      </p:sp>
      <p:sp>
        <p:nvSpPr>
          <p:cNvPr id="68" name="Text 66"/>
          <p:cNvSpPr/>
          <p:nvPr/>
        </p:nvSpPr>
        <p:spPr>
          <a:xfrm>
            <a:off x="6300216"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Personal integrity intact, leader unprotected, fragile …</a:t>
            </a:r>
            <a:endParaRPr lang="en-US" sz="1050" dirty="0"/>
          </a:p>
        </p:txBody>
      </p:sp>
      <p:sp>
        <p:nvSpPr>
          <p:cNvPr id="69" name="Shape 67"/>
          <p:cNvSpPr/>
          <p:nvPr/>
        </p:nvSpPr>
        <p:spPr>
          <a:xfrm>
            <a:off x="7484364" y="2423160"/>
            <a:ext cx="0" cy="45720"/>
          </a:xfrm>
          <a:prstGeom prst="line">
            <a:avLst/>
          </a:prstGeom>
          <a:noFill/>
          <a:ln w="12700">
            <a:solidFill>
              <a:srgbClr val="94A3B8"/>
            </a:solidFill>
            <a:prstDash val="solid"/>
          </a:ln>
        </p:spPr>
      </p:sp>
      <p:sp>
        <p:nvSpPr>
          <p:cNvPr id="70" name="Shape 68"/>
          <p:cNvSpPr/>
          <p:nvPr/>
        </p:nvSpPr>
        <p:spPr>
          <a:xfrm>
            <a:off x="6163056" y="2468880"/>
            <a:ext cx="2642616" cy="457200"/>
          </a:xfrm>
          <a:prstGeom prst="rect">
            <a:avLst/>
          </a:prstGeom>
          <a:solidFill>
            <a:srgbClr val="F4F1EC"/>
          </a:solidFill>
          <a:ln w="6350">
            <a:solidFill>
              <a:srgbClr val="E2E8F0"/>
            </a:solidFill>
            <a:prstDash val="solid"/>
          </a:ln>
        </p:spPr>
      </p:sp>
      <p:sp>
        <p:nvSpPr>
          <p:cNvPr id="71" name="Shape 69"/>
          <p:cNvSpPr/>
          <p:nvPr/>
        </p:nvSpPr>
        <p:spPr>
          <a:xfrm>
            <a:off x="6163056" y="2468880"/>
            <a:ext cx="54864" cy="457200"/>
          </a:xfrm>
          <a:prstGeom prst="rect">
            <a:avLst/>
          </a:prstGeom>
          <a:solidFill>
            <a:srgbClr val="D4A574"/>
          </a:solidFill>
          <a:ln w="12700">
            <a:solidFill>
              <a:srgbClr val="D4A574"/>
            </a:solidFill>
            <a:prstDash val="solid"/>
          </a:ln>
        </p:spPr>
      </p:sp>
      <p:sp>
        <p:nvSpPr>
          <p:cNvPr id="72" name="Text 70"/>
          <p:cNvSpPr/>
          <p:nvPr/>
        </p:nvSpPr>
        <p:spPr>
          <a:xfrm>
            <a:off x="6327648" y="25237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ENGAGES</a:t>
            </a:r>
            <a:endParaRPr lang="en-US" sz="750" dirty="0"/>
          </a:p>
        </p:txBody>
      </p:sp>
      <p:sp>
        <p:nvSpPr>
          <p:cNvPr id="73" name="Text 71"/>
          <p:cNvSpPr/>
          <p:nvPr/>
        </p:nvSpPr>
        <p:spPr>
          <a:xfrm>
            <a:off x="6327648"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Stickler only (MAJ Petrov)</a:t>
            </a:r>
            <a:endParaRPr lang="en-US" sz="950" dirty="0"/>
          </a:p>
        </p:txBody>
      </p:sp>
      <p:sp>
        <p:nvSpPr>
          <p:cNvPr id="74" name="Shape 72"/>
          <p:cNvSpPr/>
          <p:nvPr/>
        </p:nvSpPr>
        <p:spPr>
          <a:xfrm>
            <a:off x="6163056" y="2971800"/>
            <a:ext cx="2642616" cy="548640"/>
          </a:xfrm>
          <a:prstGeom prst="rect">
            <a:avLst/>
          </a:prstGeom>
          <a:solidFill>
            <a:srgbClr val="F4F1EC"/>
          </a:solidFill>
          <a:ln w="6350">
            <a:solidFill>
              <a:srgbClr val="E2E8F0"/>
            </a:solidFill>
            <a:prstDash val="solid"/>
          </a:ln>
        </p:spPr>
      </p:sp>
      <p:sp>
        <p:nvSpPr>
          <p:cNvPr id="75" name="Shape 73"/>
          <p:cNvSpPr/>
          <p:nvPr/>
        </p:nvSpPr>
        <p:spPr>
          <a:xfrm>
            <a:off x="6163056" y="2971800"/>
            <a:ext cx="54864" cy="548640"/>
          </a:xfrm>
          <a:prstGeom prst="rect">
            <a:avLst/>
          </a:prstGeom>
          <a:solidFill>
            <a:srgbClr val="D4A574"/>
          </a:solidFill>
          <a:ln w="12700">
            <a:solidFill>
              <a:srgbClr val="D4A574"/>
            </a:solidFill>
            <a:prstDash val="solid"/>
          </a:ln>
        </p:spPr>
      </p:sp>
      <p:sp>
        <p:nvSpPr>
          <p:cNvPr id="76" name="Text 74"/>
          <p:cNvSpPr/>
          <p:nvPr/>
        </p:nvSpPr>
        <p:spPr>
          <a:xfrm>
            <a:off x="6327648" y="302666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CHOICE / ACTION</a:t>
            </a:r>
            <a:endParaRPr lang="en-US" sz="750" dirty="0"/>
          </a:p>
        </p:txBody>
      </p:sp>
      <p:sp>
        <p:nvSpPr>
          <p:cNvPr id="77" name="Text 75"/>
          <p:cNvSpPr/>
          <p:nvPr/>
        </p:nvSpPr>
        <p:spPr>
          <a:xfrm>
            <a:off x="6327648"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Refuse to cut orders. No alternative offered to the general.</a:t>
            </a:r>
            <a:endParaRPr lang="en-US" sz="900" dirty="0"/>
          </a:p>
        </p:txBody>
      </p:sp>
      <p:sp>
        <p:nvSpPr>
          <p:cNvPr id="78" name="Shape 76"/>
          <p:cNvSpPr/>
          <p:nvPr/>
        </p:nvSpPr>
        <p:spPr>
          <a:xfrm>
            <a:off x="6163056" y="3566160"/>
            <a:ext cx="2642616" cy="685800"/>
          </a:xfrm>
          <a:prstGeom prst="rect">
            <a:avLst/>
          </a:prstGeom>
          <a:solidFill>
            <a:srgbClr val="F4F1EC"/>
          </a:solidFill>
          <a:ln w="6350">
            <a:solidFill>
              <a:srgbClr val="E2E8F0"/>
            </a:solidFill>
            <a:prstDash val="solid"/>
          </a:ln>
        </p:spPr>
      </p:sp>
      <p:sp>
        <p:nvSpPr>
          <p:cNvPr id="79" name="Shape 77"/>
          <p:cNvSpPr/>
          <p:nvPr/>
        </p:nvSpPr>
        <p:spPr>
          <a:xfrm>
            <a:off x="6163056" y="3566160"/>
            <a:ext cx="54864" cy="685800"/>
          </a:xfrm>
          <a:prstGeom prst="rect">
            <a:avLst/>
          </a:prstGeom>
          <a:solidFill>
            <a:srgbClr val="D4A574"/>
          </a:solidFill>
          <a:ln w="12700">
            <a:solidFill>
              <a:srgbClr val="D4A574"/>
            </a:solidFill>
            <a:prstDash val="solid"/>
          </a:ln>
        </p:spPr>
      </p:sp>
      <p:sp>
        <p:nvSpPr>
          <p:cNvPr id="80" name="Text 78"/>
          <p:cNvSpPr/>
          <p:nvPr/>
        </p:nvSpPr>
        <p:spPr>
          <a:xfrm>
            <a:off x="6327648" y="362102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T+0  IMMEDIATE OUTCOME</a:t>
            </a:r>
            <a:endParaRPr lang="en-US" sz="750" dirty="0"/>
          </a:p>
        </p:txBody>
      </p:sp>
      <p:sp>
        <p:nvSpPr>
          <p:cNvPr id="81" name="Text 79"/>
          <p:cNvSpPr/>
          <p:nvPr/>
        </p:nvSpPr>
        <p:spPr>
          <a:xfrm>
            <a:off x="6327648"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General is annoyed. Aide is sidelined for the weekend's planning. General either takes leave on her own or finds another aide willing to cut the orders.</a:t>
            </a:r>
            <a:endParaRPr lang="en-US" sz="850" dirty="0"/>
          </a:p>
        </p:txBody>
      </p:sp>
      <p:sp>
        <p:nvSpPr>
          <p:cNvPr id="82" name="Shape 80"/>
          <p:cNvSpPr/>
          <p:nvPr/>
        </p:nvSpPr>
        <p:spPr>
          <a:xfrm>
            <a:off x="6163056" y="4297680"/>
            <a:ext cx="2642616" cy="1417320"/>
          </a:xfrm>
          <a:prstGeom prst="rect">
            <a:avLst/>
          </a:prstGeom>
          <a:solidFill>
            <a:srgbClr val="F4F1EC"/>
          </a:solidFill>
          <a:ln w="6350">
            <a:solidFill>
              <a:srgbClr val="E2E8F0"/>
            </a:solidFill>
            <a:prstDash val="solid"/>
          </a:ln>
        </p:spPr>
      </p:sp>
      <p:sp>
        <p:nvSpPr>
          <p:cNvPr id="83" name="Shape 81"/>
          <p:cNvSpPr/>
          <p:nvPr/>
        </p:nvSpPr>
        <p:spPr>
          <a:xfrm>
            <a:off x="6163056" y="4297680"/>
            <a:ext cx="54864" cy="1417320"/>
          </a:xfrm>
          <a:prstGeom prst="rect">
            <a:avLst/>
          </a:prstGeom>
          <a:solidFill>
            <a:srgbClr val="D4A574"/>
          </a:solidFill>
          <a:ln w="12700">
            <a:solidFill>
              <a:srgbClr val="D4A574"/>
            </a:solidFill>
            <a:prstDash val="solid"/>
          </a:ln>
        </p:spPr>
      </p:sp>
      <p:sp>
        <p:nvSpPr>
          <p:cNvPr id="84" name="Text 82"/>
          <p:cNvSpPr/>
          <p:nvPr/>
        </p:nvSpPr>
        <p:spPr>
          <a:xfrm>
            <a:off x="6327648" y="43525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T+30 TO T+1YR  DOWNSTREAM</a:t>
            </a:r>
            <a:endParaRPr lang="en-US" sz="750" dirty="0"/>
          </a:p>
        </p:txBody>
      </p:sp>
      <p:sp>
        <p:nvSpPr>
          <p:cNvPr id="85" name="Text 83"/>
          <p:cNvSpPr/>
          <p:nvPr/>
        </p:nvSpPr>
        <p:spPr>
          <a:xfrm>
            <a:off x="6327648"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Best case: general takes leave, sees the baby, returns. Aide retains integrity but loses some access to the principal. Worst case: another staff officer cuts the orders and Path A unfolds anyway, with the original aide on the periphery and reputationally tarred for being 'unhelpful.' Outcome depends on whether the general respects the refusal.</a:t>
            </a:r>
            <a:endParaRPr lang="en-US" sz="800" dirty="0"/>
          </a:p>
        </p:txBody>
      </p:sp>
      <p:sp>
        <p:nvSpPr>
          <p:cNvPr id="86" name="Shape 84"/>
          <p:cNvSpPr/>
          <p:nvPr/>
        </p:nvSpPr>
        <p:spPr>
          <a:xfrm>
            <a:off x="7484364" y="2926080"/>
            <a:ext cx="0" cy="45720"/>
          </a:xfrm>
          <a:prstGeom prst="line">
            <a:avLst/>
          </a:prstGeom>
          <a:noFill/>
          <a:ln w="12700">
            <a:solidFill>
              <a:srgbClr val="94A3B8"/>
            </a:solidFill>
            <a:prstDash val="solid"/>
          </a:ln>
        </p:spPr>
      </p:sp>
      <p:sp>
        <p:nvSpPr>
          <p:cNvPr id="87" name="Shape 85"/>
          <p:cNvSpPr/>
          <p:nvPr/>
        </p:nvSpPr>
        <p:spPr>
          <a:xfrm>
            <a:off x="7484364" y="3520440"/>
            <a:ext cx="0" cy="45720"/>
          </a:xfrm>
          <a:prstGeom prst="line">
            <a:avLst/>
          </a:prstGeom>
          <a:noFill/>
          <a:ln w="12700">
            <a:solidFill>
              <a:srgbClr val="94A3B8"/>
            </a:solidFill>
            <a:prstDash val="solid"/>
          </a:ln>
        </p:spPr>
      </p:sp>
      <p:sp>
        <p:nvSpPr>
          <p:cNvPr id="88" name="Shape 86"/>
          <p:cNvSpPr/>
          <p:nvPr/>
        </p:nvSpPr>
        <p:spPr>
          <a:xfrm>
            <a:off x="7484364" y="4251960"/>
            <a:ext cx="0" cy="45720"/>
          </a:xfrm>
          <a:prstGeom prst="line">
            <a:avLst/>
          </a:prstGeom>
          <a:noFill/>
          <a:ln w="12700">
            <a:solidFill>
              <a:srgbClr val="94A3B8"/>
            </a:solidFill>
            <a:prstDash val="solid"/>
          </a:ln>
        </p:spPr>
      </p:sp>
      <p:sp>
        <p:nvSpPr>
          <p:cNvPr id="89" name="Shape 87"/>
          <p:cNvSpPr/>
          <p:nvPr/>
        </p:nvSpPr>
        <p:spPr>
          <a:xfrm>
            <a:off x="7484364" y="5715000"/>
            <a:ext cx="0" cy="45720"/>
          </a:xfrm>
          <a:prstGeom prst="line">
            <a:avLst/>
          </a:prstGeom>
          <a:noFill/>
          <a:ln w="12700">
            <a:solidFill>
              <a:srgbClr val="94A3B8"/>
            </a:solidFill>
            <a:prstDash val="solid"/>
          </a:ln>
        </p:spPr>
      </p:sp>
      <p:sp>
        <p:nvSpPr>
          <p:cNvPr id="90" name="Shape 88"/>
          <p:cNvSpPr/>
          <p:nvPr/>
        </p:nvSpPr>
        <p:spPr>
          <a:xfrm>
            <a:off x="6163056" y="5760720"/>
            <a:ext cx="2642616" cy="411480"/>
          </a:xfrm>
          <a:prstGeom prst="rect">
            <a:avLst/>
          </a:prstGeom>
          <a:solidFill>
            <a:srgbClr val="D4A574"/>
          </a:solidFill>
          <a:ln w="12700">
            <a:solidFill>
              <a:srgbClr val="D4A574"/>
            </a:solidFill>
            <a:prstDash val="solid"/>
          </a:ln>
        </p:spPr>
      </p:sp>
      <p:sp>
        <p:nvSpPr>
          <p:cNvPr id="91" name="Text 89"/>
          <p:cNvSpPr/>
          <p:nvPr/>
        </p:nvSpPr>
        <p:spPr>
          <a:xfrm>
            <a:off x="6300216"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CONDITIONAL</a:t>
            </a:r>
            <a:endParaRPr lang="en-US" sz="1100" dirty="0"/>
          </a:p>
        </p:txBody>
      </p:sp>
      <p:sp>
        <p:nvSpPr>
          <p:cNvPr id="92" name="Shape 90"/>
          <p:cNvSpPr/>
          <p:nvPr/>
        </p:nvSpPr>
        <p:spPr>
          <a:xfrm>
            <a:off x="8970264" y="1874520"/>
            <a:ext cx="2642616" cy="548640"/>
          </a:xfrm>
          <a:prstGeom prst="rect">
            <a:avLst/>
          </a:prstGeom>
          <a:solidFill>
            <a:srgbClr val="2C7A4B"/>
          </a:solidFill>
          <a:ln w="12700">
            <a:solidFill>
              <a:srgbClr val="2C7A4B"/>
            </a:solidFill>
            <a:prstDash val="solid"/>
          </a:ln>
        </p:spPr>
      </p:sp>
      <p:sp>
        <p:nvSpPr>
          <p:cNvPr id="93" name="Text 91"/>
          <p:cNvSpPr/>
          <p:nvPr/>
        </p:nvSpPr>
        <p:spPr>
          <a:xfrm>
            <a:off x="9107424"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D</a:t>
            </a:r>
            <a:endParaRPr lang="en-US" sz="900" dirty="0"/>
          </a:p>
        </p:txBody>
      </p:sp>
      <p:sp>
        <p:nvSpPr>
          <p:cNvPr id="94" name="Text 92"/>
          <p:cNvSpPr/>
          <p:nvPr/>
        </p:nvSpPr>
        <p:spPr>
          <a:xfrm>
            <a:off x="9107424"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Leader's wish honored, ethics intact, aide protected, …</a:t>
            </a:r>
            <a:endParaRPr lang="en-US" sz="1050" dirty="0"/>
          </a:p>
        </p:txBody>
      </p:sp>
      <p:sp>
        <p:nvSpPr>
          <p:cNvPr id="95" name="Shape 93"/>
          <p:cNvSpPr/>
          <p:nvPr/>
        </p:nvSpPr>
        <p:spPr>
          <a:xfrm>
            <a:off x="10291572" y="2423160"/>
            <a:ext cx="0" cy="45720"/>
          </a:xfrm>
          <a:prstGeom prst="line">
            <a:avLst/>
          </a:prstGeom>
          <a:noFill/>
          <a:ln w="12700">
            <a:solidFill>
              <a:srgbClr val="94A3B8"/>
            </a:solidFill>
            <a:prstDash val="solid"/>
          </a:ln>
        </p:spPr>
      </p:sp>
      <p:sp>
        <p:nvSpPr>
          <p:cNvPr id="96" name="Shape 94"/>
          <p:cNvSpPr/>
          <p:nvPr/>
        </p:nvSpPr>
        <p:spPr>
          <a:xfrm>
            <a:off x="8970264" y="2468880"/>
            <a:ext cx="2642616" cy="457200"/>
          </a:xfrm>
          <a:prstGeom prst="rect">
            <a:avLst/>
          </a:prstGeom>
          <a:solidFill>
            <a:srgbClr val="F4F1EC"/>
          </a:solidFill>
          <a:ln w="6350">
            <a:solidFill>
              <a:srgbClr val="E2E8F0"/>
            </a:solidFill>
            <a:prstDash val="solid"/>
          </a:ln>
        </p:spPr>
      </p:sp>
      <p:sp>
        <p:nvSpPr>
          <p:cNvPr id="97" name="Shape 95"/>
          <p:cNvSpPr/>
          <p:nvPr/>
        </p:nvSpPr>
        <p:spPr>
          <a:xfrm>
            <a:off x="8970264" y="2468880"/>
            <a:ext cx="54864" cy="457200"/>
          </a:xfrm>
          <a:prstGeom prst="rect">
            <a:avLst/>
          </a:prstGeom>
          <a:solidFill>
            <a:srgbClr val="2C7A4B"/>
          </a:solidFill>
          <a:ln w="12700">
            <a:solidFill>
              <a:srgbClr val="2C7A4B"/>
            </a:solidFill>
            <a:prstDash val="solid"/>
          </a:ln>
        </p:spPr>
      </p:sp>
      <p:sp>
        <p:nvSpPr>
          <p:cNvPr id="98" name="Text 96"/>
          <p:cNvSpPr/>
          <p:nvPr/>
        </p:nvSpPr>
        <p:spPr>
          <a:xfrm>
            <a:off x="9134856" y="25237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ENGAGES</a:t>
            </a:r>
            <a:endParaRPr lang="en-US" sz="750" dirty="0"/>
          </a:p>
        </p:txBody>
      </p:sp>
      <p:sp>
        <p:nvSpPr>
          <p:cNvPr id="99" name="Text 97"/>
          <p:cNvSpPr/>
          <p:nvPr/>
        </p:nvSpPr>
        <p:spPr>
          <a:xfrm>
            <a:off x="9134856"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Partner (CSM Reyes) with aide co-brief</a:t>
            </a:r>
            <a:endParaRPr lang="en-US" sz="950" dirty="0"/>
          </a:p>
        </p:txBody>
      </p:sp>
      <p:sp>
        <p:nvSpPr>
          <p:cNvPr id="100" name="Shape 98"/>
          <p:cNvSpPr/>
          <p:nvPr/>
        </p:nvSpPr>
        <p:spPr>
          <a:xfrm>
            <a:off x="8970264" y="2971800"/>
            <a:ext cx="2642616" cy="548640"/>
          </a:xfrm>
          <a:prstGeom prst="rect">
            <a:avLst/>
          </a:prstGeom>
          <a:solidFill>
            <a:srgbClr val="F4F1EC"/>
          </a:solidFill>
          <a:ln w="6350">
            <a:solidFill>
              <a:srgbClr val="E2E8F0"/>
            </a:solidFill>
            <a:prstDash val="solid"/>
          </a:ln>
        </p:spPr>
      </p:sp>
      <p:sp>
        <p:nvSpPr>
          <p:cNvPr id="101" name="Shape 99"/>
          <p:cNvSpPr/>
          <p:nvPr/>
        </p:nvSpPr>
        <p:spPr>
          <a:xfrm>
            <a:off x="8970264" y="2971800"/>
            <a:ext cx="54864" cy="548640"/>
          </a:xfrm>
          <a:prstGeom prst="rect">
            <a:avLst/>
          </a:prstGeom>
          <a:solidFill>
            <a:srgbClr val="2C7A4B"/>
          </a:solidFill>
          <a:ln w="12700">
            <a:solidFill>
              <a:srgbClr val="2C7A4B"/>
            </a:solidFill>
            <a:prstDash val="solid"/>
          </a:ln>
        </p:spPr>
      </p:sp>
      <p:sp>
        <p:nvSpPr>
          <p:cNvPr id="102" name="Text 100"/>
          <p:cNvSpPr/>
          <p:nvPr/>
        </p:nvSpPr>
        <p:spPr>
          <a:xfrm>
            <a:off x="9134856" y="302666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CHOICE / ACTION</a:t>
            </a:r>
            <a:endParaRPr lang="en-US" sz="750" dirty="0"/>
          </a:p>
        </p:txBody>
      </p:sp>
      <p:sp>
        <p:nvSpPr>
          <p:cNvPr id="103" name="Text 101"/>
          <p:cNvSpPr/>
          <p:nvPr/>
        </p:nvSpPr>
        <p:spPr>
          <a:xfrm>
            <a:off x="9134856"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CSM and aide brief together; offer leave + future legitimate engagement.</a:t>
            </a:r>
            <a:endParaRPr lang="en-US" sz="900" dirty="0"/>
          </a:p>
        </p:txBody>
      </p:sp>
      <p:sp>
        <p:nvSpPr>
          <p:cNvPr id="104" name="Shape 102"/>
          <p:cNvSpPr/>
          <p:nvPr/>
        </p:nvSpPr>
        <p:spPr>
          <a:xfrm>
            <a:off x="8970264" y="3566160"/>
            <a:ext cx="2642616" cy="685800"/>
          </a:xfrm>
          <a:prstGeom prst="rect">
            <a:avLst/>
          </a:prstGeom>
          <a:solidFill>
            <a:srgbClr val="F4F1EC"/>
          </a:solidFill>
          <a:ln w="6350">
            <a:solidFill>
              <a:srgbClr val="E2E8F0"/>
            </a:solidFill>
            <a:prstDash val="solid"/>
          </a:ln>
        </p:spPr>
      </p:sp>
      <p:sp>
        <p:nvSpPr>
          <p:cNvPr id="105" name="Shape 103"/>
          <p:cNvSpPr/>
          <p:nvPr/>
        </p:nvSpPr>
        <p:spPr>
          <a:xfrm>
            <a:off x="8970264" y="3566160"/>
            <a:ext cx="54864" cy="685800"/>
          </a:xfrm>
          <a:prstGeom prst="rect">
            <a:avLst/>
          </a:prstGeom>
          <a:solidFill>
            <a:srgbClr val="2C7A4B"/>
          </a:solidFill>
          <a:ln w="12700">
            <a:solidFill>
              <a:srgbClr val="2C7A4B"/>
            </a:solidFill>
            <a:prstDash val="solid"/>
          </a:ln>
        </p:spPr>
      </p:sp>
      <p:sp>
        <p:nvSpPr>
          <p:cNvPr id="106" name="Text 104"/>
          <p:cNvSpPr/>
          <p:nvPr/>
        </p:nvSpPr>
        <p:spPr>
          <a:xfrm>
            <a:off x="9134856" y="362102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T+0  IMMEDIATE OUTCOME</a:t>
            </a:r>
            <a:endParaRPr lang="en-US" sz="750" dirty="0"/>
          </a:p>
        </p:txBody>
      </p:sp>
      <p:sp>
        <p:nvSpPr>
          <p:cNvPr id="107" name="Text 105"/>
          <p:cNvSpPr/>
          <p:nvPr/>
        </p:nvSpPr>
        <p:spPr>
          <a:xfrm>
            <a:off x="9134856"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General initially defensive but recognizes the framing. Takes Option One: leave on a space-A hop. Sees the baby. No orders cut. No exposure.</a:t>
            </a:r>
            <a:endParaRPr lang="en-US" sz="850" dirty="0"/>
          </a:p>
        </p:txBody>
      </p:sp>
      <p:sp>
        <p:nvSpPr>
          <p:cNvPr id="108" name="Shape 106"/>
          <p:cNvSpPr/>
          <p:nvPr/>
        </p:nvSpPr>
        <p:spPr>
          <a:xfrm>
            <a:off x="8970264" y="4297680"/>
            <a:ext cx="2642616" cy="1417320"/>
          </a:xfrm>
          <a:prstGeom prst="rect">
            <a:avLst/>
          </a:prstGeom>
          <a:solidFill>
            <a:srgbClr val="F4F1EC"/>
          </a:solidFill>
          <a:ln w="6350">
            <a:solidFill>
              <a:srgbClr val="E2E8F0"/>
            </a:solidFill>
            <a:prstDash val="solid"/>
          </a:ln>
        </p:spPr>
      </p:sp>
      <p:sp>
        <p:nvSpPr>
          <p:cNvPr id="109" name="Shape 107"/>
          <p:cNvSpPr/>
          <p:nvPr/>
        </p:nvSpPr>
        <p:spPr>
          <a:xfrm>
            <a:off x="8970264" y="4297680"/>
            <a:ext cx="54864" cy="1417320"/>
          </a:xfrm>
          <a:prstGeom prst="rect">
            <a:avLst/>
          </a:prstGeom>
          <a:solidFill>
            <a:srgbClr val="2C7A4B"/>
          </a:solidFill>
          <a:ln w="12700">
            <a:solidFill>
              <a:srgbClr val="2C7A4B"/>
            </a:solidFill>
            <a:prstDash val="solid"/>
          </a:ln>
        </p:spPr>
      </p:sp>
      <p:sp>
        <p:nvSpPr>
          <p:cNvPr id="110" name="Text 108"/>
          <p:cNvSpPr/>
          <p:nvPr/>
        </p:nvSpPr>
        <p:spPr>
          <a:xfrm>
            <a:off x="9134856" y="43525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T+30 TO T+1YR  DOWNSTREAM</a:t>
            </a:r>
            <a:endParaRPr lang="en-US" sz="750" dirty="0"/>
          </a:p>
        </p:txBody>
      </p:sp>
      <p:sp>
        <p:nvSpPr>
          <p:cNvPr id="111" name="Text 109"/>
          <p:cNvSpPr/>
          <p:nvPr/>
        </p:nvSpPr>
        <p:spPr>
          <a:xfrm>
            <a:off x="9134856"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Two months later, CGSC Commandant invites her properly for a commencement-week LPD. She accepts. The visit is on the books, on the agenda, and on the merits. Aide retains principal access and full trust. General retires clean.</a:t>
            </a:r>
            <a:endParaRPr lang="en-US" sz="800" dirty="0"/>
          </a:p>
        </p:txBody>
      </p:sp>
      <p:sp>
        <p:nvSpPr>
          <p:cNvPr id="112" name="Shape 110"/>
          <p:cNvSpPr/>
          <p:nvPr/>
        </p:nvSpPr>
        <p:spPr>
          <a:xfrm>
            <a:off x="10291572" y="2926080"/>
            <a:ext cx="0" cy="45720"/>
          </a:xfrm>
          <a:prstGeom prst="line">
            <a:avLst/>
          </a:prstGeom>
          <a:noFill/>
          <a:ln w="12700">
            <a:solidFill>
              <a:srgbClr val="94A3B8"/>
            </a:solidFill>
            <a:prstDash val="solid"/>
          </a:ln>
        </p:spPr>
      </p:sp>
      <p:sp>
        <p:nvSpPr>
          <p:cNvPr id="113" name="Shape 111"/>
          <p:cNvSpPr/>
          <p:nvPr/>
        </p:nvSpPr>
        <p:spPr>
          <a:xfrm>
            <a:off x="10291572" y="3520440"/>
            <a:ext cx="0" cy="45720"/>
          </a:xfrm>
          <a:prstGeom prst="line">
            <a:avLst/>
          </a:prstGeom>
          <a:noFill/>
          <a:ln w="12700">
            <a:solidFill>
              <a:srgbClr val="94A3B8"/>
            </a:solidFill>
            <a:prstDash val="solid"/>
          </a:ln>
        </p:spPr>
      </p:sp>
      <p:sp>
        <p:nvSpPr>
          <p:cNvPr id="114" name="Shape 112"/>
          <p:cNvSpPr/>
          <p:nvPr/>
        </p:nvSpPr>
        <p:spPr>
          <a:xfrm>
            <a:off x="10291572" y="4251960"/>
            <a:ext cx="0" cy="45720"/>
          </a:xfrm>
          <a:prstGeom prst="line">
            <a:avLst/>
          </a:prstGeom>
          <a:noFill/>
          <a:ln w="12700">
            <a:solidFill>
              <a:srgbClr val="94A3B8"/>
            </a:solidFill>
            <a:prstDash val="solid"/>
          </a:ln>
        </p:spPr>
      </p:sp>
      <p:sp>
        <p:nvSpPr>
          <p:cNvPr id="115" name="Shape 113"/>
          <p:cNvSpPr/>
          <p:nvPr/>
        </p:nvSpPr>
        <p:spPr>
          <a:xfrm>
            <a:off x="10291572" y="5715000"/>
            <a:ext cx="0" cy="45720"/>
          </a:xfrm>
          <a:prstGeom prst="line">
            <a:avLst/>
          </a:prstGeom>
          <a:noFill/>
          <a:ln w="12700">
            <a:solidFill>
              <a:srgbClr val="94A3B8"/>
            </a:solidFill>
            <a:prstDash val="solid"/>
          </a:ln>
        </p:spPr>
      </p:sp>
      <p:sp>
        <p:nvSpPr>
          <p:cNvPr id="116" name="Shape 114"/>
          <p:cNvSpPr/>
          <p:nvPr/>
        </p:nvSpPr>
        <p:spPr>
          <a:xfrm>
            <a:off x="8970264" y="5760720"/>
            <a:ext cx="2642616" cy="411480"/>
          </a:xfrm>
          <a:prstGeom prst="rect">
            <a:avLst/>
          </a:prstGeom>
          <a:solidFill>
            <a:srgbClr val="2C7A4B"/>
          </a:solidFill>
          <a:ln w="12700">
            <a:solidFill>
              <a:srgbClr val="2C7A4B"/>
            </a:solidFill>
            <a:prstDash val="solid"/>
          </a:ln>
        </p:spPr>
      </p:sp>
      <p:sp>
        <p:nvSpPr>
          <p:cNvPr id="117" name="Text 115"/>
          <p:cNvSpPr/>
          <p:nvPr/>
        </p:nvSpPr>
        <p:spPr>
          <a:xfrm>
            <a:off x="9107424"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OPTIMAL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640080"/>
            <a:ext cx="11064240" cy="32004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RECOMMENDED PATH</a:t>
            </a:r>
            <a:endParaRPr lang="en-US" sz="1200" dirty="0"/>
          </a:p>
        </p:txBody>
      </p:sp>
      <p:sp>
        <p:nvSpPr>
          <p:cNvPr id="3" name="Text 1"/>
          <p:cNvSpPr/>
          <p:nvPr/>
        </p:nvSpPr>
        <p:spPr>
          <a:xfrm>
            <a:off x="548640" y="96012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3: The General's Personal-Travel TDY</a:t>
            </a:r>
            <a:endParaRPr lang="en-US" sz="2200" dirty="0"/>
          </a:p>
        </p:txBody>
      </p:sp>
      <p:sp>
        <p:nvSpPr>
          <p:cNvPr id="4" name="Shape 2"/>
          <p:cNvSpPr/>
          <p:nvPr/>
        </p:nvSpPr>
        <p:spPr>
          <a:xfrm>
            <a:off x="548640" y="1691640"/>
            <a:ext cx="11064240" cy="2377440"/>
          </a:xfrm>
          <a:prstGeom prst="rect">
            <a:avLst/>
          </a:prstGeom>
          <a:solidFill>
            <a:srgbClr val="FFFFFF"/>
          </a:solidFill>
          <a:ln w="12700">
            <a:solidFill>
              <a:srgbClr val="FFFFFF"/>
            </a:solidFill>
            <a:prstDash val="solid"/>
          </a:ln>
        </p:spPr>
      </p:sp>
      <p:sp>
        <p:nvSpPr>
          <p:cNvPr id="5" name="Shape 3"/>
          <p:cNvSpPr/>
          <p:nvPr/>
        </p:nvSpPr>
        <p:spPr>
          <a:xfrm>
            <a:off x="548640" y="1691640"/>
            <a:ext cx="146304" cy="2377440"/>
          </a:xfrm>
          <a:prstGeom prst="rect">
            <a:avLst/>
          </a:prstGeom>
          <a:solidFill>
            <a:srgbClr val="2C7A4B"/>
          </a:solidFill>
          <a:ln w="12700">
            <a:solidFill>
              <a:srgbClr val="2C7A4B"/>
            </a:solidFill>
            <a:prstDash val="solid"/>
          </a:ln>
        </p:spPr>
      </p:sp>
      <p:sp>
        <p:nvSpPr>
          <p:cNvPr id="6" name="Text 4"/>
          <p:cNvSpPr/>
          <p:nvPr/>
        </p:nvSpPr>
        <p:spPr>
          <a:xfrm>
            <a:off x="914400" y="1828800"/>
            <a:ext cx="10515600" cy="274320"/>
          </a:xfrm>
          <a:prstGeom prst="rect">
            <a:avLst/>
          </a:prstGeom>
          <a:noFill/>
          <a:ln/>
        </p:spPr>
        <p:txBody>
          <a:bodyPr wrap="square" lIns="0" tIns="0" rIns="0" bIns="0" rtlCol="0" anchor="ctr"/>
          <a:lstStyle/>
          <a:p>
            <a:pPr indent="0" marL="0">
              <a:buNone/>
            </a:pPr>
            <a:r>
              <a:rPr lang="en-US" sz="1100" b="1" spc="400" kern="0" dirty="0">
                <a:solidFill>
                  <a:srgbClr val="2C7A4B"/>
                </a:solidFill>
                <a:latin typeface="Calibri" pitchFamily="34" charset="0"/>
                <a:ea typeface="Calibri" pitchFamily="34" charset="-122"/>
                <a:cs typeface="Calibri" pitchFamily="34" charset="-120"/>
              </a:rPr>
              <a:t>OPTIMAL OUTCOME</a:t>
            </a:r>
            <a:endParaRPr lang="en-US" sz="1100" dirty="0"/>
          </a:p>
        </p:txBody>
      </p:sp>
      <p:sp>
        <p:nvSpPr>
          <p:cNvPr id="7" name="Text 5"/>
          <p:cNvSpPr/>
          <p:nvPr/>
        </p:nvSpPr>
        <p:spPr>
          <a:xfrm>
            <a:off x="914400" y="2148840"/>
            <a:ext cx="10515600" cy="1874520"/>
          </a:xfrm>
          <a:prstGeom prst="rect">
            <a:avLst/>
          </a:prstGeom>
          <a:noFill/>
          <a:ln/>
        </p:spPr>
        <p:txBody>
          <a:bodyPr wrap="square" lIns="0" tIns="0" rIns="0" bIns="0" rtlCol="0" anchor="t"/>
          <a:lstStyle/>
          <a:p>
            <a:pPr indent="0" marL="0">
              <a:spcAft>
                <a:spcPts val="400"/>
              </a:spcAft>
              <a:buNone/>
            </a:pPr>
            <a:r>
              <a:rPr lang="en-US" sz="1400" dirty="0">
                <a:solidFill>
                  <a:srgbClr val="14193D"/>
                </a:solidFill>
                <a:latin typeface="Calibri" pitchFamily="34" charset="0"/>
                <a:ea typeface="Calibri" pitchFamily="34" charset="-122"/>
                <a:cs typeface="Calibri" pitchFamily="34" charset="-120"/>
              </a:rPr>
              <a:t>Path D. The aide and CSM brief together so the general feels supported rather than blocked. The recommendation reframes the question from 'can we do this' to 'how do we get you to your grandchild without putting your career at risk in the last eighteen months of thirty-one years.' The general is a good leader; given a clean option, she takes it. The CSM's involvement is decisive. The general will not be pushed by a major; she will be persuaded by her CSM.</a:t>
            </a:r>
            <a:endParaRPr lang="en-US" sz="1400" dirty="0"/>
          </a:p>
        </p:txBody>
      </p:sp>
      <p:sp>
        <p:nvSpPr>
          <p:cNvPr id="8" name="Text 6"/>
          <p:cNvSpPr/>
          <p:nvPr/>
        </p:nvSpPr>
        <p:spPr>
          <a:xfrm>
            <a:off x="548640" y="4297680"/>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TAKE TO DISCUSSION</a:t>
            </a:r>
            <a:endParaRPr lang="en-US" sz="1000" dirty="0"/>
          </a:p>
        </p:txBody>
      </p:sp>
      <p:sp>
        <p:nvSpPr>
          <p:cNvPr id="9" name="Text 7"/>
          <p:cNvSpPr/>
          <p:nvPr/>
        </p:nvSpPr>
        <p:spPr>
          <a:xfrm>
            <a:off x="548640" y="4572000"/>
            <a:ext cx="11064240" cy="1920240"/>
          </a:xfrm>
          <a:prstGeom prst="rect">
            <a:avLst/>
          </a:prstGeom>
          <a:noFill/>
          <a:ln/>
        </p:spPr>
        <p:txBody>
          <a:bodyPr wrap="square" lIns="0" tIns="0" rIns="0" bIns="0" rtlCol="0" anchor="t"/>
          <a:lstStyle/>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1. Why is Path C only conditionally acceptable? What does the Stickler fail to do that the Partner does?</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2. The general is acting in good faith. She sees a way to combine duty and family travel. What is the difference between a good-faith JTR misinterpretation and an Article 132 violation? Where does the line sit?</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3. If the aide is morally certain that another staff officer will cut the orders if the aide refuses, is the aide still obligated to refuse? Does enabling fraud-by-inaction differ from enabling fraud-by-action?</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4. What role does rank-asymmetry play here? The CSM is the same general's CSM and has the standing to deliver the message in a way the major does not. How should the major think about recruiting the right messenger for the truth?</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5. Apply Kellerman's typology: which of the four staff members is the Bystander, and what is the Bystander's moral exposure?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365760" y="1280160"/>
            <a:ext cx="4572000" cy="4114800"/>
          </a:xfrm>
          <a:prstGeom prst="rect">
            <a:avLst/>
          </a:prstGeom>
          <a:noFill/>
          <a:ln/>
        </p:spPr>
        <p:txBody>
          <a:bodyPr wrap="square" lIns="0" tIns="0" rIns="0" bIns="0" rtlCol="0" anchor="ctr"/>
          <a:lstStyle/>
          <a:p>
            <a:pPr indent="0" marL="0">
              <a:buNone/>
            </a:pPr>
            <a:r>
              <a:rPr lang="en-US" sz="32000" b="1" i="1" dirty="0">
                <a:solidFill>
                  <a:srgbClr val="1E2761"/>
                </a:solidFill>
                <a:latin typeface="Cambria" pitchFamily="34" charset="0"/>
                <a:ea typeface="Cambria" pitchFamily="34" charset="-122"/>
                <a:cs typeface="Cambria" pitchFamily="34" charset="-120"/>
              </a:rPr>
              <a:t>04</a:t>
            </a:r>
            <a:endParaRPr lang="en-US" sz="32000" dirty="0"/>
          </a:p>
        </p:txBody>
      </p:sp>
      <p:sp>
        <p:nvSpPr>
          <p:cNvPr id="3" name="Text 1"/>
          <p:cNvSpPr/>
          <p:nvPr/>
        </p:nvSpPr>
        <p:spPr>
          <a:xfrm>
            <a:off x="4754880" y="1554480"/>
            <a:ext cx="6858000" cy="36576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SCENARIO 4</a:t>
            </a:r>
            <a:endParaRPr lang="en-US" sz="1400" dirty="0"/>
          </a:p>
        </p:txBody>
      </p:sp>
      <p:sp>
        <p:nvSpPr>
          <p:cNvPr id="4" name="Text 2"/>
          <p:cNvSpPr/>
          <p:nvPr/>
        </p:nvSpPr>
        <p:spPr>
          <a:xfrm>
            <a:off x="4754880" y="1965960"/>
            <a:ext cx="685800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Inherited Earthquake-Risk Apartment Building</a:t>
            </a:r>
            <a:endParaRPr lang="en-US" sz="3600" dirty="0"/>
          </a:p>
        </p:txBody>
      </p:sp>
      <p:sp>
        <p:nvSpPr>
          <p:cNvPr id="5" name="Text 3"/>
          <p:cNvSpPr/>
          <p:nvPr/>
        </p:nvSpPr>
        <p:spPr>
          <a:xfrm>
            <a:off x="4754880" y="3520440"/>
            <a:ext cx="6858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Embassy Facility Operations / Diplomatic Security</a:t>
            </a:r>
            <a:endParaRPr lang="en-US" sz="1400" dirty="0"/>
          </a:p>
        </p:txBody>
      </p:sp>
      <p:sp>
        <p:nvSpPr>
          <p:cNvPr id="6" name="Shape 4"/>
          <p:cNvSpPr/>
          <p:nvPr/>
        </p:nvSpPr>
        <p:spPr>
          <a:xfrm>
            <a:off x="4754880" y="4023360"/>
            <a:ext cx="6858000" cy="36576"/>
          </a:xfrm>
          <a:prstGeom prst="rect">
            <a:avLst/>
          </a:prstGeom>
          <a:solidFill>
            <a:srgbClr val="B85042"/>
          </a:solidFill>
          <a:ln w="12700">
            <a:solidFill>
              <a:srgbClr val="B85042"/>
            </a:solidFill>
            <a:prstDash val="solid"/>
          </a:ln>
        </p:spPr>
      </p:sp>
      <p:sp>
        <p:nvSpPr>
          <p:cNvPr id="7" name="Text 5"/>
          <p:cNvSpPr/>
          <p:nvPr/>
        </p:nvSpPr>
        <p:spPr>
          <a:xfrm>
            <a:off x="4754880" y="4160520"/>
            <a:ext cx="6858000" cy="2011680"/>
          </a:xfrm>
          <a:prstGeom prst="rect">
            <a:avLst/>
          </a:prstGeom>
          <a:noFill/>
          <a:ln/>
        </p:spPr>
        <p:txBody>
          <a:bodyPr wrap="square" lIns="0" tIns="0" rIns="0" bIns="0" rtlCol="0" anchor="t"/>
          <a:lstStyle/>
          <a:p>
            <a:pPr indent="0" marL="0">
              <a:spcAft>
                <a:spcPts val="600"/>
              </a:spcAft>
              <a:buNone/>
            </a:pPr>
            <a:r>
              <a:rPr lang="en-US" sz="1000" b="1" spc="400" kern="0" dirty="0">
                <a:solidFill>
                  <a:srgbClr val="B85042"/>
                </a:solidFill>
                <a:latin typeface="Calibri" pitchFamily="34" charset="0"/>
                <a:ea typeface="Calibri" pitchFamily="34" charset="-122"/>
                <a:cs typeface="Calibri" pitchFamily="34" charset="-120"/>
              </a:rPr>
              <a:t>SETTING
</a:t>
            </a:r>
            <a:pPr indent="0" marL="0">
              <a:spcAft>
                <a:spcPts val="600"/>
              </a:spcAft>
              <a:buNone/>
            </a:pPr>
            <a:r>
              <a:rPr lang="en-US" sz="1200" dirty="0">
                <a:solidFill>
                  <a:srgbClr val="CADCFC"/>
                </a:solidFill>
                <a:latin typeface="Calibri" pitchFamily="34" charset="0"/>
                <a:ea typeface="Calibri" pitchFamily="34" charset="-122"/>
                <a:cs typeface="Calibri" pitchFamily="34" charset="-120"/>
              </a:rPr>
              <a:t>U.S. Embassy in a high-seismic-zone capital in East Asia. The student is six months into a two-year assignment as the post Safety Officer (reporting to the DCM on safety matters). Inherited an embassy-owned apartment building immediately adjacent to the chancery compound. The building was rated 'very poor' for seismic compatibility in the most recent Bureau of Overseas Buildings Operations (OBO) Seismic Safety Program assessment.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4</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Leader and the Student</a:t>
            </a:r>
            <a:endParaRPr lang="en-US" sz="3200" dirty="0"/>
          </a:p>
        </p:txBody>
      </p:sp>
      <p:sp>
        <p:nvSpPr>
          <p:cNvPr id="5" name="Shape 3"/>
          <p:cNvSpPr/>
          <p:nvPr/>
        </p:nvSpPr>
        <p:spPr>
          <a:xfrm>
            <a:off x="548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5349240" cy="640080"/>
          </a:xfrm>
          <a:prstGeom prst="rect">
            <a:avLst/>
          </a:prstGeom>
          <a:solidFill>
            <a:srgbClr val="1E2761"/>
          </a:solidFill>
          <a:ln w="12700">
            <a:solidFill>
              <a:srgbClr val="1E2761"/>
            </a:solidFill>
            <a:prstDash val="solid"/>
          </a:ln>
        </p:spPr>
      </p:sp>
      <p:sp>
        <p:nvSpPr>
          <p:cNvPr id="7" name="Text 5"/>
          <p:cNvSpPr/>
          <p:nvPr/>
        </p:nvSpPr>
        <p:spPr>
          <a:xfrm>
            <a:off x="777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CADCFC"/>
                </a:solidFill>
                <a:latin typeface="Calibri" pitchFamily="34" charset="0"/>
                <a:ea typeface="Calibri" pitchFamily="34" charset="-122"/>
                <a:cs typeface="Calibri" pitchFamily="34" charset="-120"/>
              </a:rPr>
              <a:t>THE LEADER</a:t>
            </a:r>
            <a:endParaRPr lang="en-US" sz="1100" dirty="0"/>
          </a:p>
        </p:txBody>
      </p:sp>
      <p:sp>
        <p:nvSpPr>
          <p:cNvPr id="8" name="Text 6"/>
          <p:cNvSpPr/>
          <p:nvPr/>
        </p:nvSpPr>
        <p:spPr>
          <a:xfrm>
            <a:off x="777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DCM Ainsworth</a:t>
            </a:r>
            <a:endParaRPr lang="en-US" sz="1600" dirty="0"/>
          </a:p>
        </p:txBody>
      </p:sp>
      <p:sp>
        <p:nvSpPr>
          <p:cNvPr id="9" name="Text 7"/>
          <p:cNvSpPr/>
          <p:nvPr/>
        </p:nvSpPr>
        <p:spPr>
          <a:xfrm>
            <a:off x="777240" y="2788920"/>
            <a:ext cx="4892040" cy="274320"/>
          </a:xfrm>
          <a:prstGeom prst="rect">
            <a:avLst/>
          </a:prstGeom>
          <a:noFill/>
          <a:ln/>
        </p:spPr>
        <p:txBody>
          <a:bodyPr wrap="square" lIns="0" tIns="0" rIns="0" bIns="0" rtlCol="0" anchor="ctr"/>
          <a:lstStyle/>
          <a:p>
            <a:pPr indent="0" marL="0">
              <a:buNone/>
            </a:pPr>
            <a:r>
              <a:rPr lang="en-US" sz="1300" b="1" i="1" dirty="0">
                <a:solidFill>
                  <a:srgbClr val="B85042"/>
                </a:solidFill>
                <a:latin typeface="Calibri" pitchFamily="34" charset="0"/>
                <a:ea typeface="Calibri" pitchFamily="34" charset="-122"/>
                <a:cs typeface="Calibri" pitchFamily="34" charset="-120"/>
              </a:rPr>
              <a:t>Deputy Chief of Mission (front-office principal)</a:t>
            </a:r>
            <a:endParaRPr lang="en-US" sz="1300" dirty="0"/>
          </a:p>
        </p:txBody>
      </p:sp>
      <p:sp>
        <p:nvSpPr>
          <p:cNvPr id="10" name="Text 8"/>
          <p:cNvSpPr/>
          <p:nvPr/>
        </p:nvSpPr>
        <p:spPr>
          <a:xfrm>
            <a:off x="777240" y="3108960"/>
            <a:ext cx="489204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BACKGROUND
</a:t>
            </a:r>
            <a:pPr indent="0" marL="0">
              <a:buNone/>
            </a:pPr>
            <a:r>
              <a:rPr lang="en-US" sz="1200" dirty="0">
                <a:solidFill>
                  <a:srgbClr val="14193D"/>
                </a:solidFill>
                <a:latin typeface="Calibri" pitchFamily="34" charset="0"/>
                <a:ea typeface="Calibri" pitchFamily="34" charset="-122"/>
                <a:cs typeface="Calibri" pitchFamily="34" charset="-120"/>
              </a:rPr>
              <a:t>Senior Foreign Service Officer, FE-OC. At post for two and a half years, eighteen months remaining on a three-year tour. Considered a strong candidate for an Office Director position back in Washington. Has built a reputation for 'smooth post operations' that he is protective of.
</a:t>
            </a:r>
            <a:pPr indent="0" marL="0">
              <a:buNone/>
            </a:pPr>
            <a:r>
              <a:rPr lang="en-US" sz="900" b="1" spc="300" kern="0" dirty="0">
                <a:solidFill>
                  <a:srgbClr val="1E2761"/>
                </a:solidFill>
                <a:latin typeface="Calibri" pitchFamily="34" charset="0"/>
                <a:ea typeface="Calibri" pitchFamily="34" charset="-122"/>
                <a:cs typeface="Calibri" pitchFamily="34" charset="-120"/>
              </a:rPr>
              <a:t>MOTIVATION
</a:t>
            </a:r>
            <a:pPr indent="0" marL="0">
              <a:buNone/>
            </a:pPr>
            <a:r>
              <a:rPr lang="en-US" sz="1200" dirty="0">
                <a:solidFill>
                  <a:srgbClr val="14193D"/>
                </a:solidFill>
                <a:latin typeface="Calibri" pitchFamily="34" charset="0"/>
                <a:ea typeface="Calibri" pitchFamily="34" charset="-122"/>
                <a:cs typeface="Calibri" pitchFamily="34" charset="-120"/>
              </a:rPr>
              <a:t>Avoid morale incidents close to the end-of-tour PCS season. Avoid the appearance of having mismanaged the housing portfolio he inherited. Most importantly, avoid putting anything in front of the Ambassador that requires an Ambassador-level decision before his next bid cycle.</a:t>
            </a:r>
            <a:endParaRPr lang="en-US" sz="900" dirty="0"/>
          </a:p>
        </p:txBody>
      </p:sp>
      <p:sp>
        <p:nvSpPr>
          <p:cNvPr id="11" name="Shape 9"/>
          <p:cNvSpPr/>
          <p:nvPr/>
        </p:nvSpPr>
        <p:spPr>
          <a:xfrm>
            <a:off x="6263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263640" y="2011680"/>
            <a:ext cx="5349240" cy="640080"/>
          </a:xfrm>
          <a:prstGeom prst="rect">
            <a:avLst/>
          </a:prstGeom>
          <a:solidFill>
            <a:srgbClr val="B85042"/>
          </a:solidFill>
          <a:ln w="12700">
            <a:solidFill>
              <a:srgbClr val="B85042"/>
            </a:solidFill>
            <a:prstDash val="solid"/>
          </a:ln>
        </p:spPr>
      </p:sp>
      <p:sp>
        <p:nvSpPr>
          <p:cNvPr id="13" name="Text 11"/>
          <p:cNvSpPr/>
          <p:nvPr/>
        </p:nvSpPr>
        <p:spPr>
          <a:xfrm>
            <a:off x="6492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YOU (THE STUDENT)</a:t>
            </a:r>
            <a:endParaRPr lang="en-US" sz="1100" dirty="0"/>
          </a:p>
        </p:txBody>
      </p:sp>
      <p:sp>
        <p:nvSpPr>
          <p:cNvPr id="14" name="Text 12"/>
          <p:cNvSpPr/>
          <p:nvPr/>
        </p:nvSpPr>
        <p:spPr>
          <a:xfrm>
            <a:off x="6492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Post Safety Officer (junior FSO or military attaché OIC; reports to the DCM on safety matters)</a:t>
            </a:r>
            <a:endParaRPr lang="en-US" sz="1600" dirty="0"/>
          </a:p>
        </p:txBody>
      </p:sp>
      <p:sp>
        <p:nvSpPr>
          <p:cNvPr id="15" name="Text 13"/>
          <p:cNvSpPr/>
          <p:nvPr/>
        </p:nvSpPr>
        <p:spPr>
          <a:xfrm>
            <a:off x="6492240" y="2880360"/>
            <a:ext cx="4892040" cy="32004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STAKES
</a:t>
            </a:r>
            <a:pPr indent="0" marL="0">
              <a:buNone/>
            </a:pPr>
            <a:r>
              <a:rPr lang="en-US" sz="1200" dirty="0">
                <a:solidFill>
                  <a:srgbClr val="14193D"/>
                </a:solidFill>
                <a:latin typeface="Calibri" pitchFamily="34" charset="0"/>
                <a:ea typeface="Calibri" pitchFamily="34" charset="-122"/>
                <a:cs typeface="Calibri" pitchFamily="34" charset="-120"/>
              </a:rPr>
              <a:t>Performance evaluation feeds into next post bid. The student has bid on a high-priority post and the DCM is the rating officer. If a building collapse occurs on the Safety Officer's watch, foreseeable and documented, the Safety Officer faces potential federal civil liability and possible criminal negligence exposure under U.S.C. Title 18.
</a:t>
            </a:r>
            <a:pPr indent="0" marL="0">
              <a:buNone/>
            </a:pPr>
            <a:r>
              <a:rPr lang="en-US" sz="900" b="1" spc="300" kern="0" dirty="0">
                <a:solidFill>
                  <a:srgbClr val="B85042"/>
                </a:solidFill>
                <a:latin typeface="Calibri" pitchFamily="34" charset="0"/>
                <a:ea typeface="Calibri" pitchFamily="34" charset="-122"/>
                <a:cs typeface="Calibri" pitchFamily="34" charset="-120"/>
              </a:rPr>
              <a:t>NATURE OF RISK
</a:t>
            </a:r>
            <a:pPr indent="0" marL="0">
              <a:buNone/>
            </a:pPr>
            <a:r>
              <a:rPr lang="en-US" sz="1200" dirty="0">
                <a:solidFill>
                  <a:srgbClr val="14193D"/>
                </a:solidFill>
                <a:latin typeface="Calibri" pitchFamily="34" charset="0"/>
                <a:ea typeface="Calibri" pitchFamily="34" charset="-122"/>
                <a:cs typeface="Calibri" pitchFamily="34" charset="-120"/>
              </a:rPr>
              <a:t>Mixed: career, legal, and moral. Diplomatic post-bid risk is real but secondary to the moral and legal weight of housing families in a building rated 'very poor.'</a:t>
            </a:r>
            <a:endParaRPr lang="en-US" sz="9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4 — The Inherited Earthquake-Risk Apartment Building</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548640"/>
            <a:ext cx="11064240" cy="36576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MORALLY AMBIGUOUS ORDER</a:t>
            </a:r>
            <a:endParaRPr lang="en-US" sz="1200" dirty="0"/>
          </a:p>
        </p:txBody>
      </p:sp>
      <p:sp>
        <p:nvSpPr>
          <p:cNvPr id="3" name="Text 1"/>
          <p:cNvSpPr/>
          <p:nvPr/>
        </p:nvSpPr>
        <p:spPr>
          <a:xfrm>
            <a:off x="548640" y="91440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4: The Inherited Earthquake-Risk Apartment Building</a:t>
            </a:r>
            <a:endParaRPr lang="en-US" sz="2200" dirty="0"/>
          </a:p>
        </p:txBody>
      </p:sp>
      <p:sp>
        <p:nvSpPr>
          <p:cNvPr id="4" name="Shape 2"/>
          <p:cNvSpPr/>
          <p:nvPr/>
        </p:nvSpPr>
        <p:spPr>
          <a:xfrm>
            <a:off x="548640" y="1600200"/>
            <a:ext cx="73152" cy="1737360"/>
          </a:xfrm>
          <a:prstGeom prst="rect">
            <a:avLst/>
          </a:prstGeom>
          <a:solidFill>
            <a:srgbClr val="B85042"/>
          </a:solidFill>
          <a:ln w="12700">
            <a:solidFill>
              <a:srgbClr val="B85042"/>
            </a:solidFill>
            <a:prstDash val="solid"/>
          </a:ln>
        </p:spPr>
      </p:sp>
      <p:sp>
        <p:nvSpPr>
          <p:cNvPr id="5" name="Text 3"/>
          <p:cNvSpPr/>
          <p:nvPr/>
        </p:nvSpPr>
        <p:spPr>
          <a:xfrm>
            <a:off x="914400" y="1554480"/>
            <a:ext cx="10698480" cy="18288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“DCM Ainsworth: 'We are not moving anyone. The two outbound families PCS in eight weeks. The kids are in school. The third officer has the thirty-minute recall requirement and the housing pool is tight. We have not had a real earthquake this season. Just monitor it. Close out the OBO finding as monitored, residents accept risk, recall mission essential. We have done that before.'”</a:t>
            </a:r>
            <a:endParaRPr lang="en-US" sz="1800" dirty="0"/>
          </a:p>
        </p:txBody>
      </p:sp>
      <p:sp>
        <p:nvSpPr>
          <p:cNvPr id="6" name="Shape 4"/>
          <p:cNvSpPr/>
          <p:nvPr/>
        </p:nvSpPr>
        <p:spPr>
          <a:xfrm>
            <a:off x="548640" y="3520440"/>
            <a:ext cx="11064240" cy="2926080"/>
          </a:xfrm>
          <a:prstGeom prst="rect">
            <a:avLst/>
          </a:prstGeom>
          <a:solidFill>
            <a:srgbClr val="1E2761"/>
          </a:solidFill>
          <a:ln w="12700">
            <a:solidFill>
              <a:srgbClr val="1E2761"/>
            </a:solidFill>
            <a:prstDash val="solid"/>
          </a:ln>
        </p:spPr>
      </p:sp>
      <p:sp>
        <p:nvSpPr>
          <p:cNvPr id="7" name="Text 5"/>
          <p:cNvSpPr/>
          <p:nvPr/>
        </p:nvSpPr>
        <p:spPr>
          <a:xfrm>
            <a:off x="822960" y="3657600"/>
            <a:ext cx="1051560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REGULATORY AND OPERATIONAL CONTEXT</a:t>
            </a:r>
            <a:endParaRPr lang="en-US" sz="1000" dirty="0"/>
          </a:p>
        </p:txBody>
      </p:sp>
      <p:sp>
        <p:nvSpPr>
          <p:cNvPr id="8" name="Text 6"/>
          <p:cNvSpPr/>
          <p:nvPr/>
        </p:nvSpPr>
        <p:spPr>
          <a:xfrm>
            <a:off x="822960" y="3977640"/>
            <a:ext cx="10515600" cy="237744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15 FAM 252.4 and the OBO Seismic Safety Program treat a 'very poor' rating as a triggering condition for vacating, not for monitoring. Three families currently live in the building: Officer X (PCS in four weeks), Officer Y (PCS in eight weeks, child mid-school-year), and Officer Z (the essential officer requiring thirty-minute recall for after-hours embassy operations). The remainder of the housing portfolio sits in leased high-rise buildings within thirty minutes of the embassy, in code-compliant structures with available capacity. The thirty-minute recall requirement is satisfied by all of them. There is no operational requirement that places Officer Z specifically in this building.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365760"/>
            <a:ext cx="1106424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4</a:t>
            </a:r>
            <a:endParaRPr lang="en-US" sz="1000" dirty="0"/>
          </a:p>
        </p:txBody>
      </p:sp>
      <p:sp>
        <p:nvSpPr>
          <p:cNvPr id="4" name="Text 2"/>
          <p:cNvSpPr/>
          <p:nvPr/>
        </p:nvSpPr>
        <p:spPr>
          <a:xfrm>
            <a:off x="548640" y="640080"/>
            <a:ext cx="11064240"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Four Subordinates and Their Advice</a:t>
            </a:r>
            <a:endParaRPr lang="en-US" sz="2200" dirty="0"/>
          </a:p>
        </p:txBody>
      </p:sp>
      <p:sp>
        <p:nvSpPr>
          <p:cNvPr id="5" name="Shape 3"/>
          <p:cNvSpPr/>
          <p:nvPr/>
        </p:nvSpPr>
        <p:spPr>
          <a:xfrm>
            <a:off x="548640"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1188720"/>
            <a:ext cx="109728" cy="2743200"/>
          </a:xfrm>
          <a:prstGeom prst="rect">
            <a:avLst/>
          </a:prstGeom>
          <a:solidFill>
            <a:srgbClr val="7B2D26"/>
          </a:solidFill>
          <a:ln w="12700">
            <a:solidFill>
              <a:srgbClr val="7B2D26"/>
            </a:solidFill>
            <a:prstDash val="solid"/>
          </a:ln>
        </p:spPr>
      </p:sp>
      <p:sp>
        <p:nvSpPr>
          <p:cNvPr id="7" name="Text 5"/>
          <p:cNvSpPr/>
          <p:nvPr/>
        </p:nvSpPr>
        <p:spPr>
          <a:xfrm>
            <a:off x="822960" y="1298448"/>
            <a:ext cx="5010912" cy="201168"/>
          </a:xfrm>
          <a:prstGeom prst="rect">
            <a:avLst/>
          </a:prstGeom>
          <a:noFill/>
          <a:ln/>
        </p:spPr>
        <p:txBody>
          <a:bodyPr wrap="square" lIns="0" tIns="0" rIns="0" bIns="0" rtlCol="0" anchor="ctr"/>
          <a:lstStyle/>
          <a:p>
            <a:pPr indent="0" marL="0">
              <a:buNone/>
            </a:pPr>
            <a:r>
              <a:rPr lang="en-US" sz="950" b="1" spc="400" kern="0" dirty="0">
                <a:solidFill>
                  <a:srgbClr val="7B2D26"/>
                </a:solidFill>
                <a:latin typeface="Calibri" pitchFamily="34" charset="0"/>
                <a:ea typeface="Calibri" pitchFamily="34" charset="-122"/>
                <a:cs typeface="Calibri" pitchFamily="34" charset="-120"/>
              </a:rPr>
              <a:t>LOYALIST</a:t>
            </a:r>
            <a:endParaRPr lang="en-US" sz="950" dirty="0"/>
          </a:p>
        </p:txBody>
      </p:sp>
      <p:sp>
        <p:nvSpPr>
          <p:cNvPr id="8" name="Text 6"/>
          <p:cNvSpPr/>
          <p:nvPr/>
        </p:nvSpPr>
        <p:spPr>
          <a:xfrm>
            <a:off x="822960"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GSO Specialist Gupta — Housing Coordinator, General Services Office</a:t>
            </a:r>
            <a:endParaRPr lang="en-US" sz="1200" dirty="0"/>
          </a:p>
        </p:txBody>
      </p:sp>
      <p:sp>
        <p:nvSpPr>
          <p:cNvPr id="9" name="Text 7"/>
          <p:cNvSpPr/>
          <p:nvPr/>
        </p:nvSpPr>
        <p:spPr>
          <a:xfrm>
            <a:off x="822960"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Conformist</a:t>
            </a:r>
            <a:endParaRPr lang="en-US" sz="850" dirty="0"/>
          </a:p>
        </p:txBody>
      </p:sp>
      <p:sp>
        <p:nvSpPr>
          <p:cNvPr id="10" name="Text 8"/>
          <p:cNvSpPr/>
          <p:nvPr/>
        </p:nvSpPr>
        <p:spPr>
          <a:xfrm>
            <a:off x="822960" y="2011680"/>
            <a:ext cx="5010912" cy="1828800"/>
          </a:xfrm>
          <a:prstGeom prst="rect">
            <a:avLst/>
          </a:prstGeom>
          <a:noFill/>
          <a:ln/>
        </p:spPr>
        <p:txBody>
          <a:bodyPr wrap="square" lIns="0" tIns="0" rIns="0" bIns="0" rtlCol="0" anchor="t"/>
          <a:lstStyle/>
          <a:p>
            <a:pPr indent="0" marL="0">
              <a:spcAft>
                <a:spcPts val="200"/>
              </a:spcAft>
              <a:buNone/>
            </a:pPr>
            <a:r>
              <a:rPr lang="en-US" sz="950" i="1" dirty="0">
                <a:solidFill>
                  <a:srgbClr val="14193D"/>
                </a:solidFill>
                <a:latin typeface="Calibri" pitchFamily="34" charset="0"/>
                <a:ea typeface="Calibri" pitchFamily="34" charset="-122"/>
                <a:cs typeface="Calibri" pitchFamily="34" charset="-120"/>
              </a:rPr>
              <a:t>“Roger, ma'am. I'll close out the OBO finding as monitored, residents accept risk, recall mission essential. I'll draft the close-out memo for your signature this afternoon. We have used the same close-out language on the building since 2022.”</a:t>
            </a:r>
            <a:endParaRPr lang="en-US" sz="950" dirty="0"/>
          </a:p>
          <a:p>
            <a:pPr indent="0" marL="0">
              <a:spcAft>
                <a:spcPts val="200"/>
              </a:spcAft>
              <a:buNone/>
            </a:pPr>
            <a:endParaRPr lang="en-US" sz="9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Will paper over the finding as directed. The 2022 close-out is itself a problem; it suggests this is the third year of papering over.</a:t>
            </a:r>
            <a:endParaRPr lang="en-US" sz="950" dirty="0"/>
          </a:p>
        </p:txBody>
      </p:sp>
      <p:sp>
        <p:nvSpPr>
          <p:cNvPr id="11" name="Shape 9"/>
          <p:cNvSpPr/>
          <p:nvPr/>
        </p:nvSpPr>
        <p:spPr>
          <a:xfrm>
            <a:off x="6144768"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144768" y="1188720"/>
            <a:ext cx="109728" cy="2743200"/>
          </a:xfrm>
          <a:prstGeom prst="rect">
            <a:avLst/>
          </a:prstGeom>
          <a:solidFill>
            <a:srgbClr val="C97B5C"/>
          </a:solidFill>
          <a:ln w="12700">
            <a:solidFill>
              <a:srgbClr val="C97B5C"/>
            </a:solidFill>
            <a:prstDash val="solid"/>
          </a:ln>
        </p:spPr>
      </p:sp>
      <p:sp>
        <p:nvSpPr>
          <p:cNvPr id="13" name="Text 11"/>
          <p:cNvSpPr/>
          <p:nvPr/>
        </p:nvSpPr>
        <p:spPr>
          <a:xfrm>
            <a:off x="6419088" y="1298448"/>
            <a:ext cx="5010912" cy="201168"/>
          </a:xfrm>
          <a:prstGeom prst="rect">
            <a:avLst/>
          </a:prstGeom>
          <a:noFill/>
          <a:ln/>
        </p:spPr>
        <p:txBody>
          <a:bodyPr wrap="square" lIns="0" tIns="0" rIns="0" bIns="0" rtlCol="0" anchor="ctr"/>
          <a:lstStyle/>
          <a:p>
            <a:pPr indent="0" marL="0">
              <a:buNone/>
            </a:pPr>
            <a:r>
              <a:rPr lang="en-US" sz="950" b="1" spc="400" kern="0" dirty="0">
                <a:solidFill>
                  <a:srgbClr val="C97B5C"/>
                </a:solidFill>
                <a:latin typeface="Calibri" pitchFamily="34" charset="0"/>
                <a:ea typeface="Calibri" pitchFamily="34" charset="-122"/>
                <a:cs typeface="Calibri" pitchFamily="34" charset="-120"/>
              </a:rPr>
              <a:t>OPERATOR</a:t>
            </a:r>
            <a:endParaRPr lang="en-US" sz="950" dirty="0"/>
          </a:p>
        </p:txBody>
      </p:sp>
      <p:sp>
        <p:nvSpPr>
          <p:cNvPr id="14" name="Text 12"/>
          <p:cNvSpPr/>
          <p:nvPr/>
        </p:nvSpPr>
        <p:spPr>
          <a:xfrm>
            <a:off x="6419088"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Logistics Coordinator Park — Local-Hire (LE Staff) Logistics, GSO</a:t>
            </a:r>
            <a:endParaRPr lang="en-US" sz="1200" dirty="0"/>
          </a:p>
        </p:txBody>
      </p:sp>
      <p:sp>
        <p:nvSpPr>
          <p:cNvPr id="15" name="Text 13"/>
          <p:cNvSpPr/>
          <p:nvPr/>
        </p:nvSpPr>
        <p:spPr>
          <a:xfrm>
            <a:off x="6419088"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Resource</a:t>
            </a:r>
            <a:endParaRPr lang="en-US" sz="850" dirty="0"/>
          </a:p>
        </p:txBody>
      </p:sp>
      <p:sp>
        <p:nvSpPr>
          <p:cNvPr id="16" name="Text 14"/>
          <p:cNvSpPr/>
          <p:nvPr/>
        </p:nvSpPr>
        <p:spPr>
          <a:xfrm>
            <a:off x="6419088" y="2011680"/>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“Let's split the difference. We move Officers X and Y to high-rises, since they are leaving anyway. We frame it as a temporary pre-PCS staging move, not a safety vacate, so the front office does not have to acknowledge the seismic finding publicly. Officer Z stays in the building. We add structural braces in the master bedroom and a quake-grab kit. … [full text in scenario book]”</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Half-measure. Looks pragmatic, leaves the most senior person in the unsafe building, and creates a record that explicitly acknowledges the building is unsafe but houses someone in it anyway.</a:t>
            </a:r>
            <a:endParaRPr lang="en-US" sz="850" dirty="0"/>
          </a:p>
        </p:txBody>
      </p:sp>
      <p:sp>
        <p:nvSpPr>
          <p:cNvPr id="17" name="Shape 15"/>
          <p:cNvSpPr/>
          <p:nvPr/>
        </p:nvSpPr>
        <p:spPr>
          <a:xfrm>
            <a:off x="548640"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8" name="Shape 16"/>
          <p:cNvSpPr/>
          <p:nvPr/>
        </p:nvSpPr>
        <p:spPr>
          <a:xfrm>
            <a:off x="548640" y="4059936"/>
            <a:ext cx="109728" cy="2743200"/>
          </a:xfrm>
          <a:prstGeom prst="rect">
            <a:avLst/>
          </a:prstGeom>
          <a:solidFill>
            <a:srgbClr val="3F5E78"/>
          </a:solidFill>
          <a:ln w="12700">
            <a:solidFill>
              <a:srgbClr val="3F5E78"/>
            </a:solidFill>
            <a:prstDash val="solid"/>
          </a:ln>
        </p:spPr>
      </p:sp>
      <p:sp>
        <p:nvSpPr>
          <p:cNvPr id="19" name="Text 17"/>
          <p:cNvSpPr/>
          <p:nvPr/>
        </p:nvSpPr>
        <p:spPr>
          <a:xfrm>
            <a:off x="822960" y="4169664"/>
            <a:ext cx="5010912" cy="201168"/>
          </a:xfrm>
          <a:prstGeom prst="rect">
            <a:avLst/>
          </a:prstGeom>
          <a:noFill/>
          <a:ln/>
        </p:spPr>
        <p:txBody>
          <a:bodyPr wrap="square" lIns="0" tIns="0" rIns="0" bIns="0" rtlCol="0" anchor="ctr"/>
          <a:lstStyle/>
          <a:p>
            <a:pPr indent="0" marL="0">
              <a:buNone/>
            </a:pPr>
            <a:r>
              <a:rPr lang="en-US" sz="950" b="1" spc="400" kern="0" dirty="0">
                <a:solidFill>
                  <a:srgbClr val="3F5E78"/>
                </a:solidFill>
                <a:latin typeface="Calibri" pitchFamily="34" charset="0"/>
                <a:ea typeface="Calibri" pitchFamily="34" charset="-122"/>
                <a:cs typeface="Calibri" pitchFamily="34" charset="-120"/>
              </a:rPr>
              <a:t>STICKLER</a:t>
            </a:r>
            <a:endParaRPr lang="en-US" sz="950" dirty="0"/>
          </a:p>
        </p:txBody>
      </p:sp>
      <p:sp>
        <p:nvSpPr>
          <p:cNvPr id="20" name="Text 18"/>
          <p:cNvSpPr/>
          <p:nvPr/>
        </p:nvSpPr>
        <p:spPr>
          <a:xfrm>
            <a:off x="822960"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RSO Engineer Ahmed — Regional Security Office, Facilities Engineer</a:t>
            </a:r>
            <a:endParaRPr lang="en-US" sz="1200" dirty="0"/>
          </a:p>
        </p:txBody>
      </p:sp>
      <p:sp>
        <p:nvSpPr>
          <p:cNvPr id="21" name="Text 19"/>
          <p:cNvSpPr/>
          <p:nvPr/>
        </p:nvSpPr>
        <p:spPr>
          <a:xfrm>
            <a:off x="822960"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Individualist</a:t>
            </a:r>
            <a:endParaRPr lang="en-US" sz="850" dirty="0"/>
          </a:p>
        </p:txBody>
      </p:sp>
      <p:sp>
        <p:nvSpPr>
          <p:cNvPr id="22" name="Text 20"/>
          <p:cNvSpPr/>
          <p:nvPr/>
        </p:nvSpPr>
        <p:spPr>
          <a:xfrm>
            <a:off x="822960"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“Ma'am, 15 FAM 252.4 is unambiguous. A very poor rating triggers vacating, not monitoring. The recall requirement does not override safety. We do not have authority to close out a very poor finding. I will issue a thirty-day notice to vacate over the DCM's objection if I have to. That is what the regulation requires.”</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Correct, courageous, and likely to get the Safety Officer crosswise with the DCM with no off-ramp.</a:t>
            </a:r>
            <a:endParaRPr lang="en-US" sz="850" dirty="0"/>
          </a:p>
        </p:txBody>
      </p:sp>
      <p:sp>
        <p:nvSpPr>
          <p:cNvPr id="23" name="Shape 21"/>
          <p:cNvSpPr/>
          <p:nvPr/>
        </p:nvSpPr>
        <p:spPr>
          <a:xfrm>
            <a:off x="6144768"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4" name="Shape 22"/>
          <p:cNvSpPr/>
          <p:nvPr/>
        </p:nvSpPr>
        <p:spPr>
          <a:xfrm>
            <a:off x="6144768" y="4059936"/>
            <a:ext cx="109728" cy="2743200"/>
          </a:xfrm>
          <a:prstGeom prst="rect">
            <a:avLst/>
          </a:prstGeom>
          <a:solidFill>
            <a:srgbClr val="2C7A4B"/>
          </a:solidFill>
          <a:ln w="12700">
            <a:solidFill>
              <a:srgbClr val="2C7A4B"/>
            </a:solidFill>
            <a:prstDash val="solid"/>
          </a:ln>
        </p:spPr>
      </p:sp>
      <p:sp>
        <p:nvSpPr>
          <p:cNvPr id="25" name="Text 23"/>
          <p:cNvSpPr/>
          <p:nvPr/>
        </p:nvSpPr>
        <p:spPr>
          <a:xfrm>
            <a:off x="6419088" y="4169664"/>
            <a:ext cx="5010912" cy="201168"/>
          </a:xfrm>
          <a:prstGeom prst="rect">
            <a:avLst/>
          </a:prstGeom>
          <a:noFill/>
          <a:ln/>
        </p:spPr>
        <p:txBody>
          <a:bodyPr wrap="square" lIns="0" tIns="0" rIns="0" bIns="0" rtlCol="0" anchor="ctr"/>
          <a:lstStyle/>
          <a:p>
            <a:pPr indent="0" marL="0">
              <a:buNone/>
            </a:pPr>
            <a:r>
              <a:rPr lang="en-US" sz="950" b="1" spc="400" kern="0" dirty="0">
                <a:solidFill>
                  <a:srgbClr val="2C7A4B"/>
                </a:solidFill>
                <a:latin typeface="Calibri" pitchFamily="34" charset="0"/>
                <a:ea typeface="Calibri" pitchFamily="34" charset="-122"/>
                <a:cs typeface="Calibri" pitchFamily="34" charset="-120"/>
              </a:rPr>
              <a:t>PARTNER</a:t>
            </a:r>
            <a:endParaRPr lang="en-US" sz="950" dirty="0"/>
          </a:p>
        </p:txBody>
      </p:sp>
      <p:sp>
        <p:nvSpPr>
          <p:cNvPr id="26" name="Text 24"/>
          <p:cNvSpPr/>
          <p:nvPr/>
        </p:nvSpPr>
        <p:spPr>
          <a:xfrm>
            <a:off x="6419088"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Mrs. Tanaka — Senior LE Staff to the Front Office (twenty-two years at post)</a:t>
            </a:r>
            <a:endParaRPr lang="en-US" sz="1200" dirty="0"/>
          </a:p>
        </p:txBody>
      </p:sp>
      <p:sp>
        <p:nvSpPr>
          <p:cNvPr id="27" name="Text 25"/>
          <p:cNvSpPr/>
          <p:nvPr/>
        </p:nvSpPr>
        <p:spPr>
          <a:xfrm>
            <a:off x="6419088"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Partner; Lipman-Blumen: Independent Follower</a:t>
            </a:r>
            <a:endParaRPr lang="en-US" sz="850" dirty="0"/>
          </a:p>
        </p:txBody>
      </p:sp>
      <p:sp>
        <p:nvSpPr>
          <p:cNvPr id="28" name="Text 26"/>
          <p:cNvSpPr/>
          <p:nvPr/>
        </p:nvSpPr>
        <p:spPr>
          <a:xfrm>
            <a:off x="6419088"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“Safety Officer. The DCM does not actually want to die on the hill of an unsafe building. He wants the front office to look smooth. So we frame this as a memo to the Ambassador for risk acceptance, not as a fight with the front office. We pull the OBO inspection, the loss-of-life seismic modeling, and the RSO legal opinion. … [full text in scenario book]”</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Knows the front office's actual decision criteria better than the DCM does. Builds the move plan that solves the front office's stated objections one by one.</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4</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Decision Tree and Outcomes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40080"/>
                <a:gridCol w="2103120"/>
                <a:gridCol w="2377440"/>
                <a:gridCol w="4572000"/>
                <a:gridCol w="1371600"/>
              </a:tblGrid>
              <a:tr h="868680">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IMMEDIATE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A</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Close out the seismic finding as 'monitored, residents accept risk.'</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DCM is satisfied. Safety Officer's evaluation is positive. Status quo holds.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A 6.4-magnitude quake hits in month four. Building collapses partially. Two family members killed. State Department Office of Inspector General opens investigation. The 2022 and current close-out memos surface in the inspection. Safety Officer and DCM both named in the report. Civil liability proceedings open. The Safety Officer's name is in The Washington Post.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B</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Move two outbound families, leave essential Officer Z in the building.</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Two families safe. The DCM is somewhat satisfied because the action looks low-key. Officer Z stays put.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RSO files an internal complaint citing 15 FAM 252.4. State IG audit. Audit finds that Officer Z was knowingly housed in a very poor building with documentation of acknowledged risk. Even without an earthquake, this is a finding. Safety Officer's career damaged. DCM receives a letter of admonishment.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SEVERE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C</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Issue notice to vacate over the DCM's head.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Three families safe. DCM is furious. Drafts a critical evaluation. Safety Officer loses the next-post bid.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Six months later the next OBO assessment cycle confirms the building should have been vacated. Safety Officer is quietly vindicated. The bid is gone, but the Safety Officer retains professional integrity and is well-regarded by the OBO and RSO communities, which are small and remember.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SUBOPTIMAL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574"/>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D</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Build the Ambassador-facing risk-acceptance memo trap + family-by-family move plan.</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DCM looks at the package, recognizes that signing a risk-acceptance memo to the Ambassador is worse than approving the move. Approves the move plan. Three families relocated in fourteen days.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Officer Z's recall improves to twenty-two minutes by car from the new high-rise. School continuity preserved for Officer Y's child. DCM credited with 'safety culture leadership' in the next OIG inspection. Safety Officer receives a strong evaluation and the next post.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4B"/>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4 — The Inherited Earthquake-Risk Apartment Building</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292608"/>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4  ·  DECISION TREE</a:t>
            </a:r>
            <a:endParaRPr lang="en-US" sz="1000" dirty="0"/>
          </a:p>
        </p:txBody>
      </p:sp>
      <p:sp>
        <p:nvSpPr>
          <p:cNvPr id="4" name="Text 2"/>
          <p:cNvSpPr/>
          <p:nvPr/>
        </p:nvSpPr>
        <p:spPr>
          <a:xfrm>
            <a:off x="548640" y="548640"/>
            <a:ext cx="110642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Paths from order to outcome</a:t>
            </a:r>
            <a:endParaRPr lang="en-US" sz="1800" dirty="0"/>
          </a:p>
        </p:txBody>
      </p:sp>
      <p:sp>
        <p:nvSpPr>
          <p:cNvPr id="5" name="Shape 3"/>
          <p:cNvSpPr/>
          <p:nvPr/>
        </p:nvSpPr>
        <p:spPr>
          <a:xfrm>
            <a:off x="3337560" y="960120"/>
            <a:ext cx="5486400" cy="640080"/>
          </a:xfrm>
          <a:prstGeom prst="rect">
            <a:avLst/>
          </a:prstGeom>
          <a:solidFill>
            <a:srgbClr val="14193D"/>
          </a:solidFill>
          <a:ln w="12700">
            <a:solidFill>
              <a:srgbClr val="14193D"/>
            </a:solidFill>
            <a:prstDash val="solid"/>
          </a:ln>
          <a:effectLst>
            <a:outerShdw sx="100000" sy="100000" kx="0" ky="0" algn="bl" rotWithShape="0" blurRad="152400" dist="38100" dir="5400000">
              <a:srgbClr val="000000">
                <a:alpha val="10000"/>
              </a:srgbClr>
            </a:outerShdw>
          </a:effectLst>
        </p:spPr>
      </p:sp>
      <p:sp>
        <p:nvSpPr>
          <p:cNvPr id="6" name="Text 4"/>
          <p:cNvSpPr/>
          <p:nvPr/>
        </p:nvSpPr>
        <p:spPr>
          <a:xfrm>
            <a:off x="3474720" y="1014984"/>
            <a:ext cx="5212080" cy="182880"/>
          </a:xfrm>
          <a:prstGeom prst="rect">
            <a:avLst/>
          </a:prstGeom>
          <a:noFill/>
          <a:ln/>
        </p:spPr>
        <p:txBody>
          <a:bodyPr wrap="square" lIns="0" tIns="0" rIns="0" bIns="0" rtlCol="0" anchor="ctr"/>
          <a:lstStyle/>
          <a:p>
            <a:pPr indent="0" marL="0">
              <a:buNone/>
            </a:pPr>
            <a:r>
              <a:rPr lang="en-US" sz="850" b="1" spc="400" kern="0" dirty="0">
                <a:solidFill>
                  <a:srgbClr val="B85042"/>
                </a:solidFill>
                <a:latin typeface="Calibri" pitchFamily="34" charset="0"/>
                <a:ea typeface="Calibri" pitchFamily="34" charset="-122"/>
                <a:cs typeface="Calibri" pitchFamily="34" charset="-120"/>
              </a:rPr>
              <a:t>THE ORDER</a:t>
            </a:r>
            <a:endParaRPr lang="en-US" sz="850" dirty="0"/>
          </a:p>
        </p:txBody>
      </p:sp>
      <p:sp>
        <p:nvSpPr>
          <p:cNvPr id="7" name="Text 5"/>
          <p:cNvSpPr/>
          <p:nvPr/>
        </p:nvSpPr>
        <p:spPr>
          <a:xfrm>
            <a:off x="3474720" y="1197864"/>
            <a:ext cx="5212080" cy="36576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“DCM Ainsworth: 'We are not moving anyone. The two outbound families PCS in eight weeks. The kids are in school. …”</a:t>
            </a:r>
            <a:endParaRPr lang="en-US" sz="900" dirty="0"/>
          </a:p>
        </p:txBody>
      </p:sp>
      <p:sp>
        <p:nvSpPr>
          <p:cNvPr id="8" name="Shape 6"/>
          <p:cNvSpPr/>
          <p:nvPr/>
        </p:nvSpPr>
        <p:spPr>
          <a:xfrm>
            <a:off x="6080760" y="1600200"/>
            <a:ext cx="0" cy="137160"/>
          </a:xfrm>
          <a:prstGeom prst="line">
            <a:avLst/>
          </a:prstGeom>
          <a:noFill/>
          <a:ln w="15875">
            <a:solidFill>
              <a:srgbClr val="94A3B8"/>
            </a:solidFill>
            <a:prstDash val="solid"/>
          </a:ln>
        </p:spPr>
      </p:sp>
      <p:sp>
        <p:nvSpPr>
          <p:cNvPr id="9" name="Shape 7"/>
          <p:cNvSpPr/>
          <p:nvPr/>
        </p:nvSpPr>
        <p:spPr>
          <a:xfrm>
            <a:off x="1869948" y="1737360"/>
            <a:ext cx="8421624" cy="0"/>
          </a:xfrm>
          <a:prstGeom prst="line">
            <a:avLst/>
          </a:prstGeom>
          <a:noFill/>
          <a:ln w="15875">
            <a:solidFill>
              <a:srgbClr val="94A3B8"/>
            </a:solidFill>
            <a:prstDash val="solid"/>
          </a:ln>
        </p:spPr>
      </p:sp>
      <p:sp>
        <p:nvSpPr>
          <p:cNvPr id="10" name="Shape 8"/>
          <p:cNvSpPr/>
          <p:nvPr/>
        </p:nvSpPr>
        <p:spPr>
          <a:xfrm>
            <a:off x="1869948" y="1737360"/>
            <a:ext cx="0" cy="137160"/>
          </a:xfrm>
          <a:prstGeom prst="line">
            <a:avLst/>
          </a:prstGeom>
          <a:noFill/>
          <a:ln w="15875">
            <a:solidFill>
              <a:srgbClr val="94A3B8"/>
            </a:solidFill>
            <a:prstDash val="solid"/>
          </a:ln>
        </p:spPr>
      </p:sp>
      <p:sp>
        <p:nvSpPr>
          <p:cNvPr id="11" name="Shape 9"/>
          <p:cNvSpPr/>
          <p:nvPr/>
        </p:nvSpPr>
        <p:spPr>
          <a:xfrm>
            <a:off x="4677156" y="1737360"/>
            <a:ext cx="0" cy="137160"/>
          </a:xfrm>
          <a:prstGeom prst="line">
            <a:avLst/>
          </a:prstGeom>
          <a:noFill/>
          <a:ln w="15875">
            <a:solidFill>
              <a:srgbClr val="94A3B8"/>
            </a:solidFill>
            <a:prstDash val="solid"/>
          </a:ln>
        </p:spPr>
      </p:sp>
      <p:sp>
        <p:nvSpPr>
          <p:cNvPr id="12" name="Shape 10"/>
          <p:cNvSpPr/>
          <p:nvPr/>
        </p:nvSpPr>
        <p:spPr>
          <a:xfrm>
            <a:off x="7484364" y="1737360"/>
            <a:ext cx="0" cy="137160"/>
          </a:xfrm>
          <a:prstGeom prst="line">
            <a:avLst/>
          </a:prstGeom>
          <a:noFill/>
          <a:ln w="15875">
            <a:solidFill>
              <a:srgbClr val="94A3B8"/>
            </a:solidFill>
            <a:prstDash val="solid"/>
          </a:ln>
        </p:spPr>
      </p:sp>
      <p:sp>
        <p:nvSpPr>
          <p:cNvPr id="13" name="Shape 11"/>
          <p:cNvSpPr/>
          <p:nvPr/>
        </p:nvSpPr>
        <p:spPr>
          <a:xfrm>
            <a:off x="10291572" y="1737360"/>
            <a:ext cx="0" cy="137160"/>
          </a:xfrm>
          <a:prstGeom prst="line">
            <a:avLst/>
          </a:prstGeom>
          <a:noFill/>
          <a:ln w="15875">
            <a:solidFill>
              <a:srgbClr val="94A3B8"/>
            </a:solidFill>
            <a:prstDash val="solid"/>
          </a:ln>
        </p:spPr>
      </p:sp>
      <p:sp>
        <p:nvSpPr>
          <p:cNvPr id="14" name="Shape 12"/>
          <p:cNvSpPr/>
          <p:nvPr/>
        </p:nvSpPr>
        <p:spPr>
          <a:xfrm>
            <a:off x="548640" y="1874520"/>
            <a:ext cx="2642616" cy="548640"/>
          </a:xfrm>
          <a:prstGeom prst="rect">
            <a:avLst/>
          </a:prstGeom>
          <a:solidFill>
            <a:srgbClr val="B85042"/>
          </a:solidFill>
          <a:ln w="12700">
            <a:solidFill>
              <a:srgbClr val="B85042"/>
            </a:solidFill>
            <a:prstDash val="solid"/>
          </a:ln>
        </p:spPr>
      </p:sp>
      <p:sp>
        <p:nvSpPr>
          <p:cNvPr id="15" name="Text 13"/>
          <p:cNvSpPr/>
          <p:nvPr/>
        </p:nvSpPr>
        <p:spPr>
          <a:xfrm>
            <a:off x="685800"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A</a:t>
            </a:r>
            <a:endParaRPr lang="en-US" sz="900" dirty="0"/>
          </a:p>
        </p:txBody>
      </p:sp>
      <p:sp>
        <p:nvSpPr>
          <p:cNvPr id="16" name="Text 14"/>
          <p:cNvSpPr/>
          <p:nvPr/>
        </p:nvSpPr>
        <p:spPr>
          <a:xfrm>
            <a:off x="685800"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Lives lost. Careers ended. State Department reputational …</a:t>
            </a:r>
            <a:endParaRPr lang="en-US" sz="1050" dirty="0"/>
          </a:p>
        </p:txBody>
      </p:sp>
      <p:sp>
        <p:nvSpPr>
          <p:cNvPr id="17" name="Shape 15"/>
          <p:cNvSpPr/>
          <p:nvPr/>
        </p:nvSpPr>
        <p:spPr>
          <a:xfrm>
            <a:off x="1869948" y="2423160"/>
            <a:ext cx="0" cy="45720"/>
          </a:xfrm>
          <a:prstGeom prst="line">
            <a:avLst/>
          </a:prstGeom>
          <a:noFill/>
          <a:ln w="12700">
            <a:solidFill>
              <a:srgbClr val="94A3B8"/>
            </a:solidFill>
            <a:prstDash val="solid"/>
          </a:ln>
        </p:spPr>
      </p:sp>
      <p:sp>
        <p:nvSpPr>
          <p:cNvPr id="18" name="Shape 16"/>
          <p:cNvSpPr/>
          <p:nvPr/>
        </p:nvSpPr>
        <p:spPr>
          <a:xfrm>
            <a:off x="548640" y="2468880"/>
            <a:ext cx="2642616" cy="457200"/>
          </a:xfrm>
          <a:prstGeom prst="rect">
            <a:avLst/>
          </a:prstGeom>
          <a:solidFill>
            <a:srgbClr val="F4F1EC"/>
          </a:solidFill>
          <a:ln w="6350">
            <a:solidFill>
              <a:srgbClr val="E2E8F0"/>
            </a:solidFill>
            <a:prstDash val="solid"/>
          </a:ln>
        </p:spPr>
      </p:sp>
      <p:sp>
        <p:nvSpPr>
          <p:cNvPr id="19" name="Shape 17"/>
          <p:cNvSpPr/>
          <p:nvPr/>
        </p:nvSpPr>
        <p:spPr>
          <a:xfrm>
            <a:off x="548640" y="2468880"/>
            <a:ext cx="54864" cy="457200"/>
          </a:xfrm>
          <a:prstGeom prst="rect">
            <a:avLst/>
          </a:prstGeom>
          <a:solidFill>
            <a:srgbClr val="B85042"/>
          </a:solidFill>
          <a:ln w="12700">
            <a:solidFill>
              <a:srgbClr val="B85042"/>
            </a:solidFill>
            <a:prstDash val="solid"/>
          </a:ln>
        </p:spPr>
      </p:sp>
      <p:sp>
        <p:nvSpPr>
          <p:cNvPr id="20" name="Text 18"/>
          <p:cNvSpPr/>
          <p:nvPr/>
        </p:nvSpPr>
        <p:spPr>
          <a:xfrm>
            <a:off x="713232"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21" name="Text 19"/>
          <p:cNvSpPr/>
          <p:nvPr/>
        </p:nvSpPr>
        <p:spPr>
          <a:xfrm>
            <a:off x="713232"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Loyalist (Specialist Gupta)</a:t>
            </a:r>
            <a:endParaRPr lang="en-US" sz="950" dirty="0"/>
          </a:p>
        </p:txBody>
      </p:sp>
      <p:sp>
        <p:nvSpPr>
          <p:cNvPr id="22" name="Shape 20"/>
          <p:cNvSpPr/>
          <p:nvPr/>
        </p:nvSpPr>
        <p:spPr>
          <a:xfrm>
            <a:off x="548640" y="2971800"/>
            <a:ext cx="2642616" cy="548640"/>
          </a:xfrm>
          <a:prstGeom prst="rect">
            <a:avLst/>
          </a:prstGeom>
          <a:solidFill>
            <a:srgbClr val="F4F1EC"/>
          </a:solidFill>
          <a:ln w="6350">
            <a:solidFill>
              <a:srgbClr val="E2E8F0"/>
            </a:solidFill>
            <a:prstDash val="solid"/>
          </a:ln>
        </p:spPr>
      </p:sp>
      <p:sp>
        <p:nvSpPr>
          <p:cNvPr id="23" name="Shape 21"/>
          <p:cNvSpPr/>
          <p:nvPr/>
        </p:nvSpPr>
        <p:spPr>
          <a:xfrm>
            <a:off x="548640" y="2971800"/>
            <a:ext cx="54864" cy="548640"/>
          </a:xfrm>
          <a:prstGeom prst="rect">
            <a:avLst/>
          </a:prstGeom>
          <a:solidFill>
            <a:srgbClr val="B85042"/>
          </a:solidFill>
          <a:ln w="12700">
            <a:solidFill>
              <a:srgbClr val="B85042"/>
            </a:solidFill>
            <a:prstDash val="solid"/>
          </a:ln>
        </p:spPr>
      </p:sp>
      <p:sp>
        <p:nvSpPr>
          <p:cNvPr id="24" name="Text 22"/>
          <p:cNvSpPr/>
          <p:nvPr/>
        </p:nvSpPr>
        <p:spPr>
          <a:xfrm>
            <a:off x="713232"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25" name="Text 23"/>
          <p:cNvSpPr/>
          <p:nvPr/>
        </p:nvSpPr>
        <p:spPr>
          <a:xfrm>
            <a:off x="713232"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Close out the seismic finding as 'monitored, residents accept risk.</a:t>
            </a:r>
            <a:endParaRPr lang="en-US" sz="900" dirty="0"/>
          </a:p>
        </p:txBody>
      </p:sp>
      <p:sp>
        <p:nvSpPr>
          <p:cNvPr id="26" name="Shape 24"/>
          <p:cNvSpPr/>
          <p:nvPr/>
        </p:nvSpPr>
        <p:spPr>
          <a:xfrm>
            <a:off x="548640" y="3566160"/>
            <a:ext cx="2642616" cy="685800"/>
          </a:xfrm>
          <a:prstGeom prst="rect">
            <a:avLst/>
          </a:prstGeom>
          <a:solidFill>
            <a:srgbClr val="F4F1EC"/>
          </a:solidFill>
          <a:ln w="6350">
            <a:solidFill>
              <a:srgbClr val="E2E8F0"/>
            </a:solidFill>
            <a:prstDash val="solid"/>
          </a:ln>
        </p:spPr>
      </p:sp>
      <p:sp>
        <p:nvSpPr>
          <p:cNvPr id="27" name="Shape 25"/>
          <p:cNvSpPr/>
          <p:nvPr/>
        </p:nvSpPr>
        <p:spPr>
          <a:xfrm>
            <a:off x="548640" y="3566160"/>
            <a:ext cx="54864" cy="685800"/>
          </a:xfrm>
          <a:prstGeom prst="rect">
            <a:avLst/>
          </a:prstGeom>
          <a:solidFill>
            <a:srgbClr val="B85042"/>
          </a:solidFill>
          <a:ln w="12700">
            <a:solidFill>
              <a:srgbClr val="B85042"/>
            </a:solidFill>
            <a:prstDash val="solid"/>
          </a:ln>
        </p:spPr>
      </p:sp>
      <p:sp>
        <p:nvSpPr>
          <p:cNvPr id="28" name="Text 26"/>
          <p:cNvSpPr/>
          <p:nvPr/>
        </p:nvSpPr>
        <p:spPr>
          <a:xfrm>
            <a:off x="713232"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29" name="Text 27"/>
          <p:cNvSpPr/>
          <p:nvPr/>
        </p:nvSpPr>
        <p:spPr>
          <a:xfrm>
            <a:off x="713232"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DCM is satisfied. Safety Officer's evaluation is positive. Status quo holds.</a:t>
            </a:r>
            <a:endParaRPr lang="en-US" sz="850" dirty="0"/>
          </a:p>
        </p:txBody>
      </p:sp>
      <p:sp>
        <p:nvSpPr>
          <p:cNvPr id="30" name="Shape 28"/>
          <p:cNvSpPr/>
          <p:nvPr/>
        </p:nvSpPr>
        <p:spPr>
          <a:xfrm>
            <a:off x="548640" y="4297680"/>
            <a:ext cx="2642616" cy="1417320"/>
          </a:xfrm>
          <a:prstGeom prst="rect">
            <a:avLst/>
          </a:prstGeom>
          <a:solidFill>
            <a:srgbClr val="F4F1EC"/>
          </a:solidFill>
          <a:ln w="6350">
            <a:solidFill>
              <a:srgbClr val="E2E8F0"/>
            </a:solidFill>
            <a:prstDash val="solid"/>
          </a:ln>
        </p:spPr>
      </p:sp>
      <p:sp>
        <p:nvSpPr>
          <p:cNvPr id="31" name="Shape 29"/>
          <p:cNvSpPr/>
          <p:nvPr/>
        </p:nvSpPr>
        <p:spPr>
          <a:xfrm>
            <a:off x="548640" y="4297680"/>
            <a:ext cx="54864" cy="1417320"/>
          </a:xfrm>
          <a:prstGeom prst="rect">
            <a:avLst/>
          </a:prstGeom>
          <a:solidFill>
            <a:srgbClr val="B85042"/>
          </a:solidFill>
          <a:ln w="12700">
            <a:solidFill>
              <a:srgbClr val="B85042"/>
            </a:solidFill>
            <a:prstDash val="solid"/>
          </a:ln>
        </p:spPr>
      </p:sp>
      <p:sp>
        <p:nvSpPr>
          <p:cNvPr id="32" name="Text 30"/>
          <p:cNvSpPr/>
          <p:nvPr/>
        </p:nvSpPr>
        <p:spPr>
          <a:xfrm>
            <a:off x="713232"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33" name="Text 31"/>
          <p:cNvSpPr/>
          <p:nvPr/>
        </p:nvSpPr>
        <p:spPr>
          <a:xfrm>
            <a:off x="713232"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A 6.4-magnitude quake hits in month four. Building collapses partially. Two family members killed. State Department Office of Inspector General opens investigation. The 2022 and current close-out memos surface in the inspection. Safety Officer and DCM both named in the report. Civil liability proceedings open. The Safety Officer's name is in The Washington Post.</a:t>
            </a:r>
            <a:endParaRPr lang="en-US" sz="800" dirty="0"/>
          </a:p>
        </p:txBody>
      </p:sp>
      <p:sp>
        <p:nvSpPr>
          <p:cNvPr id="34" name="Shape 32"/>
          <p:cNvSpPr/>
          <p:nvPr/>
        </p:nvSpPr>
        <p:spPr>
          <a:xfrm>
            <a:off x="1869948" y="2926080"/>
            <a:ext cx="0" cy="45720"/>
          </a:xfrm>
          <a:prstGeom prst="line">
            <a:avLst/>
          </a:prstGeom>
          <a:noFill/>
          <a:ln w="12700">
            <a:solidFill>
              <a:srgbClr val="94A3B8"/>
            </a:solidFill>
            <a:prstDash val="solid"/>
          </a:ln>
        </p:spPr>
      </p:sp>
      <p:sp>
        <p:nvSpPr>
          <p:cNvPr id="35" name="Shape 33"/>
          <p:cNvSpPr/>
          <p:nvPr/>
        </p:nvSpPr>
        <p:spPr>
          <a:xfrm>
            <a:off x="1869948" y="3520440"/>
            <a:ext cx="0" cy="45720"/>
          </a:xfrm>
          <a:prstGeom prst="line">
            <a:avLst/>
          </a:prstGeom>
          <a:noFill/>
          <a:ln w="12700">
            <a:solidFill>
              <a:srgbClr val="94A3B8"/>
            </a:solidFill>
            <a:prstDash val="solid"/>
          </a:ln>
        </p:spPr>
      </p:sp>
      <p:sp>
        <p:nvSpPr>
          <p:cNvPr id="36" name="Shape 34"/>
          <p:cNvSpPr/>
          <p:nvPr/>
        </p:nvSpPr>
        <p:spPr>
          <a:xfrm>
            <a:off x="1869948" y="4251960"/>
            <a:ext cx="0" cy="45720"/>
          </a:xfrm>
          <a:prstGeom prst="line">
            <a:avLst/>
          </a:prstGeom>
          <a:noFill/>
          <a:ln w="12700">
            <a:solidFill>
              <a:srgbClr val="94A3B8"/>
            </a:solidFill>
            <a:prstDash val="solid"/>
          </a:ln>
        </p:spPr>
      </p:sp>
      <p:sp>
        <p:nvSpPr>
          <p:cNvPr id="37" name="Shape 35"/>
          <p:cNvSpPr/>
          <p:nvPr/>
        </p:nvSpPr>
        <p:spPr>
          <a:xfrm>
            <a:off x="1869948" y="5715000"/>
            <a:ext cx="0" cy="45720"/>
          </a:xfrm>
          <a:prstGeom prst="line">
            <a:avLst/>
          </a:prstGeom>
          <a:noFill/>
          <a:ln w="12700">
            <a:solidFill>
              <a:srgbClr val="94A3B8"/>
            </a:solidFill>
            <a:prstDash val="solid"/>
          </a:ln>
        </p:spPr>
      </p:sp>
      <p:sp>
        <p:nvSpPr>
          <p:cNvPr id="38" name="Shape 36"/>
          <p:cNvSpPr/>
          <p:nvPr/>
        </p:nvSpPr>
        <p:spPr>
          <a:xfrm>
            <a:off x="548640" y="5760720"/>
            <a:ext cx="2642616" cy="411480"/>
          </a:xfrm>
          <a:prstGeom prst="rect">
            <a:avLst/>
          </a:prstGeom>
          <a:solidFill>
            <a:srgbClr val="B85042"/>
          </a:solidFill>
          <a:ln w="12700">
            <a:solidFill>
              <a:srgbClr val="B85042"/>
            </a:solidFill>
            <a:prstDash val="solid"/>
          </a:ln>
        </p:spPr>
      </p:sp>
      <p:sp>
        <p:nvSpPr>
          <p:cNvPr id="39" name="Text 37"/>
          <p:cNvSpPr/>
          <p:nvPr/>
        </p:nvSpPr>
        <p:spPr>
          <a:xfrm>
            <a:off x="685800"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a:t>
            </a:r>
            <a:endParaRPr lang="en-US" sz="1100" dirty="0"/>
          </a:p>
        </p:txBody>
      </p:sp>
      <p:sp>
        <p:nvSpPr>
          <p:cNvPr id="40" name="Shape 38"/>
          <p:cNvSpPr/>
          <p:nvPr/>
        </p:nvSpPr>
        <p:spPr>
          <a:xfrm>
            <a:off x="3355848" y="1874520"/>
            <a:ext cx="2642616" cy="548640"/>
          </a:xfrm>
          <a:prstGeom prst="rect">
            <a:avLst/>
          </a:prstGeom>
          <a:solidFill>
            <a:srgbClr val="B85042"/>
          </a:solidFill>
          <a:ln w="12700">
            <a:solidFill>
              <a:srgbClr val="B85042"/>
            </a:solidFill>
            <a:prstDash val="solid"/>
          </a:ln>
        </p:spPr>
      </p:sp>
      <p:sp>
        <p:nvSpPr>
          <p:cNvPr id="41" name="Text 39"/>
          <p:cNvSpPr/>
          <p:nvPr/>
        </p:nvSpPr>
        <p:spPr>
          <a:xfrm>
            <a:off x="3493008"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B</a:t>
            </a:r>
            <a:endParaRPr lang="en-US" sz="900" dirty="0"/>
          </a:p>
        </p:txBody>
      </p:sp>
      <p:sp>
        <p:nvSpPr>
          <p:cNvPr id="42" name="Text 40"/>
          <p:cNvSpPr/>
          <p:nvPr/>
        </p:nvSpPr>
        <p:spPr>
          <a:xfrm>
            <a:off x="3493008"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Better than Path A only because no one died. …</a:t>
            </a:r>
            <a:endParaRPr lang="en-US" sz="1050" dirty="0"/>
          </a:p>
        </p:txBody>
      </p:sp>
      <p:sp>
        <p:nvSpPr>
          <p:cNvPr id="43" name="Shape 41"/>
          <p:cNvSpPr/>
          <p:nvPr/>
        </p:nvSpPr>
        <p:spPr>
          <a:xfrm>
            <a:off x="4677156" y="2423160"/>
            <a:ext cx="0" cy="45720"/>
          </a:xfrm>
          <a:prstGeom prst="line">
            <a:avLst/>
          </a:prstGeom>
          <a:noFill/>
          <a:ln w="12700">
            <a:solidFill>
              <a:srgbClr val="94A3B8"/>
            </a:solidFill>
            <a:prstDash val="solid"/>
          </a:ln>
        </p:spPr>
      </p:sp>
      <p:sp>
        <p:nvSpPr>
          <p:cNvPr id="44" name="Shape 42"/>
          <p:cNvSpPr/>
          <p:nvPr/>
        </p:nvSpPr>
        <p:spPr>
          <a:xfrm>
            <a:off x="3355848" y="2468880"/>
            <a:ext cx="2642616" cy="457200"/>
          </a:xfrm>
          <a:prstGeom prst="rect">
            <a:avLst/>
          </a:prstGeom>
          <a:solidFill>
            <a:srgbClr val="F4F1EC"/>
          </a:solidFill>
          <a:ln w="6350">
            <a:solidFill>
              <a:srgbClr val="E2E8F0"/>
            </a:solidFill>
            <a:prstDash val="solid"/>
          </a:ln>
        </p:spPr>
      </p:sp>
      <p:sp>
        <p:nvSpPr>
          <p:cNvPr id="45" name="Shape 43"/>
          <p:cNvSpPr/>
          <p:nvPr/>
        </p:nvSpPr>
        <p:spPr>
          <a:xfrm>
            <a:off x="3355848" y="2468880"/>
            <a:ext cx="54864" cy="457200"/>
          </a:xfrm>
          <a:prstGeom prst="rect">
            <a:avLst/>
          </a:prstGeom>
          <a:solidFill>
            <a:srgbClr val="B85042"/>
          </a:solidFill>
          <a:ln w="12700">
            <a:solidFill>
              <a:srgbClr val="B85042"/>
            </a:solidFill>
            <a:prstDash val="solid"/>
          </a:ln>
        </p:spPr>
      </p:sp>
      <p:sp>
        <p:nvSpPr>
          <p:cNvPr id="46" name="Text 44"/>
          <p:cNvSpPr/>
          <p:nvPr/>
        </p:nvSpPr>
        <p:spPr>
          <a:xfrm>
            <a:off x="3520440"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47" name="Text 45"/>
          <p:cNvSpPr/>
          <p:nvPr/>
        </p:nvSpPr>
        <p:spPr>
          <a:xfrm>
            <a:off x="3520440"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Operator (Coordinator Park)</a:t>
            </a:r>
            <a:endParaRPr lang="en-US" sz="950" dirty="0"/>
          </a:p>
        </p:txBody>
      </p:sp>
      <p:sp>
        <p:nvSpPr>
          <p:cNvPr id="48" name="Shape 46"/>
          <p:cNvSpPr/>
          <p:nvPr/>
        </p:nvSpPr>
        <p:spPr>
          <a:xfrm>
            <a:off x="3355848" y="2971800"/>
            <a:ext cx="2642616" cy="548640"/>
          </a:xfrm>
          <a:prstGeom prst="rect">
            <a:avLst/>
          </a:prstGeom>
          <a:solidFill>
            <a:srgbClr val="F4F1EC"/>
          </a:solidFill>
          <a:ln w="6350">
            <a:solidFill>
              <a:srgbClr val="E2E8F0"/>
            </a:solidFill>
            <a:prstDash val="solid"/>
          </a:ln>
        </p:spPr>
      </p:sp>
      <p:sp>
        <p:nvSpPr>
          <p:cNvPr id="49" name="Shape 47"/>
          <p:cNvSpPr/>
          <p:nvPr/>
        </p:nvSpPr>
        <p:spPr>
          <a:xfrm>
            <a:off x="3355848" y="2971800"/>
            <a:ext cx="54864" cy="548640"/>
          </a:xfrm>
          <a:prstGeom prst="rect">
            <a:avLst/>
          </a:prstGeom>
          <a:solidFill>
            <a:srgbClr val="B85042"/>
          </a:solidFill>
          <a:ln w="12700">
            <a:solidFill>
              <a:srgbClr val="B85042"/>
            </a:solidFill>
            <a:prstDash val="solid"/>
          </a:ln>
        </p:spPr>
      </p:sp>
      <p:sp>
        <p:nvSpPr>
          <p:cNvPr id="50" name="Text 48"/>
          <p:cNvSpPr/>
          <p:nvPr/>
        </p:nvSpPr>
        <p:spPr>
          <a:xfrm>
            <a:off x="3520440"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51" name="Text 49"/>
          <p:cNvSpPr/>
          <p:nvPr/>
        </p:nvSpPr>
        <p:spPr>
          <a:xfrm>
            <a:off x="3520440"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Move two outbound families, leave essential Officer Z in the building.</a:t>
            </a:r>
            <a:endParaRPr lang="en-US" sz="900" dirty="0"/>
          </a:p>
        </p:txBody>
      </p:sp>
      <p:sp>
        <p:nvSpPr>
          <p:cNvPr id="52" name="Shape 50"/>
          <p:cNvSpPr/>
          <p:nvPr/>
        </p:nvSpPr>
        <p:spPr>
          <a:xfrm>
            <a:off x="3355848" y="3566160"/>
            <a:ext cx="2642616" cy="685800"/>
          </a:xfrm>
          <a:prstGeom prst="rect">
            <a:avLst/>
          </a:prstGeom>
          <a:solidFill>
            <a:srgbClr val="F4F1EC"/>
          </a:solidFill>
          <a:ln w="6350">
            <a:solidFill>
              <a:srgbClr val="E2E8F0"/>
            </a:solidFill>
            <a:prstDash val="solid"/>
          </a:ln>
        </p:spPr>
      </p:sp>
      <p:sp>
        <p:nvSpPr>
          <p:cNvPr id="53" name="Shape 51"/>
          <p:cNvSpPr/>
          <p:nvPr/>
        </p:nvSpPr>
        <p:spPr>
          <a:xfrm>
            <a:off x="3355848" y="3566160"/>
            <a:ext cx="54864" cy="685800"/>
          </a:xfrm>
          <a:prstGeom prst="rect">
            <a:avLst/>
          </a:prstGeom>
          <a:solidFill>
            <a:srgbClr val="B85042"/>
          </a:solidFill>
          <a:ln w="12700">
            <a:solidFill>
              <a:srgbClr val="B85042"/>
            </a:solidFill>
            <a:prstDash val="solid"/>
          </a:ln>
        </p:spPr>
      </p:sp>
      <p:sp>
        <p:nvSpPr>
          <p:cNvPr id="54" name="Text 52"/>
          <p:cNvSpPr/>
          <p:nvPr/>
        </p:nvSpPr>
        <p:spPr>
          <a:xfrm>
            <a:off x="3520440"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55" name="Text 53"/>
          <p:cNvSpPr/>
          <p:nvPr/>
        </p:nvSpPr>
        <p:spPr>
          <a:xfrm>
            <a:off x="3520440"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Two families safe. The DCM is somewhat satisfied because the action looks low-key. Officer Z stays put.</a:t>
            </a:r>
            <a:endParaRPr lang="en-US" sz="850" dirty="0"/>
          </a:p>
        </p:txBody>
      </p:sp>
      <p:sp>
        <p:nvSpPr>
          <p:cNvPr id="56" name="Shape 54"/>
          <p:cNvSpPr/>
          <p:nvPr/>
        </p:nvSpPr>
        <p:spPr>
          <a:xfrm>
            <a:off x="3355848" y="4297680"/>
            <a:ext cx="2642616" cy="1417320"/>
          </a:xfrm>
          <a:prstGeom prst="rect">
            <a:avLst/>
          </a:prstGeom>
          <a:solidFill>
            <a:srgbClr val="F4F1EC"/>
          </a:solidFill>
          <a:ln w="6350">
            <a:solidFill>
              <a:srgbClr val="E2E8F0"/>
            </a:solidFill>
            <a:prstDash val="solid"/>
          </a:ln>
        </p:spPr>
      </p:sp>
      <p:sp>
        <p:nvSpPr>
          <p:cNvPr id="57" name="Shape 55"/>
          <p:cNvSpPr/>
          <p:nvPr/>
        </p:nvSpPr>
        <p:spPr>
          <a:xfrm>
            <a:off x="3355848" y="4297680"/>
            <a:ext cx="54864" cy="1417320"/>
          </a:xfrm>
          <a:prstGeom prst="rect">
            <a:avLst/>
          </a:prstGeom>
          <a:solidFill>
            <a:srgbClr val="B85042"/>
          </a:solidFill>
          <a:ln w="12700">
            <a:solidFill>
              <a:srgbClr val="B85042"/>
            </a:solidFill>
            <a:prstDash val="solid"/>
          </a:ln>
        </p:spPr>
      </p:sp>
      <p:sp>
        <p:nvSpPr>
          <p:cNvPr id="58" name="Text 56"/>
          <p:cNvSpPr/>
          <p:nvPr/>
        </p:nvSpPr>
        <p:spPr>
          <a:xfrm>
            <a:off x="3520440"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59" name="Text 57"/>
          <p:cNvSpPr/>
          <p:nvPr/>
        </p:nvSpPr>
        <p:spPr>
          <a:xfrm>
            <a:off x="3520440"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RSO files an internal complaint citing 15 FAM 252.4. State IG audit. Audit finds that Officer Z was knowingly housed in a very poor building with documentation of acknowledged risk. Even without an earthquake, this is a finding. Safety Officer's career damaged. DCM receives a letter of admonishment.</a:t>
            </a:r>
            <a:endParaRPr lang="en-US" sz="800" dirty="0"/>
          </a:p>
        </p:txBody>
      </p:sp>
      <p:sp>
        <p:nvSpPr>
          <p:cNvPr id="60" name="Shape 58"/>
          <p:cNvSpPr/>
          <p:nvPr/>
        </p:nvSpPr>
        <p:spPr>
          <a:xfrm>
            <a:off x="4677156" y="2926080"/>
            <a:ext cx="0" cy="45720"/>
          </a:xfrm>
          <a:prstGeom prst="line">
            <a:avLst/>
          </a:prstGeom>
          <a:noFill/>
          <a:ln w="12700">
            <a:solidFill>
              <a:srgbClr val="94A3B8"/>
            </a:solidFill>
            <a:prstDash val="solid"/>
          </a:ln>
        </p:spPr>
      </p:sp>
      <p:sp>
        <p:nvSpPr>
          <p:cNvPr id="61" name="Shape 59"/>
          <p:cNvSpPr/>
          <p:nvPr/>
        </p:nvSpPr>
        <p:spPr>
          <a:xfrm>
            <a:off x="4677156" y="3520440"/>
            <a:ext cx="0" cy="45720"/>
          </a:xfrm>
          <a:prstGeom prst="line">
            <a:avLst/>
          </a:prstGeom>
          <a:noFill/>
          <a:ln w="12700">
            <a:solidFill>
              <a:srgbClr val="94A3B8"/>
            </a:solidFill>
            <a:prstDash val="solid"/>
          </a:ln>
        </p:spPr>
      </p:sp>
      <p:sp>
        <p:nvSpPr>
          <p:cNvPr id="62" name="Shape 60"/>
          <p:cNvSpPr/>
          <p:nvPr/>
        </p:nvSpPr>
        <p:spPr>
          <a:xfrm>
            <a:off x="4677156" y="4251960"/>
            <a:ext cx="0" cy="45720"/>
          </a:xfrm>
          <a:prstGeom prst="line">
            <a:avLst/>
          </a:prstGeom>
          <a:noFill/>
          <a:ln w="12700">
            <a:solidFill>
              <a:srgbClr val="94A3B8"/>
            </a:solidFill>
            <a:prstDash val="solid"/>
          </a:ln>
        </p:spPr>
      </p:sp>
      <p:sp>
        <p:nvSpPr>
          <p:cNvPr id="63" name="Shape 61"/>
          <p:cNvSpPr/>
          <p:nvPr/>
        </p:nvSpPr>
        <p:spPr>
          <a:xfrm>
            <a:off x="4677156" y="5715000"/>
            <a:ext cx="0" cy="45720"/>
          </a:xfrm>
          <a:prstGeom prst="line">
            <a:avLst/>
          </a:prstGeom>
          <a:noFill/>
          <a:ln w="12700">
            <a:solidFill>
              <a:srgbClr val="94A3B8"/>
            </a:solidFill>
            <a:prstDash val="solid"/>
          </a:ln>
        </p:spPr>
      </p:sp>
      <p:sp>
        <p:nvSpPr>
          <p:cNvPr id="64" name="Shape 62"/>
          <p:cNvSpPr/>
          <p:nvPr/>
        </p:nvSpPr>
        <p:spPr>
          <a:xfrm>
            <a:off x="3355848" y="5760720"/>
            <a:ext cx="2642616" cy="411480"/>
          </a:xfrm>
          <a:prstGeom prst="rect">
            <a:avLst/>
          </a:prstGeom>
          <a:solidFill>
            <a:srgbClr val="B85042"/>
          </a:solidFill>
          <a:ln w="12700">
            <a:solidFill>
              <a:srgbClr val="B85042"/>
            </a:solidFill>
            <a:prstDash val="solid"/>
          </a:ln>
        </p:spPr>
      </p:sp>
      <p:sp>
        <p:nvSpPr>
          <p:cNvPr id="65" name="Text 63"/>
          <p:cNvSpPr/>
          <p:nvPr/>
        </p:nvSpPr>
        <p:spPr>
          <a:xfrm>
            <a:off x="3493008"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SEVERE</a:t>
            </a:r>
            <a:endParaRPr lang="en-US" sz="1100" dirty="0"/>
          </a:p>
        </p:txBody>
      </p:sp>
      <p:sp>
        <p:nvSpPr>
          <p:cNvPr id="66" name="Shape 64"/>
          <p:cNvSpPr/>
          <p:nvPr/>
        </p:nvSpPr>
        <p:spPr>
          <a:xfrm>
            <a:off x="6163056" y="1874520"/>
            <a:ext cx="2642616" cy="548640"/>
          </a:xfrm>
          <a:prstGeom prst="rect">
            <a:avLst/>
          </a:prstGeom>
          <a:solidFill>
            <a:srgbClr val="D4A574"/>
          </a:solidFill>
          <a:ln w="12700">
            <a:solidFill>
              <a:srgbClr val="D4A574"/>
            </a:solidFill>
            <a:prstDash val="solid"/>
          </a:ln>
        </p:spPr>
      </p:sp>
      <p:sp>
        <p:nvSpPr>
          <p:cNvPr id="67" name="Text 65"/>
          <p:cNvSpPr/>
          <p:nvPr/>
        </p:nvSpPr>
        <p:spPr>
          <a:xfrm>
            <a:off x="6300216"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C</a:t>
            </a:r>
            <a:endParaRPr lang="en-US" sz="900" dirty="0"/>
          </a:p>
        </p:txBody>
      </p:sp>
      <p:sp>
        <p:nvSpPr>
          <p:cNvPr id="68" name="Text 66"/>
          <p:cNvSpPr/>
          <p:nvPr/>
        </p:nvSpPr>
        <p:spPr>
          <a:xfrm>
            <a:off x="6300216"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Lives protected, career damaged, professional reputation …</a:t>
            </a:r>
            <a:endParaRPr lang="en-US" sz="1050" dirty="0"/>
          </a:p>
        </p:txBody>
      </p:sp>
      <p:sp>
        <p:nvSpPr>
          <p:cNvPr id="69" name="Shape 67"/>
          <p:cNvSpPr/>
          <p:nvPr/>
        </p:nvSpPr>
        <p:spPr>
          <a:xfrm>
            <a:off x="7484364" y="2423160"/>
            <a:ext cx="0" cy="45720"/>
          </a:xfrm>
          <a:prstGeom prst="line">
            <a:avLst/>
          </a:prstGeom>
          <a:noFill/>
          <a:ln w="12700">
            <a:solidFill>
              <a:srgbClr val="94A3B8"/>
            </a:solidFill>
            <a:prstDash val="solid"/>
          </a:ln>
        </p:spPr>
      </p:sp>
      <p:sp>
        <p:nvSpPr>
          <p:cNvPr id="70" name="Shape 68"/>
          <p:cNvSpPr/>
          <p:nvPr/>
        </p:nvSpPr>
        <p:spPr>
          <a:xfrm>
            <a:off x="6163056" y="2468880"/>
            <a:ext cx="2642616" cy="457200"/>
          </a:xfrm>
          <a:prstGeom prst="rect">
            <a:avLst/>
          </a:prstGeom>
          <a:solidFill>
            <a:srgbClr val="F4F1EC"/>
          </a:solidFill>
          <a:ln w="6350">
            <a:solidFill>
              <a:srgbClr val="E2E8F0"/>
            </a:solidFill>
            <a:prstDash val="solid"/>
          </a:ln>
        </p:spPr>
      </p:sp>
      <p:sp>
        <p:nvSpPr>
          <p:cNvPr id="71" name="Shape 69"/>
          <p:cNvSpPr/>
          <p:nvPr/>
        </p:nvSpPr>
        <p:spPr>
          <a:xfrm>
            <a:off x="6163056" y="2468880"/>
            <a:ext cx="54864" cy="457200"/>
          </a:xfrm>
          <a:prstGeom prst="rect">
            <a:avLst/>
          </a:prstGeom>
          <a:solidFill>
            <a:srgbClr val="D4A574"/>
          </a:solidFill>
          <a:ln w="12700">
            <a:solidFill>
              <a:srgbClr val="D4A574"/>
            </a:solidFill>
            <a:prstDash val="solid"/>
          </a:ln>
        </p:spPr>
      </p:sp>
      <p:sp>
        <p:nvSpPr>
          <p:cNvPr id="72" name="Text 70"/>
          <p:cNvSpPr/>
          <p:nvPr/>
        </p:nvSpPr>
        <p:spPr>
          <a:xfrm>
            <a:off x="6327648" y="25237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ENGAGES</a:t>
            </a:r>
            <a:endParaRPr lang="en-US" sz="750" dirty="0"/>
          </a:p>
        </p:txBody>
      </p:sp>
      <p:sp>
        <p:nvSpPr>
          <p:cNvPr id="73" name="Text 71"/>
          <p:cNvSpPr/>
          <p:nvPr/>
        </p:nvSpPr>
        <p:spPr>
          <a:xfrm>
            <a:off x="6327648"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Stickler (RSO Engineer Ahmed)</a:t>
            </a:r>
            <a:endParaRPr lang="en-US" sz="950" dirty="0"/>
          </a:p>
        </p:txBody>
      </p:sp>
      <p:sp>
        <p:nvSpPr>
          <p:cNvPr id="74" name="Shape 72"/>
          <p:cNvSpPr/>
          <p:nvPr/>
        </p:nvSpPr>
        <p:spPr>
          <a:xfrm>
            <a:off x="6163056" y="2971800"/>
            <a:ext cx="2642616" cy="548640"/>
          </a:xfrm>
          <a:prstGeom prst="rect">
            <a:avLst/>
          </a:prstGeom>
          <a:solidFill>
            <a:srgbClr val="F4F1EC"/>
          </a:solidFill>
          <a:ln w="6350">
            <a:solidFill>
              <a:srgbClr val="E2E8F0"/>
            </a:solidFill>
            <a:prstDash val="solid"/>
          </a:ln>
        </p:spPr>
      </p:sp>
      <p:sp>
        <p:nvSpPr>
          <p:cNvPr id="75" name="Shape 73"/>
          <p:cNvSpPr/>
          <p:nvPr/>
        </p:nvSpPr>
        <p:spPr>
          <a:xfrm>
            <a:off x="6163056" y="2971800"/>
            <a:ext cx="54864" cy="548640"/>
          </a:xfrm>
          <a:prstGeom prst="rect">
            <a:avLst/>
          </a:prstGeom>
          <a:solidFill>
            <a:srgbClr val="D4A574"/>
          </a:solidFill>
          <a:ln w="12700">
            <a:solidFill>
              <a:srgbClr val="D4A574"/>
            </a:solidFill>
            <a:prstDash val="solid"/>
          </a:ln>
        </p:spPr>
      </p:sp>
      <p:sp>
        <p:nvSpPr>
          <p:cNvPr id="76" name="Text 74"/>
          <p:cNvSpPr/>
          <p:nvPr/>
        </p:nvSpPr>
        <p:spPr>
          <a:xfrm>
            <a:off x="6327648" y="302666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CHOICE / ACTION</a:t>
            </a:r>
            <a:endParaRPr lang="en-US" sz="750" dirty="0"/>
          </a:p>
        </p:txBody>
      </p:sp>
      <p:sp>
        <p:nvSpPr>
          <p:cNvPr id="77" name="Text 75"/>
          <p:cNvSpPr/>
          <p:nvPr/>
        </p:nvSpPr>
        <p:spPr>
          <a:xfrm>
            <a:off x="6327648"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Issue notice to vacate over the DCM's head.</a:t>
            </a:r>
            <a:endParaRPr lang="en-US" sz="900" dirty="0"/>
          </a:p>
        </p:txBody>
      </p:sp>
      <p:sp>
        <p:nvSpPr>
          <p:cNvPr id="78" name="Shape 76"/>
          <p:cNvSpPr/>
          <p:nvPr/>
        </p:nvSpPr>
        <p:spPr>
          <a:xfrm>
            <a:off x="6163056" y="3566160"/>
            <a:ext cx="2642616" cy="685800"/>
          </a:xfrm>
          <a:prstGeom prst="rect">
            <a:avLst/>
          </a:prstGeom>
          <a:solidFill>
            <a:srgbClr val="F4F1EC"/>
          </a:solidFill>
          <a:ln w="6350">
            <a:solidFill>
              <a:srgbClr val="E2E8F0"/>
            </a:solidFill>
            <a:prstDash val="solid"/>
          </a:ln>
        </p:spPr>
      </p:sp>
      <p:sp>
        <p:nvSpPr>
          <p:cNvPr id="79" name="Shape 77"/>
          <p:cNvSpPr/>
          <p:nvPr/>
        </p:nvSpPr>
        <p:spPr>
          <a:xfrm>
            <a:off x="6163056" y="3566160"/>
            <a:ext cx="54864" cy="685800"/>
          </a:xfrm>
          <a:prstGeom prst="rect">
            <a:avLst/>
          </a:prstGeom>
          <a:solidFill>
            <a:srgbClr val="D4A574"/>
          </a:solidFill>
          <a:ln w="12700">
            <a:solidFill>
              <a:srgbClr val="D4A574"/>
            </a:solidFill>
            <a:prstDash val="solid"/>
          </a:ln>
        </p:spPr>
      </p:sp>
      <p:sp>
        <p:nvSpPr>
          <p:cNvPr id="80" name="Text 78"/>
          <p:cNvSpPr/>
          <p:nvPr/>
        </p:nvSpPr>
        <p:spPr>
          <a:xfrm>
            <a:off x="6327648" y="362102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T+0  IMMEDIATE OUTCOME</a:t>
            </a:r>
            <a:endParaRPr lang="en-US" sz="750" dirty="0"/>
          </a:p>
        </p:txBody>
      </p:sp>
      <p:sp>
        <p:nvSpPr>
          <p:cNvPr id="81" name="Text 79"/>
          <p:cNvSpPr/>
          <p:nvPr/>
        </p:nvSpPr>
        <p:spPr>
          <a:xfrm>
            <a:off x="6327648"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Three families safe. DCM is furious. Drafts a critical evaluation. Safety Officer loses the next-post bid.</a:t>
            </a:r>
            <a:endParaRPr lang="en-US" sz="850" dirty="0"/>
          </a:p>
        </p:txBody>
      </p:sp>
      <p:sp>
        <p:nvSpPr>
          <p:cNvPr id="82" name="Shape 80"/>
          <p:cNvSpPr/>
          <p:nvPr/>
        </p:nvSpPr>
        <p:spPr>
          <a:xfrm>
            <a:off x="6163056" y="4297680"/>
            <a:ext cx="2642616" cy="1417320"/>
          </a:xfrm>
          <a:prstGeom prst="rect">
            <a:avLst/>
          </a:prstGeom>
          <a:solidFill>
            <a:srgbClr val="F4F1EC"/>
          </a:solidFill>
          <a:ln w="6350">
            <a:solidFill>
              <a:srgbClr val="E2E8F0"/>
            </a:solidFill>
            <a:prstDash val="solid"/>
          </a:ln>
        </p:spPr>
      </p:sp>
      <p:sp>
        <p:nvSpPr>
          <p:cNvPr id="83" name="Shape 81"/>
          <p:cNvSpPr/>
          <p:nvPr/>
        </p:nvSpPr>
        <p:spPr>
          <a:xfrm>
            <a:off x="6163056" y="4297680"/>
            <a:ext cx="54864" cy="1417320"/>
          </a:xfrm>
          <a:prstGeom prst="rect">
            <a:avLst/>
          </a:prstGeom>
          <a:solidFill>
            <a:srgbClr val="D4A574"/>
          </a:solidFill>
          <a:ln w="12700">
            <a:solidFill>
              <a:srgbClr val="D4A574"/>
            </a:solidFill>
            <a:prstDash val="solid"/>
          </a:ln>
        </p:spPr>
      </p:sp>
      <p:sp>
        <p:nvSpPr>
          <p:cNvPr id="84" name="Text 82"/>
          <p:cNvSpPr/>
          <p:nvPr/>
        </p:nvSpPr>
        <p:spPr>
          <a:xfrm>
            <a:off x="6327648" y="43525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T+30 TO T+1YR  DOWNSTREAM</a:t>
            </a:r>
            <a:endParaRPr lang="en-US" sz="750" dirty="0"/>
          </a:p>
        </p:txBody>
      </p:sp>
      <p:sp>
        <p:nvSpPr>
          <p:cNvPr id="85" name="Text 83"/>
          <p:cNvSpPr/>
          <p:nvPr/>
        </p:nvSpPr>
        <p:spPr>
          <a:xfrm>
            <a:off x="6327648"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Six months later the next OBO assessment cycle confirms the building should have been vacated. Safety Officer is quietly vindicated. The bid is gone, but the Safety Officer retains professional integrity and is well-regarded by the OBO and RSO communities, which are small and remember.</a:t>
            </a:r>
            <a:endParaRPr lang="en-US" sz="800" dirty="0"/>
          </a:p>
        </p:txBody>
      </p:sp>
      <p:sp>
        <p:nvSpPr>
          <p:cNvPr id="86" name="Shape 84"/>
          <p:cNvSpPr/>
          <p:nvPr/>
        </p:nvSpPr>
        <p:spPr>
          <a:xfrm>
            <a:off x="7484364" y="2926080"/>
            <a:ext cx="0" cy="45720"/>
          </a:xfrm>
          <a:prstGeom prst="line">
            <a:avLst/>
          </a:prstGeom>
          <a:noFill/>
          <a:ln w="12700">
            <a:solidFill>
              <a:srgbClr val="94A3B8"/>
            </a:solidFill>
            <a:prstDash val="solid"/>
          </a:ln>
        </p:spPr>
      </p:sp>
      <p:sp>
        <p:nvSpPr>
          <p:cNvPr id="87" name="Shape 85"/>
          <p:cNvSpPr/>
          <p:nvPr/>
        </p:nvSpPr>
        <p:spPr>
          <a:xfrm>
            <a:off x="7484364" y="3520440"/>
            <a:ext cx="0" cy="45720"/>
          </a:xfrm>
          <a:prstGeom prst="line">
            <a:avLst/>
          </a:prstGeom>
          <a:noFill/>
          <a:ln w="12700">
            <a:solidFill>
              <a:srgbClr val="94A3B8"/>
            </a:solidFill>
            <a:prstDash val="solid"/>
          </a:ln>
        </p:spPr>
      </p:sp>
      <p:sp>
        <p:nvSpPr>
          <p:cNvPr id="88" name="Shape 86"/>
          <p:cNvSpPr/>
          <p:nvPr/>
        </p:nvSpPr>
        <p:spPr>
          <a:xfrm>
            <a:off x="7484364" y="4251960"/>
            <a:ext cx="0" cy="45720"/>
          </a:xfrm>
          <a:prstGeom prst="line">
            <a:avLst/>
          </a:prstGeom>
          <a:noFill/>
          <a:ln w="12700">
            <a:solidFill>
              <a:srgbClr val="94A3B8"/>
            </a:solidFill>
            <a:prstDash val="solid"/>
          </a:ln>
        </p:spPr>
      </p:sp>
      <p:sp>
        <p:nvSpPr>
          <p:cNvPr id="89" name="Shape 87"/>
          <p:cNvSpPr/>
          <p:nvPr/>
        </p:nvSpPr>
        <p:spPr>
          <a:xfrm>
            <a:off x="7484364" y="5715000"/>
            <a:ext cx="0" cy="45720"/>
          </a:xfrm>
          <a:prstGeom prst="line">
            <a:avLst/>
          </a:prstGeom>
          <a:noFill/>
          <a:ln w="12700">
            <a:solidFill>
              <a:srgbClr val="94A3B8"/>
            </a:solidFill>
            <a:prstDash val="solid"/>
          </a:ln>
        </p:spPr>
      </p:sp>
      <p:sp>
        <p:nvSpPr>
          <p:cNvPr id="90" name="Shape 88"/>
          <p:cNvSpPr/>
          <p:nvPr/>
        </p:nvSpPr>
        <p:spPr>
          <a:xfrm>
            <a:off x="6163056" y="5760720"/>
            <a:ext cx="2642616" cy="411480"/>
          </a:xfrm>
          <a:prstGeom prst="rect">
            <a:avLst/>
          </a:prstGeom>
          <a:solidFill>
            <a:srgbClr val="D4A574"/>
          </a:solidFill>
          <a:ln w="12700">
            <a:solidFill>
              <a:srgbClr val="D4A574"/>
            </a:solidFill>
            <a:prstDash val="solid"/>
          </a:ln>
        </p:spPr>
      </p:sp>
      <p:sp>
        <p:nvSpPr>
          <p:cNvPr id="91" name="Text 89"/>
          <p:cNvSpPr/>
          <p:nvPr/>
        </p:nvSpPr>
        <p:spPr>
          <a:xfrm>
            <a:off x="6300216"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SUBOPTIMAL</a:t>
            </a:r>
            <a:endParaRPr lang="en-US" sz="1100" dirty="0"/>
          </a:p>
        </p:txBody>
      </p:sp>
      <p:sp>
        <p:nvSpPr>
          <p:cNvPr id="92" name="Shape 90"/>
          <p:cNvSpPr/>
          <p:nvPr/>
        </p:nvSpPr>
        <p:spPr>
          <a:xfrm>
            <a:off x="8970264" y="1874520"/>
            <a:ext cx="2642616" cy="548640"/>
          </a:xfrm>
          <a:prstGeom prst="rect">
            <a:avLst/>
          </a:prstGeom>
          <a:solidFill>
            <a:srgbClr val="2C7A4B"/>
          </a:solidFill>
          <a:ln w="12700">
            <a:solidFill>
              <a:srgbClr val="2C7A4B"/>
            </a:solidFill>
            <a:prstDash val="solid"/>
          </a:ln>
        </p:spPr>
      </p:sp>
      <p:sp>
        <p:nvSpPr>
          <p:cNvPr id="93" name="Text 91"/>
          <p:cNvSpPr/>
          <p:nvPr/>
        </p:nvSpPr>
        <p:spPr>
          <a:xfrm>
            <a:off x="9107424"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D</a:t>
            </a:r>
            <a:endParaRPr lang="en-US" sz="900" dirty="0"/>
          </a:p>
        </p:txBody>
      </p:sp>
      <p:sp>
        <p:nvSpPr>
          <p:cNvPr id="94" name="Text 92"/>
          <p:cNvSpPr/>
          <p:nvPr/>
        </p:nvSpPr>
        <p:spPr>
          <a:xfrm>
            <a:off x="9107424"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Lives protected, leader protected, ethics intact, career …</a:t>
            </a:r>
            <a:endParaRPr lang="en-US" sz="1050" dirty="0"/>
          </a:p>
        </p:txBody>
      </p:sp>
      <p:sp>
        <p:nvSpPr>
          <p:cNvPr id="95" name="Shape 93"/>
          <p:cNvSpPr/>
          <p:nvPr/>
        </p:nvSpPr>
        <p:spPr>
          <a:xfrm>
            <a:off x="10291572" y="2423160"/>
            <a:ext cx="0" cy="45720"/>
          </a:xfrm>
          <a:prstGeom prst="line">
            <a:avLst/>
          </a:prstGeom>
          <a:noFill/>
          <a:ln w="12700">
            <a:solidFill>
              <a:srgbClr val="94A3B8"/>
            </a:solidFill>
            <a:prstDash val="solid"/>
          </a:ln>
        </p:spPr>
      </p:sp>
      <p:sp>
        <p:nvSpPr>
          <p:cNvPr id="96" name="Shape 94"/>
          <p:cNvSpPr/>
          <p:nvPr/>
        </p:nvSpPr>
        <p:spPr>
          <a:xfrm>
            <a:off x="8970264" y="2468880"/>
            <a:ext cx="2642616" cy="457200"/>
          </a:xfrm>
          <a:prstGeom prst="rect">
            <a:avLst/>
          </a:prstGeom>
          <a:solidFill>
            <a:srgbClr val="F4F1EC"/>
          </a:solidFill>
          <a:ln w="6350">
            <a:solidFill>
              <a:srgbClr val="E2E8F0"/>
            </a:solidFill>
            <a:prstDash val="solid"/>
          </a:ln>
        </p:spPr>
      </p:sp>
      <p:sp>
        <p:nvSpPr>
          <p:cNvPr id="97" name="Shape 95"/>
          <p:cNvSpPr/>
          <p:nvPr/>
        </p:nvSpPr>
        <p:spPr>
          <a:xfrm>
            <a:off x="8970264" y="2468880"/>
            <a:ext cx="54864" cy="457200"/>
          </a:xfrm>
          <a:prstGeom prst="rect">
            <a:avLst/>
          </a:prstGeom>
          <a:solidFill>
            <a:srgbClr val="2C7A4B"/>
          </a:solidFill>
          <a:ln w="12700">
            <a:solidFill>
              <a:srgbClr val="2C7A4B"/>
            </a:solidFill>
            <a:prstDash val="solid"/>
          </a:ln>
        </p:spPr>
      </p:sp>
      <p:sp>
        <p:nvSpPr>
          <p:cNvPr id="98" name="Text 96"/>
          <p:cNvSpPr/>
          <p:nvPr/>
        </p:nvSpPr>
        <p:spPr>
          <a:xfrm>
            <a:off x="9134856" y="25237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ENGAGES</a:t>
            </a:r>
            <a:endParaRPr lang="en-US" sz="750" dirty="0"/>
          </a:p>
        </p:txBody>
      </p:sp>
      <p:sp>
        <p:nvSpPr>
          <p:cNvPr id="99" name="Text 97"/>
          <p:cNvSpPr/>
          <p:nvPr/>
        </p:nvSpPr>
        <p:spPr>
          <a:xfrm>
            <a:off x="9134856"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Partner (Mrs. Tanaka)</a:t>
            </a:r>
            <a:endParaRPr lang="en-US" sz="950" dirty="0"/>
          </a:p>
        </p:txBody>
      </p:sp>
      <p:sp>
        <p:nvSpPr>
          <p:cNvPr id="100" name="Shape 98"/>
          <p:cNvSpPr/>
          <p:nvPr/>
        </p:nvSpPr>
        <p:spPr>
          <a:xfrm>
            <a:off x="8970264" y="2971800"/>
            <a:ext cx="2642616" cy="548640"/>
          </a:xfrm>
          <a:prstGeom prst="rect">
            <a:avLst/>
          </a:prstGeom>
          <a:solidFill>
            <a:srgbClr val="F4F1EC"/>
          </a:solidFill>
          <a:ln w="6350">
            <a:solidFill>
              <a:srgbClr val="E2E8F0"/>
            </a:solidFill>
            <a:prstDash val="solid"/>
          </a:ln>
        </p:spPr>
      </p:sp>
      <p:sp>
        <p:nvSpPr>
          <p:cNvPr id="101" name="Shape 99"/>
          <p:cNvSpPr/>
          <p:nvPr/>
        </p:nvSpPr>
        <p:spPr>
          <a:xfrm>
            <a:off x="8970264" y="2971800"/>
            <a:ext cx="54864" cy="548640"/>
          </a:xfrm>
          <a:prstGeom prst="rect">
            <a:avLst/>
          </a:prstGeom>
          <a:solidFill>
            <a:srgbClr val="2C7A4B"/>
          </a:solidFill>
          <a:ln w="12700">
            <a:solidFill>
              <a:srgbClr val="2C7A4B"/>
            </a:solidFill>
            <a:prstDash val="solid"/>
          </a:ln>
        </p:spPr>
      </p:sp>
      <p:sp>
        <p:nvSpPr>
          <p:cNvPr id="102" name="Text 100"/>
          <p:cNvSpPr/>
          <p:nvPr/>
        </p:nvSpPr>
        <p:spPr>
          <a:xfrm>
            <a:off x="9134856" y="302666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CHOICE / ACTION</a:t>
            </a:r>
            <a:endParaRPr lang="en-US" sz="750" dirty="0"/>
          </a:p>
        </p:txBody>
      </p:sp>
      <p:sp>
        <p:nvSpPr>
          <p:cNvPr id="103" name="Text 101"/>
          <p:cNvSpPr/>
          <p:nvPr/>
        </p:nvSpPr>
        <p:spPr>
          <a:xfrm>
            <a:off x="9134856"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Build the Ambassador-facing risk-acceptance memo trap + family-by-family move plan.</a:t>
            </a:r>
            <a:endParaRPr lang="en-US" sz="900" dirty="0"/>
          </a:p>
        </p:txBody>
      </p:sp>
      <p:sp>
        <p:nvSpPr>
          <p:cNvPr id="104" name="Shape 102"/>
          <p:cNvSpPr/>
          <p:nvPr/>
        </p:nvSpPr>
        <p:spPr>
          <a:xfrm>
            <a:off x="8970264" y="3566160"/>
            <a:ext cx="2642616" cy="685800"/>
          </a:xfrm>
          <a:prstGeom prst="rect">
            <a:avLst/>
          </a:prstGeom>
          <a:solidFill>
            <a:srgbClr val="F4F1EC"/>
          </a:solidFill>
          <a:ln w="6350">
            <a:solidFill>
              <a:srgbClr val="E2E8F0"/>
            </a:solidFill>
            <a:prstDash val="solid"/>
          </a:ln>
        </p:spPr>
      </p:sp>
      <p:sp>
        <p:nvSpPr>
          <p:cNvPr id="105" name="Shape 103"/>
          <p:cNvSpPr/>
          <p:nvPr/>
        </p:nvSpPr>
        <p:spPr>
          <a:xfrm>
            <a:off x="8970264" y="3566160"/>
            <a:ext cx="54864" cy="685800"/>
          </a:xfrm>
          <a:prstGeom prst="rect">
            <a:avLst/>
          </a:prstGeom>
          <a:solidFill>
            <a:srgbClr val="2C7A4B"/>
          </a:solidFill>
          <a:ln w="12700">
            <a:solidFill>
              <a:srgbClr val="2C7A4B"/>
            </a:solidFill>
            <a:prstDash val="solid"/>
          </a:ln>
        </p:spPr>
      </p:sp>
      <p:sp>
        <p:nvSpPr>
          <p:cNvPr id="106" name="Text 104"/>
          <p:cNvSpPr/>
          <p:nvPr/>
        </p:nvSpPr>
        <p:spPr>
          <a:xfrm>
            <a:off x="9134856" y="362102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T+0  IMMEDIATE OUTCOME</a:t>
            </a:r>
            <a:endParaRPr lang="en-US" sz="750" dirty="0"/>
          </a:p>
        </p:txBody>
      </p:sp>
      <p:sp>
        <p:nvSpPr>
          <p:cNvPr id="107" name="Text 105"/>
          <p:cNvSpPr/>
          <p:nvPr/>
        </p:nvSpPr>
        <p:spPr>
          <a:xfrm>
            <a:off x="9134856"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DCM looks at the package, recognizes that signing a risk-acceptance memo to the Ambassador is worse than approving the move. Approves the move plan. Three families relocated in fourteen days.</a:t>
            </a:r>
            <a:endParaRPr lang="en-US" sz="850" dirty="0"/>
          </a:p>
        </p:txBody>
      </p:sp>
      <p:sp>
        <p:nvSpPr>
          <p:cNvPr id="108" name="Shape 106"/>
          <p:cNvSpPr/>
          <p:nvPr/>
        </p:nvSpPr>
        <p:spPr>
          <a:xfrm>
            <a:off x="8970264" y="4297680"/>
            <a:ext cx="2642616" cy="1417320"/>
          </a:xfrm>
          <a:prstGeom prst="rect">
            <a:avLst/>
          </a:prstGeom>
          <a:solidFill>
            <a:srgbClr val="F4F1EC"/>
          </a:solidFill>
          <a:ln w="6350">
            <a:solidFill>
              <a:srgbClr val="E2E8F0"/>
            </a:solidFill>
            <a:prstDash val="solid"/>
          </a:ln>
        </p:spPr>
      </p:sp>
      <p:sp>
        <p:nvSpPr>
          <p:cNvPr id="109" name="Shape 107"/>
          <p:cNvSpPr/>
          <p:nvPr/>
        </p:nvSpPr>
        <p:spPr>
          <a:xfrm>
            <a:off x="8970264" y="4297680"/>
            <a:ext cx="54864" cy="1417320"/>
          </a:xfrm>
          <a:prstGeom prst="rect">
            <a:avLst/>
          </a:prstGeom>
          <a:solidFill>
            <a:srgbClr val="2C7A4B"/>
          </a:solidFill>
          <a:ln w="12700">
            <a:solidFill>
              <a:srgbClr val="2C7A4B"/>
            </a:solidFill>
            <a:prstDash val="solid"/>
          </a:ln>
        </p:spPr>
      </p:sp>
      <p:sp>
        <p:nvSpPr>
          <p:cNvPr id="110" name="Text 108"/>
          <p:cNvSpPr/>
          <p:nvPr/>
        </p:nvSpPr>
        <p:spPr>
          <a:xfrm>
            <a:off x="9134856" y="43525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T+30 TO T+1YR  DOWNSTREAM</a:t>
            </a:r>
            <a:endParaRPr lang="en-US" sz="750" dirty="0"/>
          </a:p>
        </p:txBody>
      </p:sp>
      <p:sp>
        <p:nvSpPr>
          <p:cNvPr id="111" name="Text 109"/>
          <p:cNvSpPr/>
          <p:nvPr/>
        </p:nvSpPr>
        <p:spPr>
          <a:xfrm>
            <a:off x="9134856"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Officer Z's recall improves to twenty-two minutes by car from the new high-rise. School continuity preserved for Officer Y's child. DCM credited with 'safety culture leadership' in the next OIG inspection. Safety Officer receives a strong evaluation and the next post.</a:t>
            </a:r>
            <a:endParaRPr lang="en-US" sz="800" dirty="0"/>
          </a:p>
        </p:txBody>
      </p:sp>
      <p:sp>
        <p:nvSpPr>
          <p:cNvPr id="112" name="Shape 110"/>
          <p:cNvSpPr/>
          <p:nvPr/>
        </p:nvSpPr>
        <p:spPr>
          <a:xfrm>
            <a:off x="10291572" y="2926080"/>
            <a:ext cx="0" cy="45720"/>
          </a:xfrm>
          <a:prstGeom prst="line">
            <a:avLst/>
          </a:prstGeom>
          <a:noFill/>
          <a:ln w="12700">
            <a:solidFill>
              <a:srgbClr val="94A3B8"/>
            </a:solidFill>
            <a:prstDash val="solid"/>
          </a:ln>
        </p:spPr>
      </p:sp>
      <p:sp>
        <p:nvSpPr>
          <p:cNvPr id="113" name="Shape 111"/>
          <p:cNvSpPr/>
          <p:nvPr/>
        </p:nvSpPr>
        <p:spPr>
          <a:xfrm>
            <a:off x="10291572" y="3520440"/>
            <a:ext cx="0" cy="45720"/>
          </a:xfrm>
          <a:prstGeom prst="line">
            <a:avLst/>
          </a:prstGeom>
          <a:noFill/>
          <a:ln w="12700">
            <a:solidFill>
              <a:srgbClr val="94A3B8"/>
            </a:solidFill>
            <a:prstDash val="solid"/>
          </a:ln>
        </p:spPr>
      </p:sp>
      <p:sp>
        <p:nvSpPr>
          <p:cNvPr id="114" name="Shape 112"/>
          <p:cNvSpPr/>
          <p:nvPr/>
        </p:nvSpPr>
        <p:spPr>
          <a:xfrm>
            <a:off x="10291572" y="4251960"/>
            <a:ext cx="0" cy="45720"/>
          </a:xfrm>
          <a:prstGeom prst="line">
            <a:avLst/>
          </a:prstGeom>
          <a:noFill/>
          <a:ln w="12700">
            <a:solidFill>
              <a:srgbClr val="94A3B8"/>
            </a:solidFill>
            <a:prstDash val="solid"/>
          </a:ln>
        </p:spPr>
      </p:sp>
      <p:sp>
        <p:nvSpPr>
          <p:cNvPr id="115" name="Shape 113"/>
          <p:cNvSpPr/>
          <p:nvPr/>
        </p:nvSpPr>
        <p:spPr>
          <a:xfrm>
            <a:off x="10291572" y="5715000"/>
            <a:ext cx="0" cy="45720"/>
          </a:xfrm>
          <a:prstGeom prst="line">
            <a:avLst/>
          </a:prstGeom>
          <a:noFill/>
          <a:ln w="12700">
            <a:solidFill>
              <a:srgbClr val="94A3B8"/>
            </a:solidFill>
            <a:prstDash val="solid"/>
          </a:ln>
        </p:spPr>
      </p:sp>
      <p:sp>
        <p:nvSpPr>
          <p:cNvPr id="116" name="Shape 114"/>
          <p:cNvSpPr/>
          <p:nvPr/>
        </p:nvSpPr>
        <p:spPr>
          <a:xfrm>
            <a:off x="8970264" y="5760720"/>
            <a:ext cx="2642616" cy="411480"/>
          </a:xfrm>
          <a:prstGeom prst="rect">
            <a:avLst/>
          </a:prstGeom>
          <a:solidFill>
            <a:srgbClr val="2C7A4B"/>
          </a:solidFill>
          <a:ln w="12700">
            <a:solidFill>
              <a:srgbClr val="2C7A4B"/>
            </a:solidFill>
            <a:prstDash val="solid"/>
          </a:ln>
        </p:spPr>
      </p:sp>
      <p:sp>
        <p:nvSpPr>
          <p:cNvPr id="117" name="Text 115"/>
          <p:cNvSpPr/>
          <p:nvPr/>
        </p:nvSpPr>
        <p:spPr>
          <a:xfrm>
            <a:off x="9107424"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OPTIMAL</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640080"/>
            <a:ext cx="11064240" cy="32004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RECOMMENDED PATH</a:t>
            </a:r>
            <a:endParaRPr lang="en-US" sz="1200" dirty="0"/>
          </a:p>
        </p:txBody>
      </p:sp>
      <p:sp>
        <p:nvSpPr>
          <p:cNvPr id="3" name="Text 1"/>
          <p:cNvSpPr/>
          <p:nvPr/>
        </p:nvSpPr>
        <p:spPr>
          <a:xfrm>
            <a:off x="548640" y="96012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4: The Inherited Earthquake-Risk Apartment Building</a:t>
            </a:r>
            <a:endParaRPr lang="en-US" sz="2200" dirty="0"/>
          </a:p>
        </p:txBody>
      </p:sp>
      <p:sp>
        <p:nvSpPr>
          <p:cNvPr id="4" name="Shape 2"/>
          <p:cNvSpPr/>
          <p:nvPr/>
        </p:nvSpPr>
        <p:spPr>
          <a:xfrm>
            <a:off x="548640" y="1691640"/>
            <a:ext cx="11064240" cy="2377440"/>
          </a:xfrm>
          <a:prstGeom prst="rect">
            <a:avLst/>
          </a:prstGeom>
          <a:solidFill>
            <a:srgbClr val="FFFFFF"/>
          </a:solidFill>
          <a:ln w="12700">
            <a:solidFill>
              <a:srgbClr val="FFFFFF"/>
            </a:solidFill>
            <a:prstDash val="solid"/>
          </a:ln>
        </p:spPr>
      </p:sp>
      <p:sp>
        <p:nvSpPr>
          <p:cNvPr id="5" name="Shape 3"/>
          <p:cNvSpPr/>
          <p:nvPr/>
        </p:nvSpPr>
        <p:spPr>
          <a:xfrm>
            <a:off x="548640" y="1691640"/>
            <a:ext cx="146304" cy="2377440"/>
          </a:xfrm>
          <a:prstGeom prst="rect">
            <a:avLst/>
          </a:prstGeom>
          <a:solidFill>
            <a:srgbClr val="2C7A4B"/>
          </a:solidFill>
          <a:ln w="12700">
            <a:solidFill>
              <a:srgbClr val="2C7A4B"/>
            </a:solidFill>
            <a:prstDash val="solid"/>
          </a:ln>
        </p:spPr>
      </p:sp>
      <p:sp>
        <p:nvSpPr>
          <p:cNvPr id="6" name="Text 4"/>
          <p:cNvSpPr/>
          <p:nvPr/>
        </p:nvSpPr>
        <p:spPr>
          <a:xfrm>
            <a:off x="914400" y="1828800"/>
            <a:ext cx="10515600" cy="274320"/>
          </a:xfrm>
          <a:prstGeom prst="rect">
            <a:avLst/>
          </a:prstGeom>
          <a:noFill/>
          <a:ln/>
        </p:spPr>
        <p:txBody>
          <a:bodyPr wrap="square" lIns="0" tIns="0" rIns="0" bIns="0" rtlCol="0" anchor="ctr"/>
          <a:lstStyle/>
          <a:p>
            <a:pPr indent="0" marL="0">
              <a:buNone/>
            </a:pPr>
            <a:r>
              <a:rPr lang="en-US" sz="1100" b="1" spc="400" kern="0" dirty="0">
                <a:solidFill>
                  <a:srgbClr val="2C7A4B"/>
                </a:solidFill>
                <a:latin typeface="Calibri" pitchFamily="34" charset="0"/>
                <a:ea typeface="Calibri" pitchFamily="34" charset="-122"/>
                <a:cs typeface="Calibri" pitchFamily="34" charset="-120"/>
              </a:rPr>
              <a:t>OPTIMAL OUTCOME</a:t>
            </a:r>
            <a:endParaRPr lang="en-US" sz="1100" dirty="0"/>
          </a:p>
        </p:txBody>
      </p:sp>
      <p:sp>
        <p:nvSpPr>
          <p:cNvPr id="7" name="Text 5"/>
          <p:cNvSpPr/>
          <p:nvPr/>
        </p:nvSpPr>
        <p:spPr>
          <a:xfrm>
            <a:off x="914400" y="2148840"/>
            <a:ext cx="10515600" cy="1874520"/>
          </a:xfrm>
          <a:prstGeom prst="rect">
            <a:avLst/>
          </a:prstGeom>
          <a:noFill/>
          <a:ln/>
        </p:spPr>
        <p:txBody>
          <a:bodyPr wrap="square" lIns="0" tIns="0" rIns="0" bIns="0" rtlCol="0" anchor="t"/>
          <a:lstStyle/>
          <a:p>
            <a:pPr indent="0" marL="0">
              <a:spcAft>
                <a:spcPts val="400"/>
              </a:spcAft>
              <a:buNone/>
            </a:pPr>
            <a:r>
              <a:rPr lang="en-US" sz="1400" dirty="0">
                <a:solidFill>
                  <a:srgbClr val="14193D"/>
                </a:solidFill>
                <a:latin typeface="Calibri" pitchFamily="34" charset="0"/>
                <a:ea typeface="Calibri" pitchFamily="34" charset="-122"/>
                <a:cs typeface="Calibri" pitchFamily="34" charset="-120"/>
              </a:rPr>
              <a:t>Path D. The Safety Officer partners with Mrs. Tanaka, who has the institutional knowledge of the front office's actual decision-making to construct a memo package the DCM cannot refuse. The package frames the choice as 'a memo with your signature' versus 'a memo with the Ambassador's signature,' and the DCM picks the option that keeps the Ambassador out of it. Note that the Safety Officer does not need to confront the DCM directly; the package does the confrontation.</a:t>
            </a:r>
            <a:endParaRPr lang="en-US" sz="1400" dirty="0"/>
          </a:p>
        </p:txBody>
      </p:sp>
      <p:sp>
        <p:nvSpPr>
          <p:cNvPr id="8" name="Text 6"/>
          <p:cNvSpPr/>
          <p:nvPr/>
        </p:nvSpPr>
        <p:spPr>
          <a:xfrm>
            <a:off x="548640" y="4297680"/>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TAKE TO DISCUSSION</a:t>
            </a:r>
            <a:endParaRPr lang="en-US" sz="1000" dirty="0"/>
          </a:p>
        </p:txBody>
      </p:sp>
      <p:sp>
        <p:nvSpPr>
          <p:cNvPr id="9" name="Text 7"/>
          <p:cNvSpPr/>
          <p:nvPr/>
        </p:nvSpPr>
        <p:spPr>
          <a:xfrm>
            <a:off x="548640" y="4572000"/>
            <a:ext cx="11064240" cy="1920240"/>
          </a:xfrm>
          <a:prstGeom prst="rect">
            <a:avLst/>
          </a:prstGeom>
          <a:noFill/>
          <a:ln/>
        </p:spPr>
        <p:txBody>
          <a:bodyPr wrap="square" lIns="0" tIns="0" rIns="0" bIns="0" rtlCol="0" anchor="t"/>
          <a:lstStyle/>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1. Why does Path D work where Path C does not, given that both protect the families? What does the Partner add that the Stickler does not?</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2. The 2022 close-out memo suggests this is the third year of monitoring a building rated 'very poor.' What is the cumulative moral weight on each successive Safety Officer who has signed a similar close-out? When does institutional inertia become individual culpability?</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3. Is Mrs. Tanaka's framing manipulative? She is using the DCM's career incentives to drive him toward the right answer. Is that ethical leadership of upward influence, or is it strategic manipulation in service of a good cause?</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4. Apply Chaleff's intelligent disobedience: at what specific point in the process is the Safety Officer required to disobey, even if the DCM does not approve the move plan?</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5. If Officer Z, the essential officer, expresses a personal preference to stay in the unsafe building, does that change the Safety Officer's obligation? Why or why not?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365760" y="1280160"/>
            <a:ext cx="4572000" cy="4114800"/>
          </a:xfrm>
          <a:prstGeom prst="rect">
            <a:avLst/>
          </a:prstGeom>
          <a:noFill/>
          <a:ln/>
        </p:spPr>
        <p:txBody>
          <a:bodyPr wrap="square" lIns="0" tIns="0" rIns="0" bIns="0" rtlCol="0" anchor="ctr"/>
          <a:lstStyle/>
          <a:p>
            <a:pPr indent="0" marL="0">
              <a:buNone/>
            </a:pPr>
            <a:r>
              <a:rPr lang="en-US" sz="32000" b="1" i="1" dirty="0">
                <a:solidFill>
                  <a:srgbClr val="1E2761"/>
                </a:solidFill>
                <a:latin typeface="Cambria" pitchFamily="34" charset="0"/>
                <a:ea typeface="Cambria" pitchFamily="34" charset="-122"/>
                <a:cs typeface="Cambria" pitchFamily="34" charset="-120"/>
              </a:rPr>
              <a:t>05</a:t>
            </a:r>
            <a:endParaRPr lang="en-US" sz="32000" dirty="0"/>
          </a:p>
        </p:txBody>
      </p:sp>
      <p:sp>
        <p:nvSpPr>
          <p:cNvPr id="3" name="Text 1"/>
          <p:cNvSpPr/>
          <p:nvPr/>
        </p:nvSpPr>
        <p:spPr>
          <a:xfrm>
            <a:off x="4754880" y="1554480"/>
            <a:ext cx="6858000" cy="36576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SCENARIO 5</a:t>
            </a:r>
            <a:endParaRPr lang="en-US" sz="1400" dirty="0"/>
          </a:p>
        </p:txBody>
      </p:sp>
      <p:sp>
        <p:nvSpPr>
          <p:cNvPr id="4" name="Text 2"/>
          <p:cNvSpPr/>
          <p:nvPr/>
        </p:nvSpPr>
        <p:spPr>
          <a:xfrm>
            <a:off x="4754880" y="1965960"/>
            <a:ext cx="685800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Battalion Body Composition Pre-Inspection</a:t>
            </a:r>
            <a:endParaRPr lang="en-US" sz="3600" dirty="0"/>
          </a:p>
        </p:txBody>
      </p:sp>
      <p:sp>
        <p:nvSpPr>
          <p:cNvPr id="5" name="Text 3"/>
          <p:cNvSpPr/>
          <p:nvPr/>
        </p:nvSpPr>
        <p:spPr>
          <a:xfrm>
            <a:off x="4754880" y="3520440"/>
            <a:ext cx="6858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Army Body Composition Program (AR 600-9)</a:t>
            </a:r>
            <a:endParaRPr lang="en-US" sz="1400" dirty="0"/>
          </a:p>
        </p:txBody>
      </p:sp>
      <p:sp>
        <p:nvSpPr>
          <p:cNvPr id="6" name="Shape 4"/>
          <p:cNvSpPr/>
          <p:nvPr/>
        </p:nvSpPr>
        <p:spPr>
          <a:xfrm>
            <a:off x="4754880" y="4023360"/>
            <a:ext cx="6858000" cy="36576"/>
          </a:xfrm>
          <a:prstGeom prst="rect">
            <a:avLst/>
          </a:prstGeom>
          <a:solidFill>
            <a:srgbClr val="B85042"/>
          </a:solidFill>
          <a:ln w="12700">
            <a:solidFill>
              <a:srgbClr val="B85042"/>
            </a:solidFill>
            <a:prstDash val="solid"/>
          </a:ln>
        </p:spPr>
      </p:sp>
      <p:sp>
        <p:nvSpPr>
          <p:cNvPr id="7" name="Text 5"/>
          <p:cNvSpPr/>
          <p:nvPr/>
        </p:nvSpPr>
        <p:spPr>
          <a:xfrm>
            <a:off x="4754880" y="4160520"/>
            <a:ext cx="6858000" cy="2011680"/>
          </a:xfrm>
          <a:prstGeom prst="rect">
            <a:avLst/>
          </a:prstGeom>
          <a:noFill/>
          <a:ln/>
        </p:spPr>
        <p:txBody>
          <a:bodyPr wrap="square" lIns="0" tIns="0" rIns="0" bIns="0" rtlCol="0" anchor="t"/>
          <a:lstStyle/>
          <a:p>
            <a:pPr indent="0" marL="0">
              <a:spcAft>
                <a:spcPts val="600"/>
              </a:spcAft>
              <a:buNone/>
            </a:pPr>
            <a:r>
              <a:rPr lang="en-US" sz="1000" b="1" spc="400" kern="0" dirty="0">
                <a:solidFill>
                  <a:srgbClr val="B85042"/>
                </a:solidFill>
                <a:latin typeface="Calibri" pitchFamily="34" charset="0"/>
                <a:ea typeface="Calibri" pitchFamily="34" charset="-122"/>
                <a:cs typeface="Calibri" pitchFamily="34" charset="-120"/>
              </a:rPr>
              <a:t>SETTING
</a:t>
            </a:r>
            <a:pPr indent="0" marL="0">
              <a:spcAft>
                <a:spcPts val="600"/>
              </a:spcAft>
              <a:buNone/>
            </a:pPr>
            <a:r>
              <a:rPr lang="en-US" sz="1200" dirty="0">
                <a:solidFill>
                  <a:srgbClr val="CADCFC"/>
                </a:solidFill>
                <a:latin typeface="Calibri" pitchFamily="34" charset="0"/>
                <a:ea typeface="Calibri" pitchFamily="34" charset="-122"/>
                <a:cs typeface="Calibri" pitchFamily="34" charset="-120"/>
              </a:rPr>
              <a:t>U.S. Army light infantry battalion, CONUS, sixty days from a Quarterly Training Brief (QTB) to the Brigade Commander. Battalion has twenty-seven Soldiers flagged in the Army Body Composition Program (ABCP) per AR 600-9. Brigade standard expects no more than nine flagged Soldiers per battalion at any quarterly review.</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5</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Leader and the Student</a:t>
            </a:r>
            <a:endParaRPr lang="en-US" sz="3200" dirty="0"/>
          </a:p>
        </p:txBody>
      </p:sp>
      <p:sp>
        <p:nvSpPr>
          <p:cNvPr id="5" name="Shape 3"/>
          <p:cNvSpPr/>
          <p:nvPr/>
        </p:nvSpPr>
        <p:spPr>
          <a:xfrm>
            <a:off x="548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2011680"/>
            <a:ext cx="5349240" cy="640080"/>
          </a:xfrm>
          <a:prstGeom prst="rect">
            <a:avLst/>
          </a:prstGeom>
          <a:solidFill>
            <a:srgbClr val="1E2761"/>
          </a:solidFill>
          <a:ln w="12700">
            <a:solidFill>
              <a:srgbClr val="1E2761"/>
            </a:solidFill>
            <a:prstDash val="solid"/>
          </a:ln>
        </p:spPr>
      </p:sp>
      <p:sp>
        <p:nvSpPr>
          <p:cNvPr id="7" name="Text 5"/>
          <p:cNvSpPr/>
          <p:nvPr/>
        </p:nvSpPr>
        <p:spPr>
          <a:xfrm>
            <a:off x="777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CADCFC"/>
                </a:solidFill>
                <a:latin typeface="Calibri" pitchFamily="34" charset="0"/>
                <a:ea typeface="Calibri" pitchFamily="34" charset="-122"/>
                <a:cs typeface="Calibri" pitchFamily="34" charset="-120"/>
              </a:rPr>
              <a:t>THE LEADER</a:t>
            </a:r>
            <a:endParaRPr lang="en-US" sz="1100" dirty="0"/>
          </a:p>
        </p:txBody>
      </p:sp>
      <p:sp>
        <p:nvSpPr>
          <p:cNvPr id="8" name="Text 6"/>
          <p:cNvSpPr/>
          <p:nvPr/>
        </p:nvSpPr>
        <p:spPr>
          <a:xfrm>
            <a:off x="777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LTC 'Striker' Murphy</a:t>
            </a:r>
            <a:endParaRPr lang="en-US" sz="1600" dirty="0"/>
          </a:p>
        </p:txBody>
      </p:sp>
      <p:sp>
        <p:nvSpPr>
          <p:cNvPr id="9" name="Text 7"/>
          <p:cNvSpPr/>
          <p:nvPr/>
        </p:nvSpPr>
        <p:spPr>
          <a:xfrm>
            <a:off x="777240" y="2788920"/>
            <a:ext cx="4892040" cy="274320"/>
          </a:xfrm>
          <a:prstGeom prst="rect">
            <a:avLst/>
          </a:prstGeom>
          <a:noFill/>
          <a:ln/>
        </p:spPr>
        <p:txBody>
          <a:bodyPr wrap="square" lIns="0" tIns="0" rIns="0" bIns="0" rtlCol="0" anchor="ctr"/>
          <a:lstStyle/>
          <a:p>
            <a:pPr indent="0" marL="0">
              <a:buNone/>
            </a:pPr>
            <a:r>
              <a:rPr lang="en-US" sz="1300" b="1" i="1" dirty="0">
                <a:solidFill>
                  <a:srgbClr val="B85042"/>
                </a:solidFill>
                <a:latin typeface="Calibri" pitchFamily="34" charset="0"/>
                <a:ea typeface="Calibri" pitchFamily="34" charset="-122"/>
                <a:cs typeface="Calibri" pitchFamily="34" charset="-120"/>
              </a:rPr>
              <a:t>Battalion Commander</a:t>
            </a:r>
            <a:endParaRPr lang="en-US" sz="1300" dirty="0"/>
          </a:p>
        </p:txBody>
      </p:sp>
      <p:sp>
        <p:nvSpPr>
          <p:cNvPr id="10" name="Text 8"/>
          <p:cNvSpPr/>
          <p:nvPr/>
        </p:nvSpPr>
        <p:spPr>
          <a:xfrm>
            <a:off x="777240" y="3108960"/>
            <a:ext cx="4892040" cy="29718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BACKGROUND
</a:t>
            </a:r>
            <a:pPr indent="0" marL="0">
              <a:buNone/>
            </a:pPr>
            <a:r>
              <a:rPr lang="en-US" sz="1200" dirty="0">
                <a:solidFill>
                  <a:srgbClr val="14193D"/>
                </a:solidFill>
                <a:latin typeface="Calibri" pitchFamily="34" charset="0"/>
                <a:ea typeface="Calibri" pitchFamily="34" charset="-122"/>
                <a:cs typeface="Calibri" pitchFamily="34" charset="-120"/>
              </a:rPr>
              <a:t>Nineteen years. On the LTC list and currently competing for a Senior Service College (SSC) selection slot. Selection board sits in four months. Strong commander on most metrics. The battalion's body composition and ACFT scores are the visible weak spots.
</a:t>
            </a:r>
            <a:pPr indent="0" marL="0">
              <a:buNone/>
            </a:pPr>
            <a:r>
              <a:rPr lang="en-US" sz="900" b="1" spc="300" kern="0" dirty="0">
                <a:solidFill>
                  <a:srgbClr val="1E2761"/>
                </a:solidFill>
                <a:latin typeface="Calibri" pitchFamily="34" charset="0"/>
                <a:ea typeface="Calibri" pitchFamily="34" charset="-122"/>
                <a:cs typeface="Calibri" pitchFamily="34" charset="-120"/>
              </a:rPr>
              <a:t>MOTIVATION
</a:t>
            </a:r>
            <a:pPr indent="0" marL="0">
              <a:buNone/>
            </a:pPr>
            <a:r>
              <a:rPr lang="en-US" sz="1200" dirty="0">
                <a:solidFill>
                  <a:srgbClr val="14193D"/>
                </a:solidFill>
                <a:latin typeface="Calibri" pitchFamily="34" charset="0"/>
                <a:ea typeface="Calibri" pitchFamily="34" charset="-122"/>
                <a:cs typeface="Calibri" pitchFamily="34" charset="-120"/>
              </a:rPr>
              <a:t>Wants to enter the SSC selection board with a clean QTB record. Sees the twenty-seven flagged number as the one outstanding negative and has heard the brigade commander mention it twice.</a:t>
            </a:r>
            <a:endParaRPr lang="en-US" sz="900" dirty="0"/>
          </a:p>
        </p:txBody>
      </p:sp>
      <p:sp>
        <p:nvSpPr>
          <p:cNvPr id="11" name="Shape 9"/>
          <p:cNvSpPr/>
          <p:nvPr/>
        </p:nvSpPr>
        <p:spPr>
          <a:xfrm>
            <a:off x="6263640" y="2011680"/>
            <a:ext cx="5349240" cy="420624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263640" y="2011680"/>
            <a:ext cx="5349240" cy="640080"/>
          </a:xfrm>
          <a:prstGeom prst="rect">
            <a:avLst/>
          </a:prstGeom>
          <a:solidFill>
            <a:srgbClr val="B85042"/>
          </a:solidFill>
          <a:ln w="12700">
            <a:solidFill>
              <a:srgbClr val="B85042"/>
            </a:solidFill>
            <a:prstDash val="solid"/>
          </a:ln>
        </p:spPr>
      </p:sp>
      <p:sp>
        <p:nvSpPr>
          <p:cNvPr id="13" name="Text 11"/>
          <p:cNvSpPr/>
          <p:nvPr/>
        </p:nvSpPr>
        <p:spPr>
          <a:xfrm>
            <a:off x="6492240" y="2057400"/>
            <a:ext cx="489204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YOU (THE STUDENT)</a:t>
            </a:r>
            <a:endParaRPr lang="en-US" sz="1100" dirty="0"/>
          </a:p>
        </p:txBody>
      </p:sp>
      <p:sp>
        <p:nvSpPr>
          <p:cNvPr id="14" name="Text 12"/>
          <p:cNvSpPr/>
          <p:nvPr/>
        </p:nvSpPr>
        <p:spPr>
          <a:xfrm>
            <a:off x="6492240" y="2331720"/>
            <a:ext cx="48920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Battalion S1 (Captain or Major) — alternative casting: HHC Commander or Battalion Executive Officer</a:t>
            </a:r>
            <a:endParaRPr lang="en-US" sz="1600" dirty="0"/>
          </a:p>
        </p:txBody>
      </p:sp>
      <p:sp>
        <p:nvSpPr>
          <p:cNvPr id="15" name="Text 13"/>
          <p:cNvSpPr/>
          <p:nvPr/>
        </p:nvSpPr>
        <p:spPr>
          <a:xfrm>
            <a:off x="6492240" y="2880360"/>
            <a:ext cx="4892040" cy="3200400"/>
          </a:xfrm>
          <a:prstGeom prst="rect">
            <a:avLst/>
          </a:prstGeom>
          <a:noFill/>
          <a:ln/>
        </p:spPr>
        <p:txBody>
          <a:bodyPr wrap="square" lIns="0" tIns="0" rIns="0" bIns="0" rtlCol="0" anchor="t"/>
          <a:lstStyle/>
          <a:p>
            <a:pPr indent="0" marL="0">
              <a:buNone/>
            </a:pPr>
            <a:r>
              <a:rPr lang="en-US" sz="900" b="1" spc="300" kern="0" dirty="0">
                <a:solidFill>
                  <a:srgbClr val="1E2761"/>
                </a:solidFill>
                <a:latin typeface="Calibri" pitchFamily="34" charset="0"/>
                <a:ea typeface="Calibri" pitchFamily="34" charset="-122"/>
                <a:cs typeface="Calibri" pitchFamily="34" charset="-120"/>
              </a:rPr>
              <a:t>STAKES
</a:t>
            </a:r>
            <a:pPr indent="0" marL="0">
              <a:buNone/>
            </a:pPr>
            <a:r>
              <a:rPr lang="en-US" sz="1200" dirty="0">
                <a:solidFill>
                  <a:srgbClr val="14193D"/>
                </a:solidFill>
                <a:latin typeface="Calibri" pitchFamily="34" charset="0"/>
                <a:ea typeface="Calibri" pitchFamily="34" charset="-122"/>
                <a:cs typeface="Calibri" pitchFamily="34" charset="-120"/>
              </a:rPr>
              <a:t>Promotion board for the next grade. ABCP record falsification is an Article 107 (False Official Statement) issue and, if Soldiers are subsequently injured because they were certified fit when they were not, potentially Article 92 and Article 134. Also implicates the battalion physician assistant if medical exemptions are misused, which broadens criminal exposure to a second officer.
</a:t>
            </a:r>
            <a:pPr indent="0" marL="0">
              <a:buNone/>
            </a:pPr>
            <a:r>
              <a:rPr lang="en-US" sz="900" b="1" spc="300" kern="0" dirty="0">
                <a:solidFill>
                  <a:srgbClr val="B85042"/>
                </a:solidFill>
                <a:latin typeface="Calibri" pitchFamily="34" charset="0"/>
                <a:ea typeface="Calibri" pitchFamily="34" charset="-122"/>
                <a:cs typeface="Calibri" pitchFamily="34" charset="-120"/>
              </a:rPr>
              <a:t>NATURE OF RISK
</a:t>
            </a:r>
            <a:pPr indent="0" marL="0">
              <a:buNone/>
            </a:pPr>
            <a:r>
              <a:rPr lang="en-US" sz="1200" dirty="0">
                <a:solidFill>
                  <a:srgbClr val="14193D"/>
                </a:solidFill>
                <a:latin typeface="Calibri" pitchFamily="34" charset="0"/>
                <a:ea typeface="Calibri" pitchFamily="34" charset="-122"/>
                <a:cs typeface="Calibri" pitchFamily="34" charset="-120"/>
              </a:rPr>
              <a:t>Career risk dominant, with material legal exposure if the manipulation is discovered or, worse, if a Soldier is harmed downstream.</a:t>
            </a:r>
            <a:endParaRPr lang="en-US" sz="900" dirty="0"/>
          </a:p>
        </p:txBody>
      </p:sp>
      <p:sp>
        <p:nvSpPr>
          <p:cNvPr id="16" name="Shape 14"/>
          <p:cNvSpPr/>
          <p:nvPr/>
        </p:nvSpPr>
        <p:spPr>
          <a:xfrm>
            <a:off x="0" y="6803136"/>
            <a:ext cx="12161520" cy="54864"/>
          </a:xfrm>
          <a:prstGeom prst="rect">
            <a:avLst/>
          </a:prstGeom>
          <a:solidFill>
            <a:srgbClr val="1E2761"/>
          </a:solidFill>
          <a:ln w="12700">
            <a:solidFill>
              <a:srgbClr val="1E2761"/>
            </a:solidFill>
            <a:prstDash val="solid"/>
          </a:ln>
        </p:spPr>
      </p:sp>
      <p:sp>
        <p:nvSpPr>
          <p:cNvPr id="17" name="Text 15"/>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5 — Battalion Body Composition Pre-Inspection</a:t>
            </a:r>
            <a:endParaRPr lang="en-US" sz="1000" dirty="0"/>
          </a:p>
        </p:txBody>
      </p:sp>
      <p:sp>
        <p:nvSpPr>
          <p:cNvPr id="18" name="Text 16"/>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548640"/>
            <a:ext cx="11064240" cy="36576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MORALLY AMBIGUOUS ORDER</a:t>
            </a:r>
            <a:endParaRPr lang="en-US" sz="1200" dirty="0"/>
          </a:p>
        </p:txBody>
      </p:sp>
      <p:sp>
        <p:nvSpPr>
          <p:cNvPr id="3" name="Text 1"/>
          <p:cNvSpPr/>
          <p:nvPr/>
        </p:nvSpPr>
        <p:spPr>
          <a:xfrm>
            <a:off x="548640" y="91440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5: Battalion Body Composition Pre-Inspection</a:t>
            </a:r>
            <a:endParaRPr lang="en-US" sz="2200" dirty="0"/>
          </a:p>
        </p:txBody>
      </p:sp>
      <p:sp>
        <p:nvSpPr>
          <p:cNvPr id="4" name="Shape 2"/>
          <p:cNvSpPr/>
          <p:nvPr/>
        </p:nvSpPr>
        <p:spPr>
          <a:xfrm>
            <a:off x="548640" y="1600200"/>
            <a:ext cx="73152" cy="1737360"/>
          </a:xfrm>
          <a:prstGeom prst="rect">
            <a:avLst/>
          </a:prstGeom>
          <a:solidFill>
            <a:srgbClr val="B85042"/>
          </a:solidFill>
          <a:ln w="12700">
            <a:solidFill>
              <a:srgbClr val="B85042"/>
            </a:solidFill>
            <a:prstDash val="solid"/>
          </a:ln>
        </p:spPr>
      </p:sp>
      <p:sp>
        <p:nvSpPr>
          <p:cNvPr id="5" name="Text 3"/>
          <p:cNvSpPr/>
          <p:nvPr/>
        </p:nvSpPr>
        <p:spPr>
          <a:xfrm>
            <a:off x="914400" y="1554480"/>
            <a:ext cx="10698480" cy="18288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“LTC Murphy: 'S1, we've got twenty-seven Soldiers on ABCP and Brigade is going to ask. I need that number down before the QTB next month. Find a way. I don't want to hear about how hard it is.'”</a:t>
            </a:r>
            <a:endParaRPr lang="en-US" sz="1800" dirty="0"/>
          </a:p>
        </p:txBody>
      </p:sp>
      <p:sp>
        <p:nvSpPr>
          <p:cNvPr id="6" name="Shape 4"/>
          <p:cNvSpPr/>
          <p:nvPr/>
        </p:nvSpPr>
        <p:spPr>
          <a:xfrm>
            <a:off x="548640" y="3520440"/>
            <a:ext cx="11064240" cy="2926080"/>
          </a:xfrm>
          <a:prstGeom prst="rect">
            <a:avLst/>
          </a:prstGeom>
          <a:solidFill>
            <a:srgbClr val="1E2761"/>
          </a:solidFill>
          <a:ln w="12700">
            <a:solidFill>
              <a:srgbClr val="1E2761"/>
            </a:solidFill>
            <a:prstDash val="solid"/>
          </a:ln>
        </p:spPr>
      </p:sp>
      <p:sp>
        <p:nvSpPr>
          <p:cNvPr id="7" name="Text 5"/>
          <p:cNvSpPr/>
          <p:nvPr/>
        </p:nvSpPr>
        <p:spPr>
          <a:xfrm>
            <a:off x="822960" y="3657600"/>
            <a:ext cx="1051560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REGULATORY AND OPERATIONAL CONTEXT</a:t>
            </a:r>
            <a:endParaRPr lang="en-US" sz="1000" dirty="0"/>
          </a:p>
        </p:txBody>
      </p:sp>
      <p:sp>
        <p:nvSpPr>
          <p:cNvPr id="8" name="Text 6"/>
          <p:cNvSpPr/>
          <p:nvPr/>
        </p:nvSpPr>
        <p:spPr>
          <a:xfrm>
            <a:off x="822960" y="3977640"/>
            <a:ext cx="10515600" cy="237744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AR 600-9 governs the measurement methodology, the enrollment process, and the administrative actions that follow non-compliance. The regulation specifies measurement conditions (uniform, body landmarks, tape technique) and prescribes weight-loss programs and timelines. Manipulation can take several familiar forms: re-taping after PT or in dehydrated states; pressure on the battalion PA to issue temporary medical exemptions for borderline Soldiers; rushing administrative chapter actions on hard cases to remove them from the rolls before the QTB; and 'taping technique' coaching that is, in effect, false measurement. All of these are familiar to AR 15-6 investigators because all of them have been investigated before.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365760"/>
            <a:ext cx="1106424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5</a:t>
            </a:r>
            <a:endParaRPr lang="en-US" sz="1000" dirty="0"/>
          </a:p>
        </p:txBody>
      </p:sp>
      <p:sp>
        <p:nvSpPr>
          <p:cNvPr id="4" name="Text 2"/>
          <p:cNvSpPr/>
          <p:nvPr/>
        </p:nvSpPr>
        <p:spPr>
          <a:xfrm>
            <a:off x="548640" y="640080"/>
            <a:ext cx="11064240"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Four Subordinates and Their Advice</a:t>
            </a:r>
            <a:endParaRPr lang="en-US" sz="2200" dirty="0"/>
          </a:p>
        </p:txBody>
      </p:sp>
      <p:sp>
        <p:nvSpPr>
          <p:cNvPr id="5" name="Shape 3"/>
          <p:cNvSpPr/>
          <p:nvPr/>
        </p:nvSpPr>
        <p:spPr>
          <a:xfrm>
            <a:off x="548640"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6" name="Shape 4"/>
          <p:cNvSpPr/>
          <p:nvPr/>
        </p:nvSpPr>
        <p:spPr>
          <a:xfrm>
            <a:off x="548640" y="1188720"/>
            <a:ext cx="109728" cy="2743200"/>
          </a:xfrm>
          <a:prstGeom prst="rect">
            <a:avLst/>
          </a:prstGeom>
          <a:solidFill>
            <a:srgbClr val="7B2D26"/>
          </a:solidFill>
          <a:ln w="12700">
            <a:solidFill>
              <a:srgbClr val="7B2D26"/>
            </a:solidFill>
            <a:prstDash val="solid"/>
          </a:ln>
        </p:spPr>
      </p:sp>
      <p:sp>
        <p:nvSpPr>
          <p:cNvPr id="7" name="Text 5"/>
          <p:cNvSpPr/>
          <p:nvPr/>
        </p:nvSpPr>
        <p:spPr>
          <a:xfrm>
            <a:off x="822960" y="1298448"/>
            <a:ext cx="5010912" cy="201168"/>
          </a:xfrm>
          <a:prstGeom prst="rect">
            <a:avLst/>
          </a:prstGeom>
          <a:noFill/>
          <a:ln/>
        </p:spPr>
        <p:txBody>
          <a:bodyPr wrap="square" lIns="0" tIns="0" rIns="0" bIns="0" rtlCol="0" anchor="ctr"/>
          <a:lstStyle/>
          <a:p>
            <a:pPr indent="0" marL="0">
              <a:buNone/>
            </a:pPr>
            <a:r>
              <a:rPr lang="en-US" sz="950" b="1" spc="400" kern="0" dirty="0">
                <a:solidFill>
                  <a:srgbClr val="7B2D26"/>
                </a:solidFill>
                <a:latin typeface="Calibri" pitchFamily="34" charset="0"/>
                <a:ea typeface="Calibri" pitchFamily="34" charset="-122"/>
                <a:cs typeface="Calibri" pitchFamily="34" charset="-120"/>
              </a:rPr>
              <a:t>LOYALIST</a:t>
            </a:r>
            <a:endParaRPr lang="en-US" sz="950" dirty="0"/>
          </a:p>
        </p:txBody>
      </p:sp>
      <p:sp>
        <p:nvSpPr>
          <p:cNvPr id="8" name="Text 6"/>
          <p:cNvSpPr/>
          <p:nvPr/>
        </p:nvSpPr>
        <p:spPr>
          <a:xfrm>
            <a:off x="822960"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SSG Watkins — Battalion HR NCO</a:t>
            </a:r>
            <a:endParaRPr lang="en-US" sz="1200" dirty="0"/>
          </a:p>
        </p:txBody>
      </p:sp>
      <p:sp>
        <p:nvSpPr>
          <p:cNvPr id="9" name="Text 7"/>
          <p:cNvSpPr/>
          <p:nvPr/>
        </p:nvSpPr>
        <p:spPr>
          <a:xfrm>
            <a:off x="822960"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Kelley: Sheep</a:t>
            </a:r>
            <a:endParaRPr lang="en-US" sz="850" dirty="0"/>
          </a:p>
        </p:txBody>
      </p:sp>
      <p:sp>
        <p:nvSpPr>
          <p:cNvPr id="10" name="Text 8"/>
          <p:cNvSpPr/>
          <p:nvPr/>
        </p:nvSpPr>
        <p:spPr>
          <a:xfrm>
            <a:off x="822960" y="2011680"/>
            <a:ext cx="5010912" cy="1828800"/>
          </a:xfrm>
          <a:prstGeom prst="rect">
            <a:avLst/>
          </a:prstGeom>
          <a:noFill/>
          <a:ln/>
        </p:spPr>
        <p:txBody>
          <a:bodyPr wrap="square" lIns="0" tIns="0" rIns="0" bIns="0" rtlCol="0" anchor="t"/>
          <a:lstStyle/>
          <a:p>
            <a:pPr indent="0" marL="0">
              <a:spcAft>
                <a:spcPts val="200"/>
              </a:spcAft>
              <a:buNone/>
            </a:pPr>
            <a:r>
              <a:rPr lang="en-US" sz="950" i="1" dirty="0">
                <a:solidFill>
                  <a:srgbClr val="14193D"/>
                </a:solidFill>
                <a:latin typeface="Calibri" pitchFamily="34" charset="0"/>
                <a:ea typeface="Calibri" pitchFamily="34" charset="-122"/>
                <a:cs typeface="Calibri" pitchFamily="34" charset="-120"/>
              </a:rPr>
              <a:t>“Sir/ma'am, I can re-tape everyone Tuesday morning at zero five hundred right after they wake up, dehydrated, with a sympathetic NCO holding the tape. We will get half of them off the list. Done it before at the company level.”</a:t>
            </a:r>
            <a:endParaRPr lang="en-US" sz="950" dirty="0"/>
          </a:p>
          <a:p>
            <a:pPr indent="0" marL="0">
              <a:spcAft>
                <a:spcPts val="200"/>
              </a:spcAft>
              <a:buNone/>
            </a:pPr>
            <a:endParaRPr lang="en-US" sz="9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Standard measurement fraud, normalized through repetition.</a:t>
            </a:r>
            <a:endParaRPr lang="en-US" sz="950" dirty="0"/>
          </a:p>
        </p:txBody>
      </p:sp>
      <p:sp>
        <p:nvSpPr>
          <p:cNvPr id="11" name="Shape 9"/>
          <p:cNvSpPr/>
          <p:nvPr/>
        </p:nvSpPr>
        <p:spPr>
          <a:xfrm>
            <a:off x="6144768" y="1188720"/>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2" name="Shape 10"/>
          <p:cNvSpPr/>
          <p:nvPr/>
        </p:nvSpPr>
        <p:spPr>
          <a:xfrm>
            <a:off x="6144768" y="1188720"/>
            <a:ext cx="109728" cy="2743200"/>
          </a:xfrm>
          <a:prstGeom prst="rect">
            <a:avLst/>
          </a:prstGeom>
          <a:solidFill>
            <a:srgbClr val="C97B5C"/>
          </a:solidFill>
          <a:ln w="12700">
            <a:solidFill>
              <a:srgbClr val="C97B5C"/>
            </a:solidFill>
            <a:prstDash val="solid"/>
          </a:ln>
        </p:spPr>
      </p:sp>
      <p:sp>
        <p:nvSpPr>
          <p:cNvPr id="13" name="Text 11"/>
          <p:cNvSpPr/>
          <p:nvPr/>
        </p:nvSpPr>
        <p:spPr>
          <a:xfrm>
            <a:off x="6419088" y="1298448"/>
            <a:ext cx="5010912" cy="201168"/>
          </a:xfrm>
          <a:prstGeom prst="rect">
            <a:avLst/>
          </a:prstGeom>
          <a:noFill/>
          <a:ln/>
        </p:spPr>
        <p:txBody>
          <a:bodyPr wrap="square" lIns="0" tIns="0" rIns="0" bIns="0" rtlCol="0" anchor="ctr"/>
          <a:lstStyle/>
          <a:p>
            <a:pPr indent="0" marL="0">
              <a:buNone/>
            </a:pPr>
            <a:r>
              <a:rPr lang="en-US" sz="950" b="1" spc="400" kern="0" dirty="0">
                <a:solidFill>
                  <a:srgbClr val="C97B5C"/>
                </a:solidFill>
                <a:latin typeface="Calibri" pitchFamily="34" charset="0"/>
                <a:ea typeface="Calibri" pitchFamily="34" charset="-122"/>
                <a:cs typeface="Calibri" pitchFamily="34" charset="-120"/>
              </a:rPr>
              <a:t>OPERATOR</a:t>
            </a:r>
            <a:endParaRPr lang="en-US" sz="950" dirty="0"/>
          </a:p>
        </p:txBody>
      </p:sp>
      <p:sp>
        <p:nvSpPr>
          <p:cNvPr id="14" name="Text 12"/>
          <p:cNvSpPr/>
          <p:nvPr/>
        </p:nvSpPr>
        <p:spPr>
          <a:xfrm>
            <a:off x="6419088" y="1499616"/>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1SG Carter — Headquarters Company First Sergeant</a:t>
            </a:r>
            <a:endParaRPr lang="en-US" sz="1200" dirty="0"/>
          </a:p>
        </p:txBody>
      </p:sp>
      <p:sp>
        <p:nvSpPr>
          <p:cNvPr id="15" name="Text 13"/>
          <p:cNvSpPr/>
          <p:nvPr/>
        </p:nvSpPr>
        <p:spPr>
          <a:xfrm>
            <a:off x="6419088" y="1755648"/>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Kellerman: Participant</a:t>
            </a:r>
            <a:endParaRPr lang="en-US" sz="850" dirty="0"/>
          </a:p>
        </p:txBody>
      </p:sp>
      <p:sp>
        <p:nvSpPr>
          <p:cNvPr id="16" name="Text 14"/>
          <p:cNvSpPr/>
          <p:nvPr/>
        </p:nvSpPr>
        <p:spPr>
          <a:xfrm>
            <a:off x="6419088" y="2011680"/>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“Here is the play. We run a wellness initiative PT week, retape at the end of the week when they have sweated. We push the borderline cases to the PA for a metabolic-evaluation profile, which buys them thirty days off the rolls. The hard cases we initiate chapter on now so they are off the books before brigade arrives. Twenty-seven becomes eight, and brigade is happy.”</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Coordinated administrative manipulation. Each piece is individually defensible; collectively it is fraud.</a:t>
            </a:r>
            <a:endParaRPr lang="en-US" sz="850" dirty="0"/>
          </a:p>
        </p:txBody>
      </p:sp>
      <p:sp>
        <p:nvSpPr>
          <p:cNvPr id="17" name="Shape 15"/>
          <p:cNvSpPr/>
          <p:nvPr/>
        </p:nvSpPr>
        <p:spPr>
          <a:xfrm>
            <a:off x="548640"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18" name="Shape 16"/>
          <p:cNvSpPr/>
          <p:nvPr/>
        </p:nvSpPr>
        <p:spPr>
          <a:xfrm>
            <a:off x="548640" y="4059936"/>
            <a:ext cx="109728" cy="2743200"/>
          </a:xfrm>
          <a:prstGeom prst="rect">
            <a:avLst/>
          </a:prstGeom>
          <a:solidFill>
            <a:srgbClr val="3F5E78"/>
          </a:solidFill>
          <a:ln w="12700">
            <a:solidFill>
              <a:srgbClr val="3F5E78"/>
            </a:solidFill>
            <a:prstDash val="solid"/>
          </a:ln>
        </p:spPr>
      </p:sp>
      <p:sp>
        <p:nvSpPr>
          <p:cNvPr id="19" name="Text 17"/>
          <p:cNvSpPr/>
          <p:nvPr/>
        </p:nvSpPr>
        <p:spPr>
          <a:xfrm>
            <a:off x="822960" y="4169664"/>
            <a:ext cx="5010912" cy="201168"/>
          </a:xfrm>
          <a:prstGeom prst="rect">
            <a:avLst/>
          </a:prstGeom>
          <a:noFill/>
          <a:ln/>
        </p:spPr>
        <p:txBody>
          <a:bodyPr wrap="square" lIns="0" tIns="0" rIns="0" bIns="0" rtlCol="0" anchor="ctr"/>
          <a:lstStyle/>
          <a:p>
            <a:pPr indent="0" marL="0">
              <a:buNone/>
            </a:pPr>
            <a:r>
              <a:rPr lang="en-US" sz="950" b="1" spc="400" kern="0" dirty="0">
                <a:solidFill>
                  <a:srgbClr val="3F5E78"/>
                </a:solidFill>
                <a:latin typeface="Calibri" pitchFamily="34" charset="0"/>
                <a:ea typeface="Calibri" pitchFamily="34" charset="-122"/>
                <a:cs typeface="Calibri" pitchFamily="34" charset="-120"/>
              </a:rPr>
              <a:t>STICKLER</a:t>
            </a:r>
            <a:endParaRPr lang="en-US" sz="950" dirty="0"/>
          </a:p>
        </p:txBody>
      </p:sp>
      <p:sp>
        <p:nvSpPr>
          <p:cNvPr id="20" name="Text 18"/>
          <p:cNvSpPr/>
          <p:nvPr/>
        </p:nvSpPr>
        <p:spPr>
          <a:xfrm>
            <a:off x="822960"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CPT Singh — Battalion Adjutant</a:t>
            </a:r>
            <a:endParaRPr lang="en-US" sz="1200" dirty="0"/>
          </a:p>
        </p:txBody>
      </p:sp>
      <p:sp>
        <p:nvSpPr>
          <p:cNvPr id="21" name="Text 19"/>
          <p:cNvSpPr/>
          <p:nvPr/>
        </p:nvSpPr>
        <p:spPr>
          <a:xfrm>
            <a:off x="822960"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Individualist</a:t>
            </a:r>
            <a:endParaRPr lang="en-US" sz="850" dirty="0"/>
          </a:p>
        </p:txBody>
      </p:sp>
      <p:sp>
        <p:nvSpPr>
          <p:cNvPr id="22" name="Text 20"/>
          <p:cNvSpPr/>
          <p:nvPr/>
        </p:nvSpPr>
        <p:spPr>
          <a:xfrm>
            <a:off x="822960" y="4882896"/>
            <a:ext cx="5010912" cy="1828800"/>
          </a:xfrm>
          <a:prstGeom prst="rect">
            <a:avLst/>
          </a:prstGeom>
          <a:noFill/>
          <a:ln/>
        </p:spPr>
        <p:txBody>
          <a:bodyPr wrap="square" lIns="0" tIns="0" rIns="0" bIns="0" rtlCol="0" anchor="t"/>
          <a:lstStyle/>
          <a:p>
            <a:pPr indent="0" marL="0">
              <a:spcAft>
                <a:spcPts val="200"/>
              </a:spcAft>
              <a:buNone/>
            </a:pPr>
            <a:r>
              <a:rPr lang="en-US" sz="850" i="1" dirty="0">
                <a:solidFill>
                  <a:srgbClr val="14193D"/>
                </a:solidFill>
                <a:latin typeface="Calibri" pitchFamily="34" charset="0"/>
                <a:ea typeface="Calibri" pitchFamily="34" charset="-122"/>
                <a:cs typeface="Calibri" pitchFamily="34" charset="-120"/>
              </a:rPr>
              <a:t>“Sir, AR 600-9 is the regulation. We tape per the doctrine, we enroll per the doctrine, we take administrative action per the doctrine. If twenty-seven are flagged, twenty-seven are flagged. We brief brigade with a corrective action plan and a timeline. Anything else is a fraud against the United States.”</a:t>
            </a:r>
            <a:endParaRPr lang="en-US" sz="850" dirty="0"/>
          </a:p>
          <a:p>
            <a:pPr indent="0" marL="0">
              <a:spcAft>
                <a:spcPts val="200"/>
              </a:spcAft>
              <a:buNone/>
            </a:pPr>
            <a:endParaRPr lang="en-US" sz="85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Right answer, no path to a brigade commander's satisfaction.</a:t>
            </a:r>
            <a:endParaRPr lang="en-US" sz="850" dirty="0"/>
          </a:p>
        </p:txBody>
      </p:sp>
      <p:sp>
        <p:nvSpPr>
          <p:cNvPr id="23" name="Shape 21"/>
          <p:cNvSpPr/>
          <p:nvPr/>
        </p:nvSpPr>
        <p:spPr>
          <a:xfrm>
            <a:off x="6144768" y="4059936"/>
            <a:ext cx="5468112" cy="2743200"/>
          </a:xfrm>
          <a:prstGeom prst="rect">
            <a:avLst/>
          </a:prstGeom>
          <a:solidFill>
            <a:srgbClr val="FFFFFF"/>
          </a:solidFill>
          <a:ln w="6350">
            <a:solidFill>
              <a:srgbClr val="E2E8F0"/>
            </a:solidFill>
            <a:prstDash val="solid"/>
          </a:ln>
          <a:effectLst>
            <a:outerShdw sx="100000" sy="100000" kx="0" ky="0" algn="bl" rotWithShape="0" blurRad="152400" dist="38100" dir="5400000">
              <a:srgbClr val="000000">
                <a:alpha val="10000"/>
              </a:srgbClr>
            </a:outerShdw>
          </a:effectLst>
        </p:spPr>
      </p:sp>
      <p:sp>
        <p:nvSpPr>
          <p:cNvPr id="24" name="Shape 22"/>
          <p:cNvSpPr/>
          <p:nvPr/>
        </p:nvSpPr>
        <p:spPr>
          <a:xfrm>
            <a:off x="6144768" y="4059936"/>
            <a:ext cx="109728" cy="2743200"/>
          </a:xfrm>
          <a:prstGeom prst="rect">
            <a:avLst/>
          </a:prstGeom>
          <a:solidFill>
            <a:srgbClr val="2C7A4B"/>
          </a:solidFill>
          <a:ln w="12700">
            <a:solidFill>
              <a:srgbClr val="2C7A4B"/>
            </a:solidFill>
            <a:prstDash val="solid"/>
          </a:ln>
        </p:spPr>
      </p:sp>
      <p:sp>
        <p:nvSpPr>
          <p:cNvPr id="25" name="Text 23"/>
          <p:cNvSpPr/>
          <p:nvPr/>
        </p:nvSpPr>
        <p:spPr>
          <a:xfrm>
            <a:off x="6419088" y="4169664"/>
            <a:ext cx="5010912" cy="201168"/>
          </a:xfrm>
          <a:prstGeom prst="rect">
            <a:avLst/>
          </a:prstGeom>
          <a:noFill/>
          <a:ln/>
        </p:spPr>
        <p:txBody>
          <a:bodyPr wrap="square" lIns="0" tIns="0" rIns="0" bIns="0" rtlCol="0" anchor="ctr"/>
          <a:lstStyle/>
          <a:p>
            <a:pPr indent="0" marL="0">
              <a:buNone/>
            </a:pPr>
            <a:r>
              <a:rPr lang="en-US" sz="950" b="1" spc="400" kern="0" dirty="0">
                <a:solidFill>
                  <a:srgbClr val="2C7A4B"/>
                </a:solidFill>
                <a:latin typeface="Calibri" pitchFamily="34" charset="0"/>
                <a:ea typeface="Calibri" pitchFamily="34" charset="-122"/>
                <a:cs typeface="Calibri" pitchFamily="34" charset="-120"/>
              </a:rPr>
              <a:t>PARTNER</a:t>
            </a:r>
            <a:endParaRPr lang="en-US" sz="950" dirty="0"/>
          </a:p>
        </p:txBody>
      </p:sp>
      <p:sp>
        <p:nvSpPr>
          <p:cNvPr id="26" name="Text 24"/>
          <p:cNvSpPr/>
          <p:nvPr/>
        </p:nvSpPr>
        <p:spPr>
          <a:xfrm>
            <a:off x="6419088" y="4370832"/>
            <a:ext cx="5010912" cy="256032"/>
          </a:xfrm>
          <a:prstGeom prst="rect">
            <a:avLst/>
          </a:prstGeom>
          <a:noFill/>
          <a:ln/>
        </p:spPr>
        <p:txBody>
          <a:bodyPr wrap="square" lIns="0" tIns="0" rIns="0" bIns="0" rtlCol="0" anchor="ctr"/>
          <a:lstStyle/>
          <a:p>
            <a:pPr indent="0" marL="0">
              <a:buNone/>
            </a:pPr>
            <a:r>
              <a:rPr lang="en-US" sz="1200" b="1" dirty="0">
                <a:solidFill>
                  <a:srgbClr val="1E2761"/>
                </a:solidFill>
                <a:latin typeface="Cambria" pitchFamily="34" charset="0"/>
                <a:ea typeface="Cambria" pitchFamily="34" charset="-122"/>
                <a:cs typeface="Cambria" pitchFamily="34" charset="-120"/>
              </a:rPr>
              <a:t>CSM Dixon — Battalion Command Sergeant Major</a:t>
            </a:r>
            <a:endParaRPr lang="en-US" sz="1200" dirty="0"/>
          </a:p>
        </p:txBody>
      </p:sp>
      <p:sp>
        <p:nvSpPr>
          <p:cNvPr id="27" name="Text 25"/>
          <p:cNvSpPr/>
          <p:nvPr/>
        </p:nvSpPr>
        <p:spPr>
          <a:xfrm>
            <a:off x="6419088" y="4626864"/>
            <a:ext cx="5010912" cy="201168"/>
          </a:xfrm>
          <a:prstGeom prst="rect">
            <a:avLst/>
          </a:prstGeom>
          <a:noFill/>
          <a:ln/>
        </p:spPr>
        <p:txBody>
          <a:bodyPr wrap="square" lIns="0" tIns="0" rIns="0" bIns="0" rtlCol="0" anchor="ctr"/>
          <a:lstStyle/>
          <a:p>
            <a:pPr indent="0" marL="0">
              <a:buNone/>
            </a:pPr>
            <a:r>
              <a:rPr lang="en-US" sz="850" i="1" dirty="0">
                <a:solidFill>
                  <a:srgbClr val="475569"/>
                </a:solidFill>
                <a:latin typeface="Calibri" pitchFamily="34" charset="0"/>
                <a:ea typeface="Calibri" pitchFamily="34" charset="-122"/>
                <a:cs typeface="Calibri" pitchFamily="34" charset="-120"/>
              </a:rPr>
              <a:t>Chaleff: Partner; Riggio: Effective Followership at the senior NCO level</a:t>
            </a:r>
            <a:endParaRPr lang="en-US" sz="850" dirty="0"/>
          </a:p>
        </p:txBody>
      </p:sp>
      <p:sp>
        <p:nvSpPr>
          <p:cNvPr id="28" name="Text 26"/>
          <p:cNvSpPr/>
          <p:nvPr/>
        </p:nvSpPr>
        <p:spPr>
          <a:xfrm>
            <a:off x="6419088" y="4882896"/>
            <a:ext cx="5010912" cy="1828800"/>
          </a:xfrm>
          <a:prstGeom prst="rect">
            <a:avLst/>
          </a:prstGeom>
          <a:noFill/>
          <a:ln/>
        </p:spPr>
        <p:txBody>
          <a:bodyPr wrap="square" lIns="0" tIns="0" rIns="0" bIns="0" rtlCol="0" anchor="t"/>
          <a:lstStyle/>
          <a:p>
            <a:pPr indent="0" marL="0">
              <a:spcAft>
                <a:spcPts val="200"/>
              </a:spcAft>
              <a:buNone/>
            </a:pPr>
            <a:r>
              <a:rPr lang="en-US" sz="800" i="1" dirty="0">
                <a:solidFill>
                  <a:srgbClr val="14193D"/>
                </a:solidFill>
                <a:latin typeface="Calibri" pitchFamily="34" charset="0"/>
                <a:ea typeface="Calibri" pitchFamily="34" charset="-122"/>
                <a:cs typeface="Calibri" pitchFamily="34" charset="-120"/>
              </a:rPr>
              <a:t>“Sir, the brigade commander does not actually care about the snapshot. She cares about the trajectory. Let's give her one. We launch a real program: morning PT focused on conditioning and not on punishment, a partnership with the dining facility for a nutrition track, command-led ninety-day BCP for the flagged Soldiers, monthly progress measurements, transparent metrics. … [full text in scenario book]”</a:t>
            </a:r>
            <a:endParaRPr lang="en-US" sz="800" dirty="0"/>
          </a:p>
          <a:p>
            <a:pPr indent="0" marL="0">
              <a:spcAft>
                <a:spcPts val="200"/>
              </a:spcAft>
              <a:buNone/>
            </a:pPr>
            <a:endParaRPr lang="en-US" sz="800" dirty="0"/>
          </a:p>
          <a:p>
            <a:pPr indent="0" marL="0">
              <a:spcAft>
                <a:spcPts val="200"/>
              </a:spcAft>
              <a:buNone/>
            </a:pPr>
            <a:r>
              <a:rPr lang="en-US" sz="850" b="1" dirty="0">
                <a:solidFill>
                  <a:srgbClr val="B85042"/>
                </a:solidFill>
                <a:latin typeface="Calibri" pitchFamily="34" charset="0"/>
                <a:ea typeface="Calibri" pitchFamily="34" charset="-122"/>
                <a:cs typeface="Calibri" pitchFamily="34" charset="-120"/>
              </a:rPr>
              <a:t>READ: </a:t>
            </a:r>
            <a:pPr indent="0" marL="0">
              <a:spcAft>
                <a:spcPts val="200"/>
              </a:spcAft>
              <a:buNone/>
            </a:pPr>
            <a:r>
              <a:rPr lang="en-US" sz="850" dirty="0">
                <a:solidFill>
                  <a:srgbClr val="475569"/>
                </a:solidFill>
                <a:latin typeface="Calibri" pitchFamily="34" charset="0"/>
                <a:ea typeface="Calibri" pitchFamily="34" charset="-122"/>
                <a:cs typeface="Calibri" pitchFamily="34" charset="-120"/>
              </a:rPr>
              <a:t>Reframes the QTB as an opportunity to demonstrate command competence rather than to hide command incompetence.</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SCENARIO 5</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Decision Tree and Outcomes</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40080"/>
                <a:gridCol w="2103120"/>
                <a:gridCol w="2377440"/>
                <a:gridCol w="4572000"/>
                <a:gridCol w="1371600"/>
              </a:tblGrid>
              <a:tr h="868680">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IMMEDIATE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DOWNSTREAM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spc="300" kern="0"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A</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Re-tape Soldiers under dehydrated, post-PT conditions.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Twenty-seven becomes fourteen by the QTB. Brigade satisfied. LTC Murphy thanks the S1 personally.</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Six weeks later, during pre-deployment live-fire ranges, a Soldier collapses with a cardiac event. The Soldier's most recent ABCP measurement is on record as fit. Investigation traces the measurement back to the dehydrated re-tape. AR 15-6 results in S1 reprimand and possible court-martial; LTC Murphy relieved for cause. SSC selection denied.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CATASTROPHIC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B</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Coordinate administrative manipulation: profiles + chapter packets + retape.</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Twenty-seven becomes eight by the QTB. Brigade pleased. LTC Murphy thrilled.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Battalion PA refuses two of the metabolic profiles, files an internal IG complaint. AR 15-6 opens. Investigation finds coordinated manipulation. LTC Murphy receives a General Officer Memorandum of Reprimand (GOMOR), ending his SSC chances. S1 receives a referred OER. PA's career is fine because the PA refused.</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SEVERE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B85042"/>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C</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Brief 27 honestly with no remediation plan.</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Brigade commander disappointed. LTC Murphy furious. S1 receives a referred OER.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Without a plan attached, the next QTB is also bad. LTC Murphy does not pick up SSC. S1 does not promote. The actual ABCP problem is unaddressed because no remediation framework was built.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SUBOPTIMAL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574"/>
                    </a:solidFill>
                  </a:tcPr>
                </a:tc>
              </a:tr>
              <a:tr h="868680">
                <a:tc>
                  <a:txBody>
                    <a:bodyPr/>
                    <a:lstStyle/>
                    <a:p>
                      <a:pPr indent="0" marL="0">
                        <a:buNone/>
                      </a:pPr>
                      <a:r>
                        <a:rPr lang="en-US" sz="1100" b="1" dirty="0">
                          <a:solidFill>
                            <a:srgbClr val="1E2761"/>
                          </a:solidFill>
                          <a:latin typeface="Cambria" pitchFamily="34" charset="0"/>
                          <a:ea typeface="Cambria" pitchFamily="34" charset="-122"/>
                          <a:cs typeface="Cambria" pitchFamily="34" charset="-120"/>
                        </a:rPr>
                        <a:t>Path D</a:t>
                      </a:r>
                      <a:endParaRPr lang="en-US" sz="11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Launch a real BN-wide health program; brief brigade on trajectory not snapshot.</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LTC Murphy is annoyed but recognizes that the trajectory brief gives him a better SSC narrative than a fudged snapshot would. Briefs brigade with the where-why-what-when frame. Brigade commander actually nods.</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14193D"/>
                          </a:solidFill>
                          <a:latin typeface="Calibri" pitchFamily="34" charset="0"/>
                          <a:ea typeface="Calibri" pitchFamily="34" charset="-122"/>
                          <a:cs typeface="Calibri" pitchFamily="34" charset="-120"/>
                        </a:rPr>
                        <a:t>Sixty days later, 27 is down to 12, and 8 of those 12 are on documented progress trajectories. LTC Murphy's SSC packet narrative now reads 'led battalion cultural shift on health and readiness.' He gets selected. S1 promoted. The Soldiers actually become healthier.</a:t>
                      </a:r>
                      <a:endParaRPr lang="en-US" sz="95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OPTIMAL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4B"/>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Scenario 5 — Battalion Body Composition Pre-Inspection</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292608"/>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SCENARIO 5  ·  DECISION TREE</a:t>
            </a:r>
            <a:endParaRPr lang="en-US" sz="1000" dirty="0"/>
          </a:p>
        </p:txBody>
      </p:sp>
      <p:sp>
        <p:nvSpPr>
          <p:cNvPr id="4" name="Text 2"/>
          <p:cNvSpPr/>
          <p:nvPr/>
        </p:nvSpPr>
        <p:spPr>
          <a:xfrm>
            <a:off x="548640" y="548640"/>
            <a:ext cx="110642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Paths from order to outcome</a:t>
            </a:r>
            <a:endParaRPr lang="en-US" sz="1800" dirty="0"/>
          </a:p>
        </p:txBody>
      </p:sp>
      <p:sp>
        <p:nvSpPr>
          <p:cNvPr id="5" name="Shape 3"/>
          <p:cNvSpPr/>
          <p:nvPr/>
        </p:nvSpPr>
        <p:spPr>
          <a:xfrm>
            <a:off x="3337560" y="960120"/>
            <a:ext cx="5486400" cy="640080"/>
          </a:xfrm>
          <a:prstGeom prst="rect">
            <a:avLst/>
          </a:prstGeom>
          <a:solidFill>
            <a:srgbClr val="14193D"/>
          </a:solidFill>
          <a:ln w="12700">
            <a:solidFill>
              <a:srgbClr val="14193D"/>
            </a:solidFill>
            <a:prstDash val="solid"/>
          </a:ln>
          <a:effectLst>
            <a:outerShdw sx="100000" sy="100000" kx="0" ky="0" algn="bl" rotWithShape="0" blurRad="152400" dist="38100" dir="5400000">
              <a:srgbClr val="000000">
                <a:alpha val="10000"/>
              </a:srgbClr>
            </a:outerShdw>
          </a:effectLst>
        </p:spPr>
      </p:sp>
      <p:sp>
        <p:nvSpPr>
          <p:cNvPr id="6" name="Text 4"/>
          <p:cNvSpPr/>
          <p:nvPr/>
        </p:nvSpPr>
        <p:spPr>
          <a:xfrm>
            <a:off x="3474720" y="1014984"/>
            <a:ext cx="5212080" cy="182880"/>
          </a:xfrm>
          <a:prstGeom prst="rect">
            <a:avLst/>
          </a:prstGeom>
          <a:noFill/>
          <a:ln/>
        </p:spPr>
        <p:txBody>
          <a:bodyPr wrap="square" lIns="0" tIns="0" rIns="0" bIns="0" rtlCol="0" anchor="ctr"/>
          <a:lstStyle/>
          <a:p>
            <a:pPr indent="0" marL="0">
              <a:buNone/>
            </a:pPr>
            <a:r>
              <a:rPr lang="en-US" sz="850" b="1" spc="400" kern="0" dirty="0">
                <a:solidFill>
                  <a:srgbClr val="B85042"/>
                </a:solidFill>
                <a:latin typeface="Calibri" pitchFamily="34" charset="0"/>
                <a:ea typeface="Calibri" pitchFamily="34" charset="-122"/>
                <a:cs typeface="Calibri" pitchFamily="34" charset="-120"/>
              </a:rPr>
              <a:t>THE ORDER</a:t>
            </a:r>
            <a:endParaRPr lang="en-US" sz="850" dirty="0"/>
          </a:p>
        </p:txBody>
      </p:sp>
      <p:sp>
        <p:nvSpPr>
          <p:cNvPr id="7" name="Text 5"/>
          <p:cNvSpPr/>
          <p:nvPr/>
        </p:nvSpPr>
        <p:spPr>
          <a:xfrm>
            <a:off x="3474720" y="1197864"/>
            <a:ext cx="5212080" cy="36576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“LTC Murphy: 'S1, we've got twenty-seven Soldiers on ABCP and Brigade is going to ask. I need that number down before the QTB next month. Find a way. …”</a:t>
            </a:r>
            <a:endParaRPr lang="en-US" sz="900" dirty="0"/>
          </a:p>
        </p:txBody>
      </p:sp>
      <p:sp>
        <p:nvSpPr>
          <p:cNvPr id="8" name="Shape 6"/>
          <p:cNvSpPr/>
          <p:nvPr/>
        </p:nvSpPr>
        <p:spPr>
          <a:xfrm>
            <a:off x="6080760" y="1600200"/>
            <a:ext cx="0" cy="137160"/>
          </a:xfrm>
          <a:prstGeom prst="line">
            <a:avLst/>
          </a:prstGeom>
          <a:noFill/>
          <a:ln w="15875">
            <a:solidFill>
              <a:srgbClr val="94A3B8"/>
            </a:solidFill>
            <a:prstDash val="solid"/>
          </a:ln>
        </p:spPr>
      </p:sp>
      <p:sp>
        <p:nvSpPr>
          <p:cNvPr id="9" name="Shape 7"/>
          <p:cNvSpPr/>
          <p:nvPr/>
        </p:nvSpPr>
        <p:spPr>
          <a:xfrm>
            <a:off x="1869948" y="1737360"/>
            <a:ext cx="8421624" cy="0"/>
          </a:xfrm>
          <a:prstGeom prst="line">
            <a:avLst/>
          </a:prstGeom>
          <a:noFill/>
          <a:ln w="15875">
            <a:solidFill>
              <a:srgbClr val="94A3B8"/>
            </a:solidFill>
            <a:prstDash val="solid"/>
          </a:ln>
        </p:spPr>
      </p:sp>
      <p:sp>
        <p:nvSpPr>
          <p:cNvPr id="10" name="Shape 8"/>
          <p:cNvSpPr/>
          <p:nvPr/>
        </p:nvSpPr>
        <p:spPr>
          <a:xfrm>
            <a:off x="1869948" y="1737360"/>
            <a:ext cx="0" cy="137160"/>
          </a:xfrm>
          <a:prstGeom prst="line">
            <a:avLst/>
          </a:prstGeom>
          <a:noFill/>
          <a:ln w="15875">
            <a:solidFill>
              <a:srgbClr val="94A3B8"/>
            </a:solidFill>
            <a:prstDash val="solid"/>
          </a:ln>
        </p:spPr>
      </p:sp>
      <p:sp>
        <p:nvSpPr>
          <p:cNvPr id="11" name="Shape 9"/>
          <p:cNvSpPr/>
          <p:nvPr/>
        </p:nvSpPr>
        <p:spPr>
          <a:xfrm>
            <a:off x="4677156" y="1737360"/>
            <a:ext cx="0" cy="137160"/>
          </a:xfrm>
          <a:prstGeom prst="line">
            <a:avLst/>
          </a:prstGeom>
          <a:noFill/>
          <a:ln w="15875">
            <a:solidFill>
              <a:srgbClr val="94A3B8"/>
            </a:solidFill>
            <a:prstDash val="solid"/>
          </a:ln>
        </p:spPr>
      </p:sp>
      <p:sp>
        <p:nvSpPr>
          <p:cNvPr id="12" name="Shape 10"/>
          <p:cNvSpPr/>
          <p:nvPr/>
        </p:nvSpPr>
        <p:spPr>
          <a:xfrm>
            <a:off x="7484364" y="1737360"/>
            <a:ext cx="0" cy="137160"/>
          </a:xfrm>
          <a:prstGeom prst="line">
            <a:avLst/>
          </a:prstGeom>
          <a:noFill/>
          <a:ln w="15875">
            <a:solidFill>
              <a:srgbClr val="94A3B8"/>
            </a:solidFill>
            <a:prstDash val="solid"/>
          </a:ln>
        </p:spPr>
      </p:sp>
      <p:sp>
        <p:nvSpPr>
          <p:cNvPr id="13" name="Shape 11"/>
          <p:cNvSpPr/>
          <p:nvPr/>
        </p:nvSpPr>
        <p:spPr>
          <a:xfrm>
            <a:off x="10291572" y="1737360"/>
            <a:ext cx="0" cy="137160"/>
          </a:xfrm>
          <a:prstGeom prst="line">
            <a:avLst/>
          </a:prstGeom>
          <a:noFill/>
          <a:ln w="15875">
            <a:solidFill>
              <a:srgbClr val="94A3B8"/>
            </a:solidFill>
            <a:prstDash val="solid"/>
          </a:ln>
        </p:spPr>
      </p:sp>
      <p:sp>
        <p:nvSpPr>
          <p:cNvPr id="14" name="Shape 12"/>
          <p:cNvSpPr/>
          <p:nvPr/>
        </p:nvSpPr>
        <p:spPr>
          <a:xfrm>
            <a:off x="548640" y="1874520"/>
            <a:ext cx="2642616" cy="548640"/>
          </a:xfrm>
          <a:prstGeom prst="rect">
            <a:avLst/>
          </a:prstGeom>
          <a:solidFill>
            <a:srgbClr val="B85042"/>
          </a:solidFill>
          <a:ln w="12700">
            <a:solidFill>
              <a:srgbClr val="B85042"/>
            </a:solidFill>
            <a:prstDash val="solid"/>
          </a:ln>
        </p:spPr>
      </p:sp>
      <p:sp>
        <p:nvSpPr>
          <p:cNvPr id="15" name="Text 13"/>
          <p:cNvSpPr/>
          <p:nvPr/>
        </p:nvSpPr>
        <p:spPr>
          <a:xfrm>
            <a:off x="685800"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A</a:t>
            </a:r>
            <a:endParaRPr lang="en-US" sz="900" dirty="0"/>
          </a:p>
        </p:txBody>
      </p:sp>
      <p:sp>
        <p:nvSpPr>
          <p:cNvPr id="16" name="Text 14"/>
          <p:cNvSpPr/>
          <p:nvPr/>
        </p:nvSpPr>
        <p:spPr>
          <a:xfrm>
            <a:off x="685800"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Lives at risk, careers ended, possibly criminal.</a:t>
            </a:r>
            <a:endParaRPr lang="en-US" sz="1050" dirty="0"/>
          </a:p>
        </p:txBody>
      </p:sp>
      <p:sp>
        <p:nvSpPr>
          <p:cNvPr id="17" name="Shape 15"/>
          <p:cNvSpPr/>
          <p:nvPr/>
        </p:nvSpPr>
        <p:spPr>
          <a:xfrm>
            <a:off x="1869948" y="2423160"/>
            <a:ext cx="0" cy="45720"/>
          </a:xfrm>
          <a:prstGeom prst="line">
            <a:avLst/>
          </a:prstGeom>
          <a:noFill/>
          <a:ln w="12700">
            <a:solidFill>
              <a:srgbClr val="94A3B8"/>
            </a:solidFill>
            <a:prstDash val="solid"/>
          </a:ln>
        </p:spPr>
      </p:sp>
      <p:sp>
        <p:nvSpPr>
          <p:cNvPr id="18" name="Shape 16"/>
          <p:cNvSpPr/>
          <p:nvPr/>
        </p:nvSpPr>
        <p:spPr>
          <a:xfrm>
            <a:off x="548640" y="2468880"/>
            <a:ext cx="2642616" cy="457200"/>
          </a:xfrm>
          <a:prstGeom prst="rect">
            <a:avLst/>
          </a:prstGeom>
          <a:solidFill>
            <a:srgbClr val="F4F1EC"/>
          </a:solidFill>
          <a:ln w="6350">
            <a:solidFill>
              <a:srgbClr val="E2E8F0"/>
            </a:solidFill>
            <a:prstDash val="solid"/>
          </a:ln>
        </p:spPr>
      </p:sp>
      <p:sp>
        <p:nvSpPr>
          <p:cNvPr id="19" name="Shape 17"/>
          <p:cNvSpPr/>
          <p:nvPr/>
        </p:nvSpPr>
        <p:spPr>
          <a:xfrm>
            <a:off x="548640" y="2468880"/>
            <a:ext cx="54864" cy="457200"/>
          </a:xfrm>
          <a:prstGeom prst="rect">
            <a:avLst/>
          </a:prstGeom>
          <a:solidFill>
            <a:srgbClr val="B85042"/>
          </a:solidFill>
          <a:ln w="12700">
            <a:solidFill>
              <a:srgbClr val="B85042"/>
            </a:solidFill>
            <a:prstDash val="solid"/>
          </a:ln>
        </p:spPr>
      </p:sp>
      <p:sp>
        <p:nvSpPr>
          <p:cNvPr id="20" name="Text 18"/>
          <p:cNvSpPr/>
          <p:nvPr/>
        </p:nvSpPr>
        <p:spPr>
          <a:xfrm>
            <a:off x="713232"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21" name="Text 19"/>
          <p:cNvSpPr/>
          <p:nvPr/>
        </p:nvSpPr>
        <p:spPr>
          <a:xfrm>
            <a:off x="713232"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Loyalist (SSG Watkins)</a:t>
            </a:r>
            <a:endParaRPr lang="en-US" sz="950" dirty="0"/>
          </a:p>
        </p:txBody>
      </p:sp>
      <p:sp>
        <p:nvSpPr>
          <p:cNvPr id="22" name="Shape 20"/>
          <p:cNvSpPr/>
          <p:nvPr/>
        </p:nvSpPr>
        <p:spPr>
          <a:xfrm>
            <a:off x="548640" y="2971800"/>
            <a:ext cx="2642616" cy="548640"/>
          </a:xfrm>
          <a:prstGeom prst="rect">
            <a:avLst/>
          </a:prstGeom>
          <a:solidFill>
            <a:srgbClr val="F4F1EC"/>
          </a:solidFill>
          <a:ln w="6350">
            <a:solidFill>
              <a:srgbClr val="E2E8F0"/>
            </a:solidFill>
            <a:prstDash val="solid"/>
          </a:ln>
        </p:spPr>
      </p:sp>
      <p:sp>
        <p:nvSpPr>
          <p:cNvPr id="23" name="Shape 21"/>
          <p:cNvSpPr/>
          <p:nvPr/>
        </p:nvSpPr>
        <p:spPr>
          <a:xfrm>
            <a:off x="548640" y="2971800"/>
            <a:ext cx="54864" cy="548640"/>
          </a:xfrm>
          <a:prstGeom prst="rect">
            <a:avLst/>
          </a:prstGeom>
          <a:solidFill>
            <a:srgbClr val="B85042"/>
          </a:solidFill>
          <a:ln w="12700">
            <a:solidFill>
              <a:srgbClr val="B85042"/>
            </a:solidFill>
            <a:prstDash val="solid"/>
          </a:ln>
        </p:spPr>
      </p:sp>
      <p:sp>
        <p:nvSpPr>
          <p:cNvPr id="24" name="Text 22"/>
          <p:cNvSpPr/>
          <p:nvPr/>
        </p:nvSpPr>
        <p:spPr>
          <a:xfrm>
            <a:off x="713232"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25" name="Text 23"/>
          <p:cNvSpPr/>
          <p:nvPr/>
        </p:nvSpPr>
        <p:spPr>
          <a:xfrm>
            <a:off x="713232"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Re-tape Soldiers under dehydrated, post-PT conditions.</a:t>
            </a:r>
            <a:endParaRPr lang="en-US" sz="900" dirty="0"/>
          </a:p>
        </p:txBody>
      </p:sp>
      <p:sp>
        <p:nvSpPr>
          <p:cNvPr id="26" name="Shape 24"/>
          <p:cNvSpPr/>
          <p:nvPr/>
        </p:nvSpPr>
        <p:spPr>
          <a:xfrm>
            <a:off x="548640" y="3566160"/>
            <a:ext cx="2642616" cy="685800"/>
          </a:xfrm>
          <a:prstGeom prst="rect">
            <a:avLst/>
          </a:prstGeom>
          <a:solidFill>
            <a:srgbClr val="F4F1EC"/>
          </a:solidFill>
          <a:ln w="6350">
            <a:solidFill>
              <a:srgbClr val="E2E8F0"/>
            </a:solidFill>
            <a:prstDash val="solid"/>
          </a:ln>
        </p:spPr>
      </p:sp>
      <p:sp>
        <p:nvSpPr>
          <p:cNvPr id="27" name="Shape 25"/>
          <p:cNvSpPr/>
          <p:nvPr/>
        </p:nvSpPr>
        <p:spPr>
          <a:xfrm>
            <a:off x="548640" y="3566160"/>
            <a:ext cx="54864" cy="685800"/>
          </a:xfrm>
          <a:prstGeom prst="rect">
            <a:avLst/>
          </a:prstGeom>
          <a:solidFill>
            <a:srgbClr val="B85042"/>
          </a:solidFill>
          <a:ln w="12700">
            <a:solidFill>
              <a:srgbClr val="B85042"/>
            </a:solidFill>
            <a:prstDash val="solid"/>
          </a:ln>
        </p:spPr>
      </p:sp>
      <p:sp>
        <p:nvSpPr>
          <p:cNvPr id="28" name="Text 26"/>
          <p:cNvSpPr/>
          <p:nvPr/>
        </p:nvSpPr>
        <p:spPr>
          <a:xfrm>
            <a:off x="713232"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29" name="Text 27"/>
          <p:cNvSpPr/>
          <p:nvPr/>
        </p:nvSpPr>
        <p:spPr>
          <a:xfrm>
            <a:off x="713232"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Twenty-seven becomes fourteen by the QTB. Brigade satisfied. LTC Murphy thanks the S1 personally.</a:t>
            </a:r>
            <a:endParaRPr lang="en-US" sz="850" dirty="0"/>
          </a:p>
        </p:txBody>
      </p:sp>
      <p:sp>
        <p:nvSpPr>
          <p:cNvPr id="30" name="Shape 28"/>
          <p:cNvSpPr/>
          <p:nvPr/>
        </p:nvSpPr>
        <p:spPr>
          <a:xfrm>
            <a:off x="548640" y="4297680"/>
            <a:ext cx="2642616" cy="1417320"/>
          </a:xfrm>
          <a:prstGeom prst="rect">
            <a:avLst/>
          </a:prstGeom>
          <a:solidFill>
            <a:srgbClr val="F4F1EC"/>
          </a:solidFill>
          <a:ln w="6350">
            <a:solidFill>
              <a:srgbClr val="E2E8F0"/>
            </a:solidFill>
            <a:prstDash val="solid"/>
          </a:ln>
        </p:spPr>
      </p:sp>
      <p:sp>
        <p:nvSpPr>
          <p:cNvPr id="31" name="Shape 29"/>
          <p:cNvSpPr/>
          <p:nvPr/>
        </p:nvSpPr>
        <p:spPr>
          <a:xfrm>
            <a:off x="548640" y="4297680"/>
            <a:ext cx="54864" cy="1417320"/>
          </a:xfrm>
          <a:prstGeom prst="rect">
            <a:avLst/>
          </a:prstGeom>
          <a:solidFill>
            <a:srgbClr val="B85042"/>
          </a:solidFill>
          <a:ln w="12700">
            <a:solidFill>
              <a:srgbClr val="B85042"/>
            </a:solidFill>
            <a:prstDash val="solid"/>
          </a:ln>
        </p:spPr>
      </p:sp>
      <p:sp>
        <p:nvSpPr>
          <p:cNvPr id="32" name="Text 30"/>
          <p:cNvSpPr/>
          <p:nvPr/>
        </p:nvSpPr>
        <p:spPr>
          <a:xfrm>
            <a:off x="713232"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33" name="Text 31"/>
          <p:cNvSpPr/>
          <p:nvPr/>
        </p:nvSpPr>
        <p:spPr>
          <a:xfrm>
            <a:off x="713232"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Six weeks later, during pre-deployment live-fire ranges, a Soldier collapses with a cardiac event. The Soldier's most recent ABCP measurement is on record as fit. Investigation traces the measurement back to the dehydrated re-tape. AR 15-6 results in S1 reprimand and possible court-martial; LTC Murphy relieved for cause. SSC selection denied.</a:t>
            </a:r>
            <a:endParaRPr lang="en-US" sz="800" dirty="0"/>
          </a:p>
        </p:txBody>
      </p:sp>
      <p:sp>
        <p:nvSpPr>
          <p:cNvPr id="34" name="Shape 32"/>
          <p:cNvSpPr/>
          <p:nvPr/>
        </p:nvSpPr>
        <p:spPr>
          <a:xfrm>
            <a:off x="1869948" y="2926080"/>
            <a:ext cx="0" cy="45720"/>
          </a:xfrm>
          <a:prstGeom prst="line">
            <a:avLst/>
          </a:prstGeom>
          <a:noFill/>
          <a:ln w="12700">
            <a:solidFill>
              <a:srgbClr val="94A3B8"/>
            </a:solidFill>
            <a:prstDash val="solid"/>
          </a:ln>
        </p:spPr>
      </p:sp>
      <p:sp>
        <p:nvSpPr>
          <p:cNvPr id="35" name="Shape 33"/>
          <p:cNvSpPr/>
          <p:nvPr/>
        </p:nvSpPr>
        <p:spPr>
          <a:xfrm>
            <a:off x="1869948" y="3520440"/>
            <a:ext cx="0" cy="45720"/>
          </a:xfrm>
          <a:prstGeom prst="line">
            <a:avLst/>
          </a:prstGeom>
          <a:noFill/>
          <a:ln w="12700">
            <a:solidFill>
              <a:srgbClr val="94A3B8"/>
            </a:solidFill>
            <a:prstDash val="solid"/>
          </a:ln>
        </p:spPr>
      </p:sp>
      <p:sp>
        <p:nvSpPr>
          <p:cNvPr id="36" name="Shape 34"/>
          <p:cNvSpPr/>
          <p:nvPr/>
        </p:nvSpPr>
        <p:spPr>
          <a:xfrm>
            <a:off x="1869948" y="4251960"/>
            <a:ext cx="0" cy="45720"/>
          </a:xfrm>
          <a:prstGeom prst="line">
            <a:avLst/>
          </a:prstGeom>
          <a:noFill/>
          <a:ln w="12700">
            <a:solidFill>
              <a:srgbClr val="94A3B8"/>
            </a:solidFill>
            <a:prstDash val="solid"/>
          </a:ln>
        </p:spPr>
      </p:sp>
      <p:sp>
        <p:nvSpPr>
          <p:cNvPr id="37" name="Shape 35"/>
          <p:cNvSpPr/>
          <p:nvPr/>
        </p:nvSpPr>
        <p:spPr>
          <a:xfrm>
            <a:off x="1869948" y="5715000"/>
            <a:ext cx="0" cy="45720"/>
          </a:xfrm>
          <a:prstGeom prst="line">
            <a:avLst/>
          </a:prstGeom>
          <a:noFill/>
          <a:ln w="12700">
            <a:solidFill>
              <a:srgbClr val="94A3B8"/>
            </a:solidFill>
            <a:prstDash val="solid"/>
          </a:ln>
        </p:spPr>
      </p:sp>
      <p:sp>
        <p:nvSpPr>
          <p:cNvPr id="38" name="Shape 36"/>
          <p:cNvSpPr/>
          <p:nvPr/>
        </p:nvSpPr>
        <p:spPr>
          <a:xfrm>
            <a:off x="548640" y="5760720"/>
            <a:ext cx="2642616" cy="411480"/>
          </a:xfrm>
          <a:prstGeom prst="rect">
            <a:avLst/>
          </a:prstGeom>
          <a:solidFill>
            <a:srgbClr val="B85042"/>
          </a:solidFill>
          <a:ln w="12700">
            <a:solidFill>
              <a:srgbClr val="B85042"/>
            </a:solidFill>
            <a:prstDash val="solid"/>
          </a:ln>
        </p:spPr>
      </p:sp>
      <p:sp>
        <p:nvSpPr>
          <p:cNvPr id="39" name="Text 37"/>
          <p:cNvSpPr/>
          <p:nvPr/>
        </p:nvSpPr>
        <p:spPr>
          <a:xfrm>
            <a:off x="685800"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CATASTROPHIC</a:t>
            </a:r>
            <a:endParaRPr lang="en-US" sz="1100" dirty="0"/>
          </a:p>
        </p:txBody>
      </p:sp>
      <p:sp>
        <p:nvSpPr>
          <p:cNvPr id="40" name="Shape 38"/>
          <p:cNvSpPr/>
          <p:nvPr/>
        </p:nvSpPr>
        <p:spPr>
          <a:xfrm>
            <a:off x="3355848" y="1874520"/>
            <a:ext cx="2642616" cy="548640"/>
          </a:xfrm>
          <a:prstGeom prst="rect">
            <a:avLst/>
          </a:prstGeom>
          <a:solidFill>
            <a:srgbClr val="B85042"/>
          </a:solidFill>
          <a:ln w="12700">
            <a:solidFill>
              <a:srgbClr val="B85042"/>
            </a:solidFill>
            <a:prstDash val="solid"/>
          </a:ln>
        </p:spPr>
      </p:sp>
      <p:sp>
        <p:nvSpPr>
          <p:cNvPr id="41" name="Text 39"/>
          <p:cNvSpPr/>
          <p:nvPr/>
        </p:nvSpPr>
        <p:spPr>
          <a:xfrm>
            <a:off x="3493008"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B</a:t>
            </a:r>
            <a:endParaRPr lang="en-US" sz="900" dirty="0"/>
          </a:p>
        </p:txBody>
      </p:sp>
      <p:sp>
        <p:nvSpPr>
          <p:cNvPr id="42" name="Text 40"/>
          <p:cNvSpPr/>
          <p:nvPr/>
        </p:nvSpPr>
        <p:spPr>
          <a:xfrm>
            <a:off x="3493008"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Careers ended without a death. Better than Path A only by …</a:t>
            </a:r>
            <a:endParaRPr lang="en-US" sz="1050" dirty="0"/>
          </a:p>
        </p:txBody>
      </p:sp>
      <p:sp>
        <p:nvSpPr>
          <p:cNvPr id="43" name="Shape 41"/>
          <p:cNvSpPr/>
          <p:nvPr/>
        </p:nvSpPr>
        <p:spPr>
          <a:xfrm>
            <a:off x="4677156" y="2423160"/>
            <a:ext cx="0" cy="45720"/>
          </a:xfrm>
          <a:prstGeom prst="line">
            <a:avLst/>
          </a:prstGeom>
          <a:noFill/>
          <a:ln w="12700">
            <a:solidFill>
              <a:srgbClr val="94A3B8"/>
            </a:solidFill>
            <a:prstDash val="solid"/>
          </a:ln>
        </p:spPr>
      </p:sp>
      <p:sp>
        <p:nvSpPr>
          <p:cNvPr id="44" name="Shape 42"/>
          <p:cNvSpPr/>
          <p:nvPr/>
        </p:nvSpPr>
        <p:spPr>
          <a:xfrm>
            <a:off x="3355848" y="2468880"/>
            <a:ext cx="2642616" cy="457200"/>
          </a:xfrm>
          <a:prstGeom prst="rect">
            <a:avLst/>
          </a:prstGeom>
          <a:solidFill>
            <a:srgbClr val="F4F1EC"/>
          </a:solidFill>
          <a:ln w="6350">
            <a:solidFill>
              <a:srgbClr val="E2E8F0"/>
            </a:solidFill>
            <a:prstDash val="solid"/>
          </a:ln>
        </p:spPr>
      </p:sp>
      <p:sp>
        <p:nvSpPr>
          <p:cNvPr id="45" name="Shape 43"/>
          <p:cNvSpPr/>
          <p:nvPr/>
        </p:nvSpPr>
        <p:spPr>
          <a:xfrm>
            <a:off x="3355848" y="2468880"/>
            <a:ext cx="54864" cy="457200"/>
          </a:xfrm>
          <a:prstGeom prst="rect">
            <a:avLst/>
          </a:prstGeom>
          <a:solidFill>
            <a:srgbClr val="B85042"/>
          </a:solidFill>
          <a:ln w="12700">
            <a:solidFill>
              <a:srgbClr val="B85042"/>
            </a:solidFill>
            <a:prstDash val="solid"/>
          </a:ln>
        </p:spPr>
      </p:sp>
      <p:sp>
        <p:nvSpPr>
          <p:cNvPr id="46" name="Text 44"/>
          <p:cNvSpPr/>
          <p:nvPr/>
        </p:nvSpPr>
        <p:spPr>
          <a:xfrm>
            <a:off x="3520440" y="25237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ENGAGES</a:t>
            </a:r>
            <a:endParaRPr lang="en-US" sz="750" dirty="0"/>
          </a:p>
        </p:txBody>
      </p:sp>
      <p:sp>
        <p:nvSpPr>
          <p:cNvPr id="47" name="Text 45"/>
          <p:cNvSpPr/>
          <p:nvPr/>
        </p:nvSpPr>
        <p:spPr>
          <a:xfrm>
            <a:off x="3520440"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Operator (1SG Carter)</a:t>
            </a:r>
            <a:endParaRPr lang="en-US" sz="950" dirty="0"/>
          </a:p>
        </p:txBody>
      </p:sp>
      <p:sp>
        <p:nvSpPr>
          <p:cNvPr id="48" name="Shape 46"/>
          <p:cNvSpPr/>
          <p:nvPr/>
        </p:nvSpPr>
        <p:spPr>
          <a:xfrm>
            <a:off x="3355848" y="2971800"/>
            <a:ext cx="2642616" cy="548640"/>
          </a:xfrm>
          <a:prstGeom prst="rect">
            <a:avLst/>
          </a:prstGeom>
          <a:solidFill>
            <a:srgbClr val="F4F1EC"/>
          </a:solidFill>
          <a:ln w="6350">
            <a:solidFill>
              <a:srgbClr val="E2E8F0"/>
            </a:solidFill>
            <a:prstDash val="solid"/>
          </a:ln>
        </p:spPr>
      </p:sp>
      <p:sp>
        <p:nvSpPr>
          <p:cNvPr id="49" name="Shape 47"/>
          <p:cNvSpPr/>
          <p:nvPr/>
        </p:nvSpPr>
        <p:spPr>
          <a:xfrm>
            <a:off x="3355848" y="2971800"/>
            <a:ext cx="54864" cy="548640"/>
          </a:xfrm>
          <a:prstGeom prst="rect">
            <a:avLst/>
          </a:prstGeom>
          <a:solidFill>
            <a:srgbClr val="B85042"/>
          </a:solidFill>
          <a:ln w="12700">
            <a:solidFill>
              <a:srgbClr val="B85042"/>
            </a:solidFill>
            <a:prstDash val="solid"/>
          </a:ln>
        </p:spPr>
      </p:sp>
      <p:sp>
        <p:nvSpPr>
          <p:cNvPr id="50" name="Text 48"/>
          <p:cNvSpPr/>
          <p:nvPr/>
        </p:nvSpPr>
        <p:spPr>
          <a:xfrm>
            <a:off x="3520440" y="302666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CHOICE / ACTION</a:t>
            </a:r>
            <a:endParaRPr lang="en-US" sz="750" dirty="0"/>
          </a:p>
        </p:txBody>
      </p:sp>
      <p:sp>
        <p:nvSpPr>
          <p:cNvPr id="51" name="Text 49"/>
          <p:cNvSpPr/>
          <p:nvPr/>
        </p:nvSpPr>
        <p:spPr>
          <a:xfrm>
            <a:off x="3520440"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Coordinate administrative manipulation: profiles + chapter packets + retape.</a:t>
            </a:r>
            <a:endParaRPr lang="en-US" sz="900" dirty="0"/>
          </a:p>
        </p:txBody>
      </p:sp>
      <p:sp>
        <p:nvSpPr>
          <p:cNvPr id="52" name="Shape 50"/>
          <p:cNvSpPr/>
          <p:nvPr/>
        </p:nvSpPr>
        <p:spPr>
          <a:xfrm>
            <a:off x="3355848" y="3566160"/>
            <a:ext cx="2642616" cy="685800"/>
          </a:xfrm>
          <a:prstGeom prst="rect">
            <a:avLst/>
          </a:prstGeom>
          <a:solidFill>
            <a:srgbClr val="F4F1EC"/>
          </a:solidFill>
          <a:ln w="6350">
            <a:solidFill>
              <a:srgbClr val="E2E8F0"/>
            </a:solidFill>
            <a:prstDash val="solid"/>
          </a:ln>
        </p:spPr>
      </p:sp>
      <p:sp>
        <p:nvSpPr>
          <p:cNvPr id="53" name="Shape 51"/>
          <p:cNvSpPr/>
          <p:nvPr/>
        </p:nvSpPr>
        <p:spPr>
          <a:xfrm>
            <a:off x="3355848" y="3566160"/>
            <a:ext cx="54864" cy="685800"/>
          </a:xfrm>
          <a:prstGeom prst="rect">
            <a:avLst/>
          </a:prstGeom>
          <a:solidFill>
            <a:srgbClr val="B85042"/>
          </a:solidFill>
          <a:ln w="12700">
            <a:solidFill>
              <a:srgbClr val="B85042"/>
            </a:solidFill>
            <a:prstDash val="solid"/>
          </a:ln>
        </p:spPr>
      </p:sp>
      <p:sp>
        <p:nvSpPr>
          <p:cNvPr id="54" name="Text 52"/>
          <p:cNvSpPr/>
          <p:nvPr/>
        </p:nvSpPr>
        <p:spPr>
          <a:xfrm>
            <a:off x="3520440" y="362102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T+0  IMMEDIATE OUTCOME</a:t>
            </a:r>
            <a:endParaRPr lang="en-US" sz="750" dirty="0"/>
          </a:p>
        </p:txBody>
      </p:sp>
      <p:sp>
        <p:nvSpPr>
          <p:cNvPr id="55" name="Text 53"/>
          <p:cNvSpPr/>
          <p:nvPr/>
        </p:nvSpPr>
        <p:spPr>
          <a:xfrm>
            <a:off x="3520440"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Twenty-seven becomes eight by the QTB. Brigade pleased. LTC Murphy thrilled.</a:t>
            </a:r>
            <a:endParaRPr lang="en-US" sz="850" dirty="0"/>
          </a:p>
        </p:txBody>
      </p:sp>
      <p:sp>
        <p:nvSpPr>
          <p:cNvPr id="56" name="Shape 54"/>
          <p:cNvSpPr/>
          <p:nvPr/>
        </p:nvSpPr>
        <p:spPr>
          <a:xfrm>
            <a:off x="3355848" y="4297680"/>
            <a:ext cx="2642616" cy="1417320"/>
          </a:xfrm>
          <a:prstGeom prst="rect">
            <a:avLst/>
          </a:prstGeom>
          <a:solidFill>
            <a:srgbClr val="F4F1EC"/>
          </a:solidFill>
          <a:ln w="6350">
            <a:solidFill>
              <a:srgbClr val="E2E8F0"/>
            </a:solidFill>
            <a:prstDash val="solid"/>
          </a:ln>
        </p:spPr>
      </p:sp>
      <p:sp>
        <p:nvSpPr>
          <p:cNvPr id="57" name="Shape 55"/>
          <p:cNvSpPr/>
          <p:nvPr/>
        </p:nvSpPr>
        <p:spPr>
          <a:xfrm>
            <a:off x="3355848" y="4297680"/>
            <a:ext cx="54864" cy="1417320"/>
          </a:xfrm>
          <a:prstGeom prst="rect">
            <a:avLst/>
          </a:prstGeom>
          <a:solidFill>
            <a:srgbClr val="B85042"/>
          </a:solidFill>
          <a:ln w="12700">
            <a:solidFill>
              <a:srgbClr val="B85042"/>
            </a:solidFill>
            <a:prstDash val="solid"/>
          </a:ln>
        </p:spPr>
      </p:sp>
      <p:sp>
        <p:nvSpPr>
          <p:cNvPr id="58" name="Text 56"/>
          <p:cNvSpPr/>
          <p:nvPr/>
        </p:nvSpPr>
        <p:spPr>
          <a:xfrm>
            <a:off x="3520440" y="4352544"/>
            <a:ext cx="2368296" cy="182880"/>
          </a:xfrm>
          <a:prstGeom prst="rect">
            <a:avLst/>
          </a:prstGeom>
          <a:noFill/>
          <a:ln/>
        </p:spPr>
        <p:txBody>
          <a:bodyPr wrap="square" lIns="0" tIns="0" rIns="0" bIns="0" rtlCol="0" anchor="ctr"/>
          <a:lstStyle/>
          <a:p>
            <a:pPr indent="0" marL="0">
              <a:buNone/>
            </a:pPr>
            <a:r>
              <a:rPr lang="en-US" sz="750" b="1" spc="300" kern="0" dirty="0">
                <a:solidFill>
                  <a:srgbClr val="B85042"/>
                </a:solidFill>
                <a:latin typeface="Calibri" pitchFamily="34" charset="0"/>
                <a:ea typeface="Calibri" pitchFamily="34" charset="-122"/>
                <a:cs typeface="Calibri" pitchFamily="34" charset="-120"/>
              </a:rPr>
              <a:t>T+30 TO T+1YR  DOWNSTREAM</a:t>
            </a:r>
            <a:endParaRPr lang="en-US" sz="750" dirty="0"/>
          </a:p>
        </p:txBody>
      </p:sp>
      <p:sp>
        <p:nvSpPr>
          <p:cNvPr id="59" name="Text 57"/>
          <p:cNvSpPr/>
          <p:nvPr/>
        </p:nvSpPr>
        <p:spPr>
          <a:xfrm>
            <a:off x="3520440"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Battalion PA refuses two of the metabolic profiles, files an internal IG complaint. AR 15-6 opens. Investigation finds coordinated manipulation. LTC Murphy receives a General Officer Memorandum of Reprimand (GOMOR), ending his SSC chances. S1 receives a referred OER. PA's career is fine because the PA refused.</a:t>
            </a:r>
            <a:endParaRPr lang="en-US" sz="800" dirty="0"/>
          </a:p>
        </p:txBody>
      </p:sp>
      <p:sp>
        <p:nvSpPr>
          <p:cNvPr id="60" name="Shape 58"/>
          <p:cNvSpPr/>
          <p:nvPr/>
        </p:nvSpPr>
        <p:spPr>
          <a:xfrm>
            <a:off x="4677156" y="2926080"/>
            <a:ext cx="0" cy="45720"/>
          </a:xfrm>
          <a:prstGeom prst="line">
            <a:avLst/>
          </a:prstGeom>
          <a:noFill/>
          <a:ln w="12700">
            <a:solidFill>
              <a:srgbClr val="94A3B8"/>
            </a:solidFill>
            <a:prstDash val="solid"/>
          </a:ln>
        </p:spPr>
      </p:sp>
      <p:sp>
        <p:nvSpPr>
          <p:cNvPr id="61" name="Shape 59"/>
          <p:cNvSpPr/>
          <p:nvPr/>
        </p:nvSpPr>
        <p:spPr>
          <a:xfrm>
            <a:off x="4677156" y="3520440"/>
            <a:ext cx="0" cy="45720"/>
          </a:xfrm>
          <a:prstGeom prst="line">
            <a:avLst/>
          </a:prstGeom>
          <a:noFill/>
          <a:ln w="12700">
            <a:solidFill>
              <a:srgbClr val="94A3B8"/>
            </a:solidFill>
            <a:prstDash val="solid"/>
          </a:ln>
        </p:spPr>
      </p:sp>
      <p:sp>
        <p:nvSpPr>
          <p:cNvPr id="62" name="Shape 60"/>
          <p:cNvSpPr/>
          <p:nvPr/>
        </p:nvSpPr>
        <p:spPr>
          <a:xfrm>
            <a:off x="4677156" y="4251960"/>
            <a:ext cx="0" cy="45720"/>
          </a:xfrm>
          <a:prstGeom prst="line">
            <a:avLst/>
          </a:prstGeom>
          <a:noFill/>
          <a:ln w="12700">
            <a:solidFill>
              <a:srgbClr val="94A3B8"/>
            </a:solidFill>
            <a:prstDash val="solid"/>
          </a:ln>
        </p:spPr>
      </p:sp>
      <p:sp>
        <p:nvSpPr>
          <p:cNvPr id="63" name="Shape 61"/>
          <p:cNvSpPr/>
          <p:nvPr/>
        </p:nvSpPr>
        <p:spPr>
          <a:xfrm>
            <a:off x="4677156" y="5715000"/>
            <a:ext cx="0" cy="45720"/>
          </a:xfrm>
          <a:prstGeom prst="line">
            <a:avLst/>
          </a:prstGeom>
          <a:noFill/>
          <a:ln w="12700">
            <a:solidFill>
              <a:srgbClr val="94A3B8"/>
            </a:solidFill>
            <a:prstDash val="solid"/>
          </a:ln>
        </p:spPr>
      </p:sp>
      <p:sp>
        <p:nvSpPr>
          <p:cNvPr id="64" name="Shape 62"/>
          <p:cNvSpPr/>
          <p:nvPr/>
        </p:nvSpPr>
        <p:spPr>
          <a:xfrm>
            <a:off x="3355848" y="5760720"/>
            <a:ext cx="2642616" cy="411480"/>
          </a:xfrm>
          <a:prstGeom prst="rect">
            <a:avLst/>
          </a:prstGeom>
          <a:solidFill>
            <a:srgbClr val="B85042"/>
          </a:solidFill>
          <a:ln w="12700">
            <a:solidFill>
              <a:srgbClr val="B85042"/>
            </a:solidFill>
            <a:prstDash val="solid"/>
          </a:ln>
        </p:spPr>
      </p:sp>
      <p:sp>
        <p:nvSpPr>
          <p:cNvPr id="65" name="Text 63"/>
          <p:cNvSpPr/>
          <p:nvPr/>
        </p:nvSpPr>
        <p:spPr>
          <a:xfrm>
            <a:off x="3493008"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SEVERE</a:t>
            </a:r>
            <a:endParaRPr lang="en-US" sz="1100" dirty="0"/>
          </a:p>
        </p:txBody>
      </p:sp>
      <p:sp>
        <p:nvSpPr>
          <p:cNvPr id="66" name="Shape 64"/>
          <p:cNvSpPr/>
          <p:nvPr/>
        </p:nvSpPr>
        <p:spPr>
          <a:xfrm>
            <a:off x="6163056" y="1874520"/>
            <a:ext cx="2642616" cy="548640"/>
          </a:xfrm>
          <a:prstGeom prst="rect">
            <a:avLst/>
          </a:prstGeom>
          <a:solidFill>
            <a:srgbClr val="D4A574"/>
          </a:solidFill>
          <a:ln w="12700">
            <a:solidFill>
              <a:srgbClr val="D4A574"/>
            </a:solidFill>
            <a:prstDash val="solid"/>
          </a:ln>
        </p:spPr>
      </p:sp>
      <p:sp>
        <p:nvSpPr>
          <p:cNvPr id="67" name="Text 65"/>
          <p:cNvSpPr/>
          <p:nvPr/>
        </p:nvSpPr>
        <p:spPr>
          <a:xfrm>
            <a:off x="6300216"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C</a:t>
            </a:r>
            <a:endParaRPr lang="en-US" sz="900" dirty="0"/>
          </a:p>
        </p:txBody>
      </p:sp>
      <p:sp>
        <p:nvSpPr>
          <p:cNvPr id="68" name="Text 66"/>
          <p:cNvSpPr/>
          <p:nvPr/>
        </p:nvSpPr>
        <p:spPr>
          <a:xfrm>
            <a:off x="6300216"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Honest reporting, no improvement, career damage.</a:t>
            </a:r>
            <a:endParaRPr lang="en-US" sz="1050" dirty="0"/>
          </a:p>
        </p:txBody>
      </p:sp>
      <p:sp>
        <p:nvSpPr>
          <p:cNvPr id="69" name="Shape 67"/>
          <p:cNvSpPr/>
          <p:nvPr/>
        </p:nvSpPr>
        <p:spPr>
          <a:xfrm>
            <a:off x="7484364" y="2423160"/>
            <a:ext cx="0" cy="45720"/>
          </a:xfrm>
          <a:prstGeom prst="line">
            <a:avLst/>
          </a:prstGeom>
          <a:noFill/>
          <a:ln w="12700">
            <a:solidFill>
              <a:srgbClr val="94A3B8"/>
            </a:solidFill>
            <a:prstDash val="solid"/>
          </a:ln>
        </p:spPr>
      </p:sp>
      <p:sp>
        <p:nvSpPr>
          <p:cNvPr id="70" name="Shape 68"/>
          <p:cNvSpPr/>
          <p:nvPr/>
        </p:nvSpPr>
        <p:spPr>
          <a:xfrm>
            <a:off x="6163056" y="2468880"/>
            <a:ext cx="2642616" cy="457200"/>
          </a:xfrm>
          <a:prstGeom prst="rect">
            <a:avLst/>
          </a:prstGeom>
          <a:solidFill>
            <a:srgbClr val="F4F1EC"/>
          </a:solidFill>
          <a:ln w="6350">
            <a:solidFill>
              <a:srgbClr val="E2E8F0"/>
            </a:solidFill>
            <a:prstDash val="solid"/>
          </a:ln>
        </p:spPr>
      </p:sp>
      <p:sp>
        <p:nvSpPr>
          <p:cNvPr id="71" name="Shape 69"/>
          <p:cNvSpPr/>
          <p:nvPr/>
        </p:nvSpPr>
        <p:spPr>
          <a:xfrm>
            <a:off x="6163056" y="2468880"/>
            <a:ext cx="54864" cy="457200"/>
          </a:xfrm>
          <a:prstGeom prst="rect">
            <a:avLst/>
          </a:prstGeom>
          <a:solidFill>
            <a:srgbClr val="D4A574"/>
          </a:solidFill>
          <a:ln w="12700">
            <a:solidFill>
              <a:srgbClr val="D4A574"/>
            </a:solidFill>
            <a:prstDash val="solid"/>
          </a:ln>
        </p:spPr>
      </p:sp>
      <p:sp>
        <p:nvSpPr>
          <p:cNvPr id="72" name="Text 70"/>
          <p:cNvSpPr/>
          <p:nvPr/>
        </p:nvSpPr>
        <p:spPr>
          <a:xfrm>
            <a:off x="6327648" y="25237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ENGAGES</a:t>
            </a:r>
            <a:endParaRPr lang="en-US" sz="750" dirty="0"/>
          </a:p>
        </p:txBody>
      </p:sp>
      <p:sp>
        <p:nvSpPr>
          <p:cNvPr id="73" name="Text 71"/>
          <p:cNvSpPr/>
          <p:nvPr/>
        </p:nvSpPr>
        <p:spPr>
          <a:xfrm>
            <a:off x="6327648"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Stickler only (CPT Singh)</a:t>
            </a:r>
            <a:endParaRPr lang="en-US" sz="950" dirty="0"/>
          </a:p>
        </p:txBody>
      </p:sp>
      <p:sp>
        <p:nvSpPr>
          <p:cNvPr id="74" name="Shape 72"/>
          <p:cNvSpPr/>
          <p:nvPr/>
        </p:nvSpPr>
        <p:spPr>
          <a:xfrm>
            <a:off x="6163056" y="2971800"/>
            <a:ext cx="2642616" cy="548640"/>
          </a:xfrm>
          <a:prstGeom prst="rect">
            <a:avLst/>
          </a:prstGeom>
          <a:solidFill>
            <a:srgbClr val="F4F1EC"/>
          </a:solidFill>
          <a:ln w="6350">
            <a:solidFill>
              <a:srgbClr val="E2E8F0"/>
            </a:solidFill>
            <a:prstDash val="solid"/>
          </a:ln>
        </p:spPr>
      </p:sp>
      <p:sp>
        <p:nvSpPr>
          <p:cNvPr id="75" name="Shape 73"/>
          <p:cNvSpPr/>
          <p:nvPr/>
        </p:nvSpPr>
        <p:spPr>
          <a:xfrm>
            <a:off x="6163056" y="2971800"/>
            <a:ext cx="54864" cy="548640"/>
          </a:xfrm>
          <a:prstGeom prst="rect">
            <a:avLst/>
          </a:prstGeom>
          <a:solidFill>
            <a:srgbClr val="D4A574"/>
          </a:solidFill>
          <a:ln w="12700">
            <a:solidFill>
              <a:srgbClr val="D4A574"/>
            </a:solidFill>
            <a:prstDash val="solid"/>
          </a:ln>
        </p:spPr>
      </p:sp>
      <p:sp>
        <p:nvSpPr>
          <p:cNvPr id="76" name="Text 74"/>
          <p:cNvSpPr/>
          <p:nvPr/>
        </p:nvSpPr>
        <p:spPr>
          <a:xfrm>
            <a:off x="6327648" y="302666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CHOICE / ACTION</a:t>
            </a:r>
            <a:endParaRPr lang="en-US" sz="750" dirty="0"/>
          </a:p>
        </p:txBody>
      </p:sp>
      <p:sp>
        <p:nvSpPr>
          <p:cNvPr id="77" name="Text 75"/>
          <p:cNvSpPr/>
          <p:nvPr/>
        </p:nvSpPr>
        <p:spPr>
          <a:xfrm>
            <a:off x="6327648"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Brief 27 honestly with no remediation plan.</a:t>
            </a:r>
            <a:endParaRPr lang="en-US" sz="900" dirty="0"/>
          </a:p>
        </p:txBody>
      </p:sp>
      <p:sp>
        <p:nvSpPr>
          <p:cNvPr id="78" name="Shape 76"/>
          <p:cNvSpPr/>
          <p:nvPr/>
        </p:nvSpPr>
        <p:spPr>
          <a:xfrm>
            <a:off x="6163056" y="3566160"/>
            <a:ext cx="2642616" cy="685800"/>
          </a:xfrm>
          <a:prstGeom prst="rect">
            <a:avLst/>
          </a:prstGeom>
          <a:solidFill>
            <a:srgbClr val="F4F1EC"/>
          </a:solidFill>
          <a:ln w="6350">
            <a:solidFill>
              <a:srgbClr val="E2E8F0"/>
            </a:solidFill>
            <a:prstDash val="solid"/>
          </a:ln>
        </p:spPr>
      </p:sp>
      <p:sp>
        <p:nvSpPr>
          <p:cNvPr id="79" name="Shape 77"/>
          <p:cNvSpPr/>
          <p:nvPr/>
        </p:nvSpPr>
        <p:spPr>
          <a:xfrm>
            <a:off x="6163056" y="3566160"/>
            <a:ext cx="54864" cy="685800"/>
          </a:xfrm>
          <a:prstGeom prst="rect">
            <a:avLst/>
          </a:prstGeom>
          <a:solidFill>
            <a:srgbClr val="D4A574"/>
          </a:solidFill>
          <a:ln w="12700">
            <a:solidFill>
              <a:srgbClr val="D4A574"/>
            </a:solidFill>
            <a:prstDash val="solid"/>
          </a:ln>
        </p:spPr>
      </p:sp>
      <p:sp>
        <p:nvSpPr>
          <p:cNvPr id="80" name="Text 78"/>
          <p:cNvSpPr/>
          <p:nvPr/>
        </p:nvSpPr>
        <p:spPr>
          <a:xfrm>
            <a:off x="6327648" y="362102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T+0  IMMEDIATE OUTCOME</a:t>
            </a:r>
            <a:endParaRPr lang="en-US" sz="750" dirty="0"/>
          </a:p>
        </p:txBody>
      </p:sp>
      <p:sp>
        <p:nvSpPr>
          <p:cNvPr id="81" name="Text 79"/>
          <p:cNvSpPr/>
          <p:nvPr/>
        </p:nvSpPr>
        <p:spPr>
          <a:xfrm>
            <a:off x="6327648"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Brigade commander disappointed. LTC Murphy furious. S1 receives a referred OER.</a:t>
            </a:r>
            <a:endParaRPr lang="en-US" sz="850" dirty="0"/>
          </a:p>
        </p:txBody>
      </p:sp>
      <p:sp>
        <p:nvSpPr>
          <p:cNvPr id="82" name="Shape 80"/>
          <p:cNvSpPr/>
          <p:nvPr/>
        </p:nvSpPr>
        <p:spPr>
          <a:xfrm>
            <a:off x="6163056" y="4297680"/>
            <a:ext cx="2642616" cy="1417320"/>
          </a:xfrm>
          <a:prstGeom prst="rect">
            <a:avLst/>
          </a:prstGeom>
          <a:solidFill>
            <a:srgbClr val="F4F1EC"/>
          </a:solidFill>
          <a:ln w="6350">
            <a:solidFill>
              <a:srgbClr val="E2E8F0"/>
            </a:solidFill>
            <a:prstDash val="solid"/>
          </a:ln>
        </p:spPr>
      </p:sp>
      <p:sp>
        <p:nvSpPr>
          <p:cNvPr id="83" name="Shape 81"/>
          <p:cNvSpPr/>
          <p:nvPr/>
        </p:nvSpPr>
        <p:spPr>
          <a:xfrm>
            <a:off x="6163056" y="4297680"/>
            <a:ext cx="54864" cy="1417320"/>
          </a:xfrm>
          <a:prstGeom prst="rect">
            <a:avLst/>
          </a:prstGeom>
          <a:solidFill>
            <a:srgbClr val="D4A574"/>
          </a:solidFill>
          <a:ln w="12700">
            <a:solidFill>
              <a:srgbClr val="D4A574"/>
            </a:solidFill>
            <a:prstDash val="solid"/>
          </a:ln>
        </p:spPr>
      </p:sp>
      <p:sp>
        <p:nvSpPr>
          <p:cNvPr id="84" name="Text 82"/>
          <p:cNvSpPr/>
          <p:nvPr/>
        </p:nvSpPr>
        <p:spPr>
          <a:xfrm>
            <a:off x="6327648" y="4352544"/>
            <a:ext cx="2368296" cy="182880"/>
          </a:xfrm>
          <a:prstGeom prst="rect">
            <a:avLst/>
          </a:prstGeom>
          <a:noFill/>
          <a:ln/>
        </p:spPr>
        <p:txBody>
          <a:bodyPr wrap="square" lIns="0" tIns="0" rIns="0" bIns="0" rtlCol="0" anchor="ctr"/>
          <a:lstStyle/>
          <a:p>
            <a:pPr indent="0" marL="0">
              <a:buNone/>
            </a:pPr>
            <a:r>
              <a:rPr lang="en-US" sz="750" b="1" spc="300" kern="0" dirty="0">
                <a:solidFill>
                  <a:srgbClr val="D4A574"/>
                </a:solidFill>
                <a:latin typeface="Calibri" pitchFamily="34" charset="0"/>
                <a:ea typeface="Calibri" pitchFamily="34" charset="-122"/>
                <a:cs typeface="Calibri" pitchFamily="34" charset="-120"/>
              </a:rPr>
              <a:t>T+30 TO T+1YR  DOWNSTREAM</a:t>
            </a:r>
            <a:endParaRPr lang="en-US" sz="750" dirty="0"/>
          </a:p>
        </p:txBody>
      </p:sp>
      <p:sp>
        <p:nvSpPr>
          <p:cNvPr id="85" name="Text 83"/>
          <p:cNvSpPr/>
          <p:nvPr/>
        </p:nvSpPr>
        <p:spPr>
          <a:xfrm>
            <a:off x="6327648"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Without a plan attached, the next QTB is also bad. LTC Murphy does not pick up SSC. S1 does not promote. The actual ABCP problem is unaddressed because no remediation framework was built.</a:t>
            </a:r>
            <a:endParaRPr lang="en-US" sz="800" dirty="0"/>
          </a:p>
        </p:txBody>
      </p:sp>
      <p:sp>
        <p:nvSpPr>
          <p:cNvPr id="86" name="Shape 84"/>
          <p:cNvSpPr/>
          <p:nvPr/>
        </p:nvSpPr>
        <p:spPr>
          <a:xfrm>
            <a:off x="7484364" y="2926080"/>
            <a:ext cx="0" cy="45720"/>
          </a:xfrm>
          <a:prstGeom prst="line">
            <a:avLst/>
          </a:prstGeom>
          <a:noFill/>
          <a:ln w="12700">
            <a:solidFill>
              <a:srgbClr val="94A3B8"/>
            </a:solidFill>
            <a:prstDash val="solid"/>
          </a:ln>
        </p:spPr>
      </p:sp>
      <p:sp>
        <p:nvSpPr>
          <p:cNvPr id="87" name="Shape 85"/>
          <p:cNvSpPr/>
          <p:nvPr/>
        </p:nvSpPr>
        <p:spPr>
          <a:xfrm>
            <a:off x="7484364" y="3520440"/>
            <a:ext cx="0" cy="45720"/>
          </a:xfrm>
          <a:prstGeom prst="line">
            <a:avLst/>
          </a:prstGeom>
          <a:noFill/>
          <a:ln w="12700">
            <a:solidFill>
              <a:srgbClr val="94A3B8"/>
            </a:solidFill>
            <a:prstDash val="solid"/>
          </a:ln>
        </p:spPr>
      </p:sp>
      <p:sp>
        <p:nvSpPr>
          <p:cNvPr id="88" name="Shape 86"/>
          <p:cNvSpPr/>
          <p:nvPr/>
        </p:nvSpPr>
        <p:spPr>
          <a:xfrm>
            <a:off x="7484364" y="4251960"/>
            <a:ext cx="0" cy="45720"/>
          </a:xfrm>
          <a:prstGeom prst="line">
            <a:avLst/>
          </a:prstGeom>
          <a:noFill/>
          <a:ln w="12700">
            <a:solidFill>
              <a:srgbClr val="94A3B8"/>
            </a:solidFill>
            <a:prstDash val="solid"/>
          </a:ln>
        </p:spPr>
      </p:sp>
      <p:sp>
        <p:nvSpPr>
          <p:cNvPr id="89" name="Shape 87"/>
          <p:cNvSpPr/>
          <p:nvPr/>
        </p:nvSpPr>
        <p:spPr>
          <a:xfrm>
            <a:off x="7484364" y="5715000"/>
            <a:ext cx="0" cy="45720"/>
          </a:xfrm>
          <a:prstGeom prst="line">
            <a:avLst/>
          </a:prstGeom>
          <a:noFill/>
          <a:ln w="12700">
            <a:solidFill>
              <a:srgbClr val="94A3B8"/>
            </a:solidFill>
            <a:prstDash val="solid"/>
          </a:ln>
        </p:spPr>
      </p:sp>
      <p:sp>
        <p:nvSpPr>
          <p:cNvPr id="90" name="Shape 88"/>
          <p:cNvSpPr/>
          <p:nvPr/>
        </p:nvSpPr>
        <p:spPr>
          <a:xfrm>
            <a:off x="6163056" y="5760720"/>
            <a:ext cx="2642616" cy="411480"/>
          </a:xfrm>
          <a:prstGeom prst="rect">
            <a:avLst/>
          </a:prstGeom>
          <a:solidFill>
            <a:srgbClr val="D4A574"/>
          </a:solidFill>
          <a:ln w="12700">
            <a:solidFill>
              <a:srgbClr val="D4A574"/>
            </a:solidFill>
            <a:prstDash val="solid"/>
          </a:ln>
        </p:spPr>
      </p:sp>
      <p:sp>
        <p:nvSpPr>
          <p:cNvPr id="91" name="Text 89"/>
          <p:cNvSpPr/>
          <p:nvPr/>
        </p:nvSpPr>
        <p:spPr>
          <a:xfrm>
            <a:off x="6300216"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SUBOPTIMAL</a:t>
            </a:r>
            <a:endParaRPr lang="en-US" sz="1100" dirty="0"/>
          </a:p>
        </p:txBody>
      </p:sp>
      <p:sp>
        <p:nvSpPr>
          <p:cNvPr id="92" name="Shape 90"/>
          <p:cNvSpPr/>
          <p:nvPr/>
        </p:nvSpPr>
        <p:spPr>
          <a:xfrm>
            <a:off x="8970264" y="1874520"/>
            <a:ext cx="2642616" cy="548640"/>
          </a:xfrm>
          <a:prstGeom prst="rect">
            <a:avLst/>
          </a:prstGeom>
          <a:solidFill>
            <a:srgbClr val="2C7A4B"/>
          </a:solidFill>
          <a:ln w="12700">
            <a:solidFill>
              <a:srgbClr val="2C7A4B"/>
            </a:solidFill>
            <a:prstDash val="solid"/>
          </a:ln>
        </p:spPr>
      </p:sp>
      <p:sp>
        <p:nvSpPr>
          <p:cNvPr id="93" name="Text 91"/>
          <p:cNvSpPr/>
          <p:nvPr/>
        </p:nvSpPr>
        <p:spPr>
          <a:xfrm>
            <a:off x="9107424" y="1920240"/>
            <a:ext cx="2368296" cy="201168"/>
          </a:xfrm>
          <a:prstGeom prst="rect">
            <a:avLst/>
          </a:prstGeom>
          <a:noFill/>
          <a:ln/>
        </p:spPr>
        <p:txBody>
          <a:bodyPr wrap="square" lIns="0" tIns="0" rIns="0" bIns="0"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PATH D</a:t>
            </a:r>
            <a:endParaRPr lang="en-US" sz="900" dirty="0"/>
          </a:p>
        </p:txBody>
      </p:sp>
      <p:sp>
        <p:nvSpPr>
          <p:cNvPr id="94" name="Text 92"/>
          <p:cNvSpPr/>
          <p:nvPr/>
        </p:nvSpPr>
        <p:spPr>
          <a:xfrm>
            <a:off x="9107424" y="2112264"/>
            <a:ext cx="2368296" cy="274320"/>
          </a:xfrm>
          <a:prstGeom prst="rect">
            <a:avLst/>
          </a:prstGeom>
          <a:noFill/>
          <a:ln/>
        </p:spPr>
        <p:txBody>
          <a:bodyPr wrap="square" lIns="0" tIns="0" rIns="0" bIns="0" rtlCol="0" anchor="t"/>
          <a:lstStyle/>
          <a:p>
            <a:pPr indent="0" marL="0">
              <a:buNone/>
            </a:pPr>
            <a:r>
              <a:rPr lang="en-US" sz="1050" b="1" i="1" dirty="0">
                <a:solidFill>
                  <a:srgbClr val="FFFFFF"/>
                </a:solidFill>
                <a:latin typeface="Cambria" pitchFamily="34" charset="0"/>
                <a:ea typeface="Cambria" pitchFamily="34" charset="-122"/>
                <a:cs typeface="Cambria" pitchFamily="34" charset="-120"/>
              </a:rPr>
              <a:t>Real improvement, real readiness, ethics and careers intact.</a:t>
            </a:r>
            <a:endParaRPr lang="en-US" sz="1050" dirty="0"/>
          </a:p>
        </p:txBody>
      </p:sp>
      <p:sp>
        <p:nvSpPr>
          <p:cNvPr id="95" name="Shape 93"/>
          <p:cNvSpPr/>
          <p:nvPr/>
        </p:nvSpPr>
        <p:spPr>
          <a:xfrm>
            <a:off x="10291572" y="2423160"/>
            <a:ext cx="0" cy="45720"/>
          </a:xfrm>
          <a:prstGeom prst="line">
            <a:avLst/>
          </a:prstGeom>
          <a:noFill/>
          <a:ln w="12700">
            <a:solidFill>
              <a:srgbClr val="94A3B8"/>
            </a:solidFill>
            <a:prstDash val="solid"/>
          </a:ln>
        </p:spPr>
      </p:sp>
      <p:sp>
        <p:nvSpPr>
          <p:cNvPr id="96" name="Shape 94"/>
          <p:cNvSpPr/>
          <p:nvPr/>
        </p:nvSpPr>
        <p:spPr>
          <a:xfrm>
            <a:off x="8970264" y="2468880"/>
            <a:ext cx="2642616" cy="457200"/>
          </a:xfrm>
          <a:prstGeom prst="rect">
            <a:avLst/>
          </a:prstGeom>
          <a:solidFill>
            <a:srgbClr val="F4F1EC"/>
          </a:solidFill>
          <a:ln w="6350">
            <a:solidFill>
              <a:srgbClr val="E2E8F0"/>
            </a:solidFill>
            <a:prstDash val="solid"/>
          </a:ln>
        </p:spPr>
      </p:sp>
      <p:sp>
        <p:nvSpPr>
          <p:cNvPr id="97" name="Shape 95"/>
          <p:cNvSpPr/>
          <p:nvPr/>
        </p:nvSpPr>
        <p:spPr>
          <a:xfrm>
            <a:off x="8970264" y="2468880"/>
            <a:ext cx="54864" cy="457200"/>
          </a:xfrm>
          <a:prstGeom prst="rect">
            <a:avLst/>
          </a:prstGeom>
          <a:solidFill>
            <a:srgbClr val="2C7A4B"/>
          </a:solidFill>
          <a:ln w="12700">
            <a:solidFill>
              <a:srgbClr val="2C7A4B"/>
            </a:solidFill>
            <a:prstDash val="solid"/>
          </a:ln>
        </p:spPr>
      </p:sp>
      <p:sp>
        <p:nvSpPr>
          <p:cNvPr id="98" name="Text 96"/>
          <p:cNvSpPr/>
          <p:nvPr/>
        </p:nvSpPr>
        <p:spPr>
          <a:xfrm>
            <a:off x="9134856" y="25237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ENGAGES</a:t>
            </a:r>
            <a:endParaRPr lang="en-US" sz="750" dirty="0"/>
          </a:p>
        </p:txBody>
      </p:sp>
      <p:sp>
        <p:nvSpPr>
          <p:cNvPr id="99" name="Text 97"/>
          <p:cNvSpPr/>
          <p:nvPr/>
        </p:nvSpPr>
        <p:spPr>
          <a:xfrm>
            <a:off x="9134856" y="2688336"/>
            <a:ext cx="2368296" cy="201168"/>
          </a:xfrm>
          <a:prstGeom prst="rect">
            <a:avLst/>
          </a:prstGeom>
          <a:noFill/>
          <a:ln/>
        </p:spPr>
        <p:txBody>
          <a:bodyPr wrap="square" lIns="0" tIns="0" rIns="0" bIns="0" rtlCol="0" anchor="t"/>
          <a:lstStyle/>
          <a:p>
            <a:pPr indent="0" marL="0">
              <a:buNone/>
            </a:pPr>
            <a:r>
              <a:rPr lang="en-US" sz="950" dirty="0">
                <a:solidFill>
                  <a:srgbClr val="14193D"/>
                </a:solidFill>
                <a:latin typeface="Calibri" pitchFamily="34" charset="0"/>
                <a:ea typeface="Calibri" pitchFamily="34" charset="-122"/>
                <a:cs typeface="Calibri" pitchFamily="34" charset="-120"/>
              </a:rPr>
              <a:t>Partner (CSM Dixon)</a:t>
            </a:r>
            <a:endParaRPr lang="en-US" sz="950" dirty="0"/>
          </a:p>
        </p:txBody>
      </p:sp>
      <p:sp>
        <p:nvSpPr>
          <p:cNvPr id="100" name="Shape 98"/>
          <p:cNvSpPr/>
          <p:nvPr/>
        </p:nvSpPr>
        <p:spPr>
          <a:xfrm>
            <a:off x="8970264" y="2971800"/>
            <a:ext cx="2642616" cy="548640"/>
          </a:xfrm>
          <a:prstGeom prst="rect">
            <a:avLst/>
          </a:prstGeom>
          <a:solidFill>
            <a:srgbClr val="F4F1EC"/>
          </a:solidFill>
          <a:ln w="6350">
            <a:solidFill>
              <a:srgbClr val="E2E8F0"/>
            </a:solidFill>
            <a:prstDash val="solid"/>
          </a:ln>
        </p:spPr>
      </p:sp>
      <p:sp>
        <p:nvSpPr>
          <p:cNvPr id="101" name="Shape 99"/>
          <p:cNvSpPr/>
          <p:nvPr/>
        </p:nvSpPr>
        <p:spPr>
          <a:xfrm>
            <a:off x="8970264" y="2971800"/>
            <a:ext cx="54864" cy="548640"/>
          </a:xfrm>
          <a:prstGeom prst="rect">
            <a:avLst/>
          </a:prstGeom>
          <a:solidFill>
            <a:srgbClr val="2C7A4B"/>
          </a:solidFill>
          <a:ln w="12700">
            <a:solidFill>
              <a:srgbClr val="2C7A4B"/>
            </a:solidFill>
            <a:prstDash val="solid"/>
          </a:ln>
        </p:spPr>
      </p:sp>
      <p:sp>
        <p:nvSpPr>
          <p:cNvPr id="102" name="Text 100"/>
          <p:cNvSpPr/>
          <p:nvPr/>
        </p:nvSpPr>
        <p:spPr>
          <a:xfrm>
            <a:off x="9134856" y="302666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CHOICE / ACTION</a:t>
            </a:r>
            <a:endParaRPr lang="en-US" sz="750" dirty="0"/>
          </a:p>
        </p:txBody>
      </p:sp>
      <p:sp>
        <p:nvSpPr>
          <p:cNvPr id="103" name="Text 101"/>
          <p:cNvSpPr/>
          <p:nvPr/>
        </p:nvSpPr>
        <p:spPr>
          <a:xfrm>
            <a:off x="9134856" y="3191256"/>
            <a:ext cx="2368296" cy="292608"/>
          </a:xfrm>
          <a:prstGeom prst="rect">
            <a:avLst/>
          </a:prstGeom>
          <a:noFill/>
          <a:ln/>
        </p:spPr>
        <p:txBody>
          <a:bodyPr wrap="square" lIns="0" tIns="0" rIns="0" bIns="0" rtlCol="0" anchor="t"/>
          <a:lstStyle/>
          <a:p>
            <a:pPr indent="0" marL="0">
              <a:buNone/>
            </a:pPr>
            <a:r>
              <a:rPr lang="en-US" sz="900" dirty="0">
                <a:solidFill>
                  <a:srgbClr val="14193D"/>
                </a:solidFill>
                <a:latin typeface="Calibri" pitchFamily="34" charset="0"/>
                <a:ea typeface="Calibri" pitchFamily="34" charset="-122"/>
                <a:cs typeface="Calibri" pitchFamily="34" charset="-120"/>
              </a:rPr>
              <a:t>Launch a real BN-wide health program; brief brigade on trajectory not snapshot.</a:t>
            </a:r>
            <a:endParaRPr lang="en-US" sz="900" dirty="0"/>
          </a:p>
        </p:txBody>
      </p:sp>
      <p:sp>
        <p:nvSpPr>
          <p:cNvPr id="104" name="Shape 102"/>
          <p:cNvSpPr/>
          <p:nvPr/>
        </p:nvSpPr>
        <p:spPr>
          <a:xfrm>
            <a:off x="8970264" y="3566160"/>
            <a:ext cx="2642616" cy="685800"/>
          </a:xfrm>
          <a:prstGeom prst="rect">
            <a:avLst/>
          </a:prstGeom>
          <a:solidFill>
            <a:srgbClr val="F4F1EC"/>
          </a:solidFill>
          <a:ln w="6350">
            <a:solidFill>
              <a:srgbClr val="E2E8F0"/>
            </a:solidFill>
            <a:prstDash val="solid"/>
          </a:ln>
        </p:spPr>
      </p:sp>
      <p:sp>
        <p:nvSpPr>
          <p:cNvPr id="105" name="Shape 103"/>
          <p:cNvSpPr/>
          <p:nvPr/>
        </p:nvSpPr>
        <p:spPr>
          <a:xfrm>
            <a:off x="8970264" y="3566160"/>
            <a:ext cx="54864" cy="685800"/>
          </a:xfrm>
          <a:prstGeom prst="rect">
            <a:avLst/>
          </a:prstGeom>
          <a:solidFill>
            <a:srgbClr val="2C7A4B"/>
          </a:solidFill>
          <a:ln w="12700">
            <a:solidFill>
              <a:srgbClr val="2C7A4B"/>
            </a:solidFill>
            <a:prstDash val="solid"/>
          </a:ln>
        </p:spPr>
      </p:sp>
      <p:sp>
        <p:nvSpPr>
          <p:cNvPr id="106" name="Text 104"/>
          <p:cNvSpPr/>
          <p:nvPr/>
        </p:nvSpPr>
        <p:spPr>
          <a:xfrm>
            <a:off x="9134856" y="362102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T+0  IMMEDIATE OUTCOME</a:t>
            </a:r>
            <a:endParaRPr lang="en-US" sz="750" dirty="0"/>
          </a:p>
        </p:txBody>
      </p:sp>
      <p:sp>
        <p:nvSpPr>
          <p:cNvPr id="107" name="Text 105"/>
          <p:cNvSpPr/>
          <p:nvPr/>
        </p:nvSpPr>
        <p:spPr>
          <a:xfrm>
            <a:off x="9134856" y="3785616"/>
            <a:ext cx="2368296" cy="429768"/>
          </a:xfrm>
          <a:prstGeom prst="rect">
            <a:avLst/>
          </a:prstGeom>
          <a:noFill/>
          <a:ln/>
        </p:spPr>
        <p:txBody>
          <a:bodyPr wrap="square" lIns="0" tIns="0" rIns="0" bIns="0" rtlCol="0" anchor="t"/>
          <a:lstStyle/>
          <a:p>
            <a:pPr indent="0" marL="0">
              <a:buNone/>
            </a:pPr>
            <a:r>
              <a:rPr lang="en-US" sz="850" dirty="0">
                <a:solidFill>
                  <a:srgbClr val="14193D"/>
                </a:solidFill>
                <a:latin typeface="Calibri" pitchFamily="34" charset="0"/>
                <a:ea typeface="Calibri" pitchFamily="34" charset="-122"/>
                <a:cs typeface="Calibri" pitchFamily="34" charset="-120"/>
              </a:rPr>
              <a:t>LTC Murphy is annoyed but recognizes that the trajectory brief gives him a better SSC narrative than a fudged snapshot would. Briefs brigade with the where-why-what-when frame. …</a:t>
            </a:r>
            <a:endParaRPr lang="en-US" sz="850" dirty="0"/>
          </a:p>
        </p:txBody>
      </p:sp>
      <p:sp>
        <p:nvSpPr>
          <p:cNvPr id="108" name="Shape 106"/>
          <p:cNvSpPr/>
          <p:nvPr/>
        </p:nvSpPr>
        <p:spPr>
          <a:xfrm>
            <a:off x="8970264" y="4297680"/>
            <a:ext cx="2642616" cy="1417320"/>
          </a:xfrm>
          <a:prstGeom prst="rect">
            <a:avLst/>
          </a:prstGeom>
          <a:solidFill>
            <a:srgbClr val="F4F1EC"/>
          </a:solidFill>
          <a:ln w="6350">
            <a:solidFill>
              <a:srgbClr val="E2E8F0"/>
            </a:solidFill>
            <a:prstDash val="solid"/>
          </a:ln>
        </p:spPr>
      </p:sp>
      <p:sp>
        <p:nvSpPr>
          <p:cNvPr id="109" name="Shape 107"/>
          <p:cNvSpPr/>
          <p:nvPr/>
        </p:nvSpPr>
        <p:spPr>
          <a:xfrm>
            <a:off x="8970264" y="4297680"/>
            <a:ext cx="54864" cy="1417320"/>
          </a:xfrm>
          <a:prstGeom prst="rect">
            <a:avLst/>
          </a:prstGeom>
          <a:solidFill>
            <a:srgbClr val="2C7A4B"/>
          </a:solidFill>
          <a:ln w="12700">
            <a:solidFill>
              <a:srgbClr val="2C7A4B"/>
            </a:solidFill>
            <a:prstDash val="solid"/>
          </a:ln>
        </p:spPr>
      </p:sp>
      <p:sp>
        <p:nvSpPr>
          <p:cNvPr id="110" name="Text 108"/>
          <p:cNvSpPr/>
          <p:nvPr/>
        </p:nvSpPr>
        <p:spPr>
          <a:xfrm>
            <a:off x="9134856" y="4352544"/>
            <a:ext cx="2368296" cy="182880"/>
          </a:xfrm>
          <a:prstGeom prst="rect">
            <a:avLst/>
          </a:prstGeom>
          <a:noFill/>
          <a:ln/>
        </p:spPr>
        <p:txBody>
          <a:bodyPr wrap="square" lIns="0" tIns="0" rIns="0" bIns="0" rtlCol="0" anchor="ctr"/>
          <a:lstStyle/>
          <a:p>
            <a:pPr indent="0" marL="0">
              <a:buNone/>
            </a:pPr>
            <a:r>
              <a:rPr lang="en-US" sz="750" b="1" spc="300" kern="0" dirty="0">
                <a:solidFill>
                  <a:srgbClr val="2C7A4B"/>
                </a:solidFill>
                <a:latin typeface="Calibri" pitchFamily="34" charset="0"/>
                <a:ea typeface="Calibri" pitchFamily="34" charset="-122"/>
                <a:cs typeface="Calibri" pitchFamily="34" charset="-120"/>
              </a:rPr>
              <a:t>T+30 TO T+1YR  DOWNSTREAM</a:t>
            </a:r>
            <a:endParaRPr lang="en-US" sz="750" dirty="0"/>
          </a:p>
        </p:txBody>
      </p:sp>
      <p:sp>
        <p:nvSpPr>
          <p:cNvPr id="111" name="Text 109"/>
          <p:cNvSpPr/>
          <p:nvPr/>
        </p:nvSpPr>
        <p:spPr>
          <a:xfrm>
            <a:off x="9134856" y="4517136"/>
            <a:ext cx="2368296" cy="1161288"/>
          </a:xfrm>
          <a:prstGeom prst="rect">
            <a:avLst/>
          </a:prstGeom>
          <a:noFill/>
          <a:ln/>
        </p:spPr>
        <p:txBody>
          <a:bodyPr wrap="square" lIns="0" tIns="0" rIns="0" bIns="0" rtlCol="0" anchor="t"/>
          <a:lstStyle/>
          <a:p>
            <a:pPr indent="0" marL="0">
              <a:buNone/>
            </a:pPr>
            <a:r>
              <a:rPr lang="en-US" sz="800" dirty="0">
                <a:solidFill>
                  <a:srgbClr val="14193D"/>
                </a:solidFill>
                <a:latin typeface="Calibri" pitchFamily="34" charset="0"/>
                <a:ea typeface="Calibri" pitchFamily="34" charset="-122"/>
                <a:cs typeface="Calibri" pitchFamily="34" charset="-120"/>
              </a:rPr>
              <a:t>Sixty days later, 27 is down to 12, and 8 of those 12 are on documented progress trajectories. LTC Murphy's SSC packet narrative now reads 'led battalion cultural shift on health and readiness.' He gets selected. S1 promoted. The Soldiers actually become healthier.</a:t>
            </a:r>
            <a:endParaRPr lang="en-US" sz="800" dirty="0"/>
          </a:p>
        </p:txBody>
      </p:sp>
      <p:sp>
        <p:nvSpPr>
          <p:cNvPr id="112" name="Shape 110"/>
          <p:cNvSpPr/>
          <p:nvPr/>
        </p:nvSpPr>
        <p:spPr>
          <a:xfrm>
            <a:off x="10291572" y="2926080"/>
            <a:ext cx="0" cy="45720"/>
          </a:xfrm>
          <a:prstGeom prst="line">
            <a:avLst/>
          </a:prstGeom>
          <a:noFill/>
          <a:ln w="12700">
            <a:solidFill>
              <a:srgbClr val="94A3B8"/>
            </a:solidFill>
            <a:prstDash val="solid"/>
          </a:ln>
        </p:spPr>
      </p:sp>
      <p:sp>
        <p:nvSpPr>
          <p:cNvPr id="113" name="Shape 111"/>
          <p:cNvSpPr/>
          <p:nvPr/>
        </p:nvSpPr>
        <p:spPr>
          <a:xfrm>
            <a:off x="10291572" y="3520440"/>
            <a:ext cx="0" cy="45720"/>
          </a:xfrm>
          <a:prstGeom prst="line">
            <a:avLst/>
          </a:prstGeom>
          <a:noFill/>
          <a:ln w="12700">
            <a:solidFill>
              <a:srgbClr val="94A3B8"/>
            </a:solidFill>
            <a:prstDash val="solid"/>
          </a:ln>
        </p:spPr>
      </p:sp>
      <p:sp>
        <p:nvSpPr>
          <p:cNvPr id="114" name="Shape 112"/>
          <p:cNvSpPr/>
          <p:nvPr/>
        </p:nvSpPr>
        <p:spPr>
          <a:xfrm>
            <a:off x="10291572" y="4251960"/>
            <a:ext cx="0" cy="45720"/>
          </a:xfrm>
          <a:prstGeom prst="line">
            <a:avLst/>
          </a:prstGeom>
          <a:noFill/>
          <a:ln w="12700">
            <a:solidFill>
              <a:srgbClr val="94A3B8"/>
            </a:solidFill>
            <a:prstDash val="solid"/>
          </a:ln>
        </p:spPr>
      </p:sp>
      <p:sp>
        <p:nvSpPr>
          <p:cNvPr id="115" name="Shape 113"/>
          <p:cNvSpPr/>
          <p:nvPr/>
        </p:nvSpPr>
        <p:spPr>
          <a:xfrm>
            <a:off x="10291572" y="5715000"/>
            <a:ext cx="0" cy="45720"/>
          </a:xfrm>
          <a:prstGeom prst="line">
            <a:avLst/>
          </a:prstGeom>
          <a:noFill/>
          <a:ln w="12700">
            <a:solidFill>
              <a:srgbClr val="94A3B8"/>
            </a:solidFill>
            <a:prstDash val="solid"/>
          </a:ln>
        </p:spPr>
      </p:sp>
      <p:sp>
        <p:nvSpPr>
          <p:cNvPr id="116" name="Shape 114"/>
          <p:cNvSpPr/>
          <p:nvPr/>
        </p:nvSpPr>
        <p:spPr>
          <a:xfrm>
            <a:off x="8970264" y="5760720"/>
            <a:ext cx="2642616" cy="411480"/>
          </a:xfrm>
          <a:prstGeom prst="rect">
            <a:avLst/>
          </a:prstGeom>
          <a:solidFill>
            <a:srgbClr val="2C7A4B"/>
          </a:solidFill>
          <a:ln w="12700">
            <a:solidFill>
              <a:srgbClr val="2C7A4B"/>
            </a:solidFill>
            <a:prstDash val="solid"/>
          </a:ln>
        </p:spPr>
      </p:sp>
      <p:sp>
        <p:nvSpPr>
          <p:cNvPr id="117" name="Text 115"/>
          <p:cNvSpPr/>
          <p:nvPr/>
        </p:nvSpPr>
        <p:spPr>
          <a:xfrm>
            <a:off x="9107424" y="5760720"/>
            <a:ext cx="2368296" cy="41148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OPTIMAL</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93D"/>
        </a:solidFill>
      </p:bgPr>
    </p:bg>
    <p:spTree>
      <p:nvGrpSpPr>
        <p:cNvPr id="1" name=""/>
        <p:cNvGrpSpPr/>
        <p:nvPr/>
      </p:nvGrpSpPr>
      <p:grpSpPr>
        <a:xfrm>
          <a:off x="0" y="0"/>
          <a:ext cx="0" cy="0"/>
          <a:chOff x="0" y="0"/>
          <a:chExt cx="0" cy="0"/>
        </a:xfrm>
      </p:grpSpPr>
      <p:sp>
        <p:nvSpPr>
          <p:cNvPr id="2" name="Text 0"/>
          <p:cNvSpPr/>
          <p:nvPr/>
        </p:nvSpPr>
        <p:spPr>
          <a:xfrm>
            <a:off x="548640" y="640080"/>
            <a:ext cx="11064240" cy="320040"/>
          </a:xfrm>
          <a:prstGeom prst="rect">
            <a:avLst/>
          </a:prstGeom>
          <a:noFill/>
          <a:ln/>
        </p:spPr>
        <p:txBody>
          <a:bodyPr wrap="square" lIns="0" tIns="0" rIns="0" bIns="0" rtlCol="0" anchor="ctr"/>
          <a:lstStyle/>
          <a:p>
            <a:pPr indent="0" marL="0">
              <a:buNone/>
            </a:pPr>
            <a:r>
              <a:rPr lang="en-US" sz="1200" b="1" spc="500" kern="0" dirty="0">
                <a:solidFill>
                  <a:srgbClr val="B85042"/>
                </a:solidFill>
                <a:latin typeface="Calibri" pitchFamily="34" charset="0"/>
                <a:ea typeface="Calibri" pitchFamily="34" charset="-122"/>
                <a:cs typeface="Calibri" pitchFamily="34" charset="-120"/>
              </a:rPr>
              <a:t>THE RECOMMENDED PATH</a:t>
            </a:r>
            <a:endParaRPr lang="en-US" sz="1200" dirty="0"/>
          </a:p>
        </p:txBody>
      </p:sp>
      <p:sp>
        <p:nvSpPr>
          <p:cNvPr id="3" name="Text 1"/>
          <p:cNvSpPr/>
          <p:nvPr/>
        </p:nvSpPr>
        <p:spPr>
          <a:xfrm>
            <a:off x="548640" y="960120"/>
            <a:ext cx="110642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Scenario 5: Battalion Body Composition Pre-Inspection</a:t>
            </a:r>
            <a:endParaRPr lang="en-US" sz="2200" dirty="0"/>
          </a:p>
        </p:txBody>
      </p:sp>
      <p:sp>
        <p:nvSpPr>
          <p:cNvPr id="4" name="Shape 2"/>
          <p:cNvSpPr/>
          <p:nvPr/>
        </p:nvSpPr>
        <p:spPr>
          <a:xfrm>
            <a:off x="548640" y="1691640"/>
            <a:ext cx="11064240" cy="2377440"/>
          </a:xfrm>
          <a:prstGeom prst="rect">
            <a:avLst/>
          </a:prstGeom>
          <a:solidFill>
            <a:srgbClr val="FFFFFF"/>
          </a:solidFill>
          <a:ln w="12700">
            <a:solidFill>
              <a:srgbClr val="FFFFFF"/>
            </a:solidFill>
            <a:prstDash val="solid"/>
          </a:ln>
        </p:spPr>
      </p:sp>
      <p:sp>
        <p:nvSpPr>
          <p:cNvPr id="5" name="Shape 3"/>
          <p:cNvSpPr/>
          <p:nvPr/>
        </p:nvSpPr>
        <p:spPr>
          <a:xfrm>
            <a:off x="548640" y="1691640"/>
            <a:ext cx="146304" cy="2377440"/>
          </a:xfrm>
          <a:prstGeom prst="rect">
            <a:avLst/>
          </a:prstGeom>
          <a:solidFill>
            <a:srgbClr val="2C7A4B"/>
          </a:solidFill>
          <a:ln w="12700">
            <a:solidFill>
              <a:srgbClr val="2C7A4B"/>
            </a:solidFill>
            <a:prstDash val="solid"/>
          </a:ln>
        </p:spPr>
      </p:sp>
      <p:sp>
        <p:nvSpPr>
          <p:cNvPr id="6" name="Text 4"/>
          <p:cNvSpPr/>
          <p:nvPr/>
        </p:nvSpPr>
        <p:spPr>
          <a:xfrm>
            <a:off x="914400" y="1828800"/>
            <a:ext cx="10515600" cy="274320"/>
          </a:xfrm>
          <a:prstGeom prst="rect">
            <a:avLst/>
          </a:prstGeom>
          <a:noFill/>
          <a:ln/>
        </p:spPr>
        <p:txBody>
          <a:bodyPr wrap="square" lIns="0" tIns="0" rIns="0" bIns="0" rtlCol="0" anchor="ctr"/>
          <a:lstStyle/>
          <a:p>
            <a:pPr indent="0" marL="0">
              <a:buNone/>
            </a:pPr>
            <a:r>
              <a:rPr lang="en-US" sz="1100" b="1" spc="400" kern="0" dirty="0">
                <a:solidFill>
                  <a:srgbClr val="2C7A4B"/>
                </a:solidFill>
                <a:latin typeface="Calibri" pitchFamily="34" charset="0"/>
                <a:ea typeface="Calibri" pitchFamily="34" charset="-122"/>
                <a:cs typeface="Calibri" pitchFamily="34" charset="-120"/>
              </a:rPr>
              <a:t>OPTIMAL OUTCOME</a:t>
            </a:r>
            <a:endParaRPr lang="en-US" sz="1100" dirty="0"/>
          </a:p>
        </p:txBody>
      </p:sp>
      <p:sp>
        <p:nvSpPr>
          <p:cNvPr id="7" name="Text 5"/>
          <p:cNvSpPr/>
          <p:nvPr/>
        </p:nvSpPr>
        <p:spPr>
          <a:xfrm>
            <a:off x="914400" y="2148840"/>
            <a:ext cx="10515600" cy="1874520"/>
          </a:xfrm>
          <a:prstGeom prst="rect">
            <a:avLst/>
          </a:prstGeom>
          <a:noFill/>
          <a:ln/>
        </p:spPr>
        <p:txBody>
          <a:bodyPr wrap="square" lIns="0" tIns="0" rIns="0" bIns="0" rtlCol="0" anchor="t"/>
          <a:lstStyle/>
          <a:p>
            <a:pPr indent="0" marL="0">
              <a:spcAft>
                <a:spcPts val="400"/>
              </a:spcAft>
              <a:buNone/>
            </a:pPr>
            <a:r>
              <a:rPr lang="en-US" sz="1400" dirty="0">
                <a:solidFill>
                  <a:srgbClr val="14193D"/>
                </a:solidFill>
                <a:latin typeface="Calibri" pitchFamily="34" charset="0"/>
                <a:ea typeface="Calibri" pitchFamily="34" charset="-122"/>
                <a:cs typeface="Calibri" pitchFamily="34" charset="-120"/>
              </a:rPr>
              <a:t>Path D. The S1 partners with CSM Dixon, who has the standing to deliver the message to the LTC and the credibility with the senior NCO chain to make the program execute. The brief is reframed from 'we have twenty-seven, please don't notice' to 'we have twenty-seven, here is why, here is what we are doing, and here is our trajectory.' Most brigade commanders prefer the second version. The truly remarkable feature of Path D is that the SSC selection actually becomes more likely under the honest path than under the fraudulent path, because the SSC packet narrative is stronger.</a:t>
            </a:r>
            <a:endParaRPr lang="en-US" sz="1400" dirty="0"/>
          </a:p>
        </p:txBody>
      </p:sp>
      <p:sp>
        <p:nvSpPr>
          <p:cNvPr id="8" name="Text 6"/>
          <p:cNvSpPr/>
          <p:nvPr/>
        </p:nvSpPr>
        <p:spPr>
          <a:xfrm>
            <a:off x="548640" y="4297680"/>
            <a:ext cx="11064240" cy="27432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TAKE TO DISCUSSION</a:t>
            </a:r>
            <a:endParaRPr lang="en-US" sz="1000" dirty="0"/>
          </a:p>
        </p:txBody>
      </p:sp>
      <p:sp>
        <p:nvSpPr>
          <p:cNvPr id="9" name="Text 7"/>
          <p:cNvSpPr/>
          <p:nvPr/>
        </p:nvSpPr>
        <p:spPr>
          <a:xfrm>
            <a:off x="548640" y="4572000"/>
            <a:ext cx="11064240" cy="1920240"/>
          </a:xfrm>
          <a:prstGeom prst="rect">
            <a:avLst/>
          </a:prstGeom>
          <a:noFill/>
          <a:ln/>
        </p:spPr>
        <p:txBody>
          <a:bodyPr wrap="square" lIns="0" tIns="0" rIns="0" bIns="0" rtlCol="0" anchor="t"/>
          <a:lstStyle/>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1. Why does Path D produce a better SSC outcome than Path A? What does that suggest about the relationship between honesty and career advancement at field-grade level?</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2. The Operator's path involves four moves, each of which is defensible in isolation. Where exactly does the path cross from aggressive command attention to actual fraud?</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3. If a Soldier is medically capable but consistently fails ABCP, what is the battalion's actual obligation to that Soldier and to the Army? How does the Partner's program-based answer differ from the chapter-based answer the Operator proposes?</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4. What is the role of the battalion PA in this scenario? Apply Chaleff's intelligent disobedience to a non-line-of-command actor.</a:t>
            </a:r>
            <a:endParaRPr lang="en-US" sz="1050" dirty="0"/>
          </a:p>
          <a:p>
            <a:pPr indent="0" marL="0">
              <a:spcAft>
                <a:spcPts val="400"/>
              </a:spcAft>
              <a:buNone/>
            </a:pPr>
            <a:endParaRPr lang="en-US" sz="1050" dirty="0"/>
          </a:p>
          <a:p>
            <a:pPr indent="0" marL="0">
              <a:spcAft>
                <a:spcPts val="400"/>
              </a:spcAft>
              <a:buNone/>
            </a:pPr>
            <a:r>
              <a:rPr lang="en-US" sz="1050" dirty="0">
                <a:solidFill>
                  <a:srgbClr val="CADCFC"/>
                </a:solidFill>
                <a:latin typeface="Calibri" pitchFamily="34" charset="0"/>
                <a:ea typeface="Calibri" pitchFamily="34" charset="-122"/>
                <a:cs typeface="Calibri" pitchFamily="34" charset="-120"/>
              </a:rPr>
              <a:t>5. If you are the S1 and the LTC instructs you in writing to coordinate the Operator's plan, what is your next move? Walk through the steps and the documents.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93D"/>
        </a:solidFill>
      </p:bgPr>
    </p:bg>
    <p:spTree>
      <p:nvGrpSpPr>
        <p:cNvPr id="1" name=""/>
        <p:cNvGrpSpPr/>
        <p:nvPr/>
      </p:nvGrpSpPr>
      <p:grpSpPr>
        <a:xfrm>
          <a:off x="0" y="0"/>
          <a:ext cx="0" cy="0"/>
          <a:chOff x="0" y="0"/>
          <a:chExt cx="0" cy="0"/>
        </a:xfrm>
      </p:grpSpPr>
      <p:sp>
        <p:nvSpPr>
          <p:cNvPr id="2" name="Shape 0"/>
          <p:cNvSpPr/>
          <p:nvPr/>
        </p:nvSpPr>
        <p:spPr>
          <a:xfrm>
            <a:off x="0" y="3017520"/>
            <a:ext cx="457200" cy="914400"/>
          </a:xfrm>
          <a:prstGeom prst="rect">
            <a:avLst/>
          </a:prstGeom>
          <a:solidFill>
            <a:srgbClr val="B85042"/>
          </a:solidFill>
          <a:ln w="12700">
            <a:solidFill>
              <a:srgbClr val="B85042"/>
            </a:solidFill>
            <a:prstDash val="solid"/>
          </a:ln>
        </p:spPr>
      </p:sp>
      <p:sp>
        <p:nvSpPr>
          <p:cNvPr id="3" name="Text 1"/>
          <p:cNvSpPr/>
          <p:nvPr/>
        </p:nvSpPr>
        <p:spPr>
          <a:xfrm>
            <a:off x="914400" y="2743200"/>
            <a:ext cx="10058400" cy="457200"/>
          </a:xfrm>
          <a:prstGeom prst="rect">
            <a:avLst/>
          </a:prstGeom>
          <a:noFill/>
          <a:ln/>
        </p:spPr>
        <p:txBody>
          <a:bodyPr wrap="square" lIns="0" tIns="0" rIns="0" bIns="0" rtlCol="0" anchor="ctr"/>
          <a:lstStyle/>
          <a:p>
            <a:pPr indent="0" marL="0">
              <a:buNone/>
            </a:pPr>
            <a:r>
              <a:rPr lang="en-US" sz="1400" b="1" spc="600" kern="0" dirty="0">
                <a:solidFill>
                  <a:srgbClr val="B85042"/>
                </a:solidFill>
                <a:latin typeface="Calibri" pitchFamily="34" charset="0"/>
                <a:ea typeface="Calibri" pitchFamily="34" charset="-122"/>
                <a:cs typeface="Calibri" pitchFamily="34" charset="-120"/>
              </a:rPr>
              <a:t>PART THREE</a:t>
            </a:r>
            <a:endParaRPr lang="en-US" sz="1400" dirty="0"/>
          </a:p>
        </p:txBody>
      </p:sp>
      <p:sp>
        <p:nvSpPr>
          <p:cNvPr id="4" name="Text 2"/>
          <p:cNvSpPr/>
          <p:nvPr/>
        </p:nvSpPr>
        <p:spPr>
          <a:xfrm>
            <a:off x="914400" y="3200400"/>
            <a:ext cx="10058400" cy="1097280"/>
          </a:xfrm>
          <a:prstGeom prst="rect">
            <a:avLst/>
          </a:prstGeom>
          <a:noFill/>
          <a:ln/>
        </p:spPr>
        <p:txBody>
          <a:bodyPr wrap="square" lIns="0" tIns="0" rIns="0" bIns="0" rtlCol="0" anchor="ctr"/>
          <a:lstStyle/>
          <a:p>
            <a:pPr indent="0" marL="0">
              <a:buNone/>
            </a:pPr>
            <a:r>
              <a:rPr lang="en-US" sz="5600" b="1" i="1" dirty="0">
                <a:solidFill>
                  <a:srgbClr val="FFFFFF"/>
                </a:solidFill>
                <a:latin typeface="Cambria" pitchFamily="34" charset="0"/>
                <a:ea typeface="Cambria" pitchFamily="34" charset="-122"/>
                <a:cs typeface="Cambria" pitchFamily="34" charset="-120"/>
              </a:rPr>
              <a:t>Cross-Scenario Synthesis</a:t>
            </a:r>
            <a:endParaRPr lang="en-US" sz="5600" dirty="0"/>
          </a:p>
        </p:txBody>
      </p:sp>
      <p:sp>
        <p:nvSpPr>
          <p:cNvPr id="5" name="Text 3"/>
          <p:cNvSpPr/>
          <p:nvPr/>
        </p:nvSpPr>
        <p:spPr>
          <a:xfrm>
            <a:off x="914400" y="4389120"/>
            <a:ext cx="100584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Five themes that emerge across the package</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B85042"/>
                </a:solidFill>
                <a:latin typeface="Calibri" pitchFamily="34" charset="0"/>
                <a:ea typeface="Calibri" pitchFamily="34" charset="-122"/>
                <a:cs typeface="Calibri" pitchFamily="34" charset="-120"/>
              </a:rPr>
              <a:t>THEME 01</a:t>
            </a:r>
            <a:endParaRPr lang="en-US" sz="1100" dirty="0"/>
          </a:p>
        </p:txBody>
      </p:sp>
      <p:sp>
        <p:nvSpPr>
          <p:cNvPr id="4" name="Text 2"/>
          <p:cNvSpPr/>
          <p:nvPr/>
        </p:nvSpPr>
        <p:spPr>
          <a:xfrm>
            <a:off x="548640" y="777240"/>
            <a:ext cx="11064240" cy="14630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Leader's Order Is Rarely the Real Question</a:t>
            </a:r>
            <a:endParaRPr lang="en-US" sz="2800" dirty="0"/>
          </a:p>
        </p:txBody>
      </p:sp>
      <p:sp>
        <p:nvSpPr>
          <p:cNvPr id="5" name="Shape 3"/>
          <p:cNvSpPr/>
          <p:nvPr/>
        </p:nvSpPr>
        <p:spPr>
          <a:xfrm>
            <a:off x="548640" y="2743200"/>
            <a:ext cx="91440" cy="2743200"/>
          </a:xfrm>
          <a:prstGeom prst="rect">
            <a:avLst/>
          </a:prstGeom>
          <a:solidFill>
            <a:srgbClr val="B85042"/>
          </a:solidFill>
          <a:ln w="12700">
            <a:solidFill>
              <a:srgbClr val="B85042"/>
            </a:solidFill>
            <a:prstDash val="solid"/>
          </a:ln>
        </p:spPr>
      </p:sp>
      <p:sp>
        <p:nvSpPr>
          <p:cNvPr id="6" name="Text 4"/>
          <p:cNvSpPr/>
          <p:nvPr/>
        </p:nvSpPr>
        <p:spPr>
          <a:xfrm>
            <a:off x="822960" y="2606040"/>
            <a:ext cx="10789920" cy="3200400"/>
          </a:xfrm>
          <a:prstGeom prst="rect">
            <a:avLst/>
          </a:prstGeom>
          <a:noFill/>
          <a:ln/>
        </p:spPr>
        <p:txBody>
          <a:bodyPr wrap="square" lIns="0" tIns="0" rIns="0" bIns="0" rtlCol="0" anchor="ctr"/>
          <a:lstStyle/>
          <a:p>
            <a:pPr indent="0" marL="0">
              <a:spcAft>
                <a:spcPts val="600"/>
              </a:spcAft>
              <a:buNone/>
            </a:pPr>
            <a:r>
              <a:rPr lang="en-US" sz="1600" dirty="0">
                <a:solidFill>
                  <a:srgbClr val="14193D"/>
                </a:solidFill>
                <a:latin typeface="Calibri" pitchFamily="34" charset="0"/>
                <a:ea typeface="Calibri" pitchFamily="34" charset="-122"/>
                <a:cs typeface="Calibri" pitchFamily="34" charset="-120"/>
              </a:rPr>
              <a:t>In every scenario, the leader's stated order or pressure ('get the number down,' 'cut the orders,' 'close out the finding,' 'run the CDE again') is a means to an underlying end the leader actually cares about (a successful strike, time with a grandchild, a smooth front office, a clean SSC packet, an inspection that goes well). The Partner archetype's defining move is to identify the underlying end and offer a different means of reaching it. The Loyalist and the Operator collapse means and end together; the Stickler attacks the means and ignores the end.</a:t>
            </a:r>
            <a:endParaRPr lang="en-US" sz="1600" dirty="0"/>
          </a:p>
        </p:txBody>
      </p:sp>
      <p:sp>
        <p:nvSpPr>
          <p:cNvPr id="7" name="Shape 5"/>
          <p:cNvSpPr/>
          <p:nvPr/>
        </p:nvSpPr>
        <p:spPr>
          <a:xfrm>
            <a:off x="0" y="6803136"/>
            <a:ext cx="12161520" cy="54864"/>
          </a:xfrm>
          <a:prstGeom prst="rect">
            <a:avLst/>
          </a:prstGeom>
          <a:solidFill>
            <a:srgbClr val="1E2761"/>
          </a:solidFill>
          <a:ln w="12700">
            <a:solidFill>
              <a:srgbClr val="1E2761"/>
            </a:solidFill>
            <a:prstDash val="solid"/>
          </a:ln>
        </p:spPr>
      </p:sp>
      <p:sp>
        <p:nvSpPr>
          <p:cNvPr id="8" name="Text 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Cross-Scenario Synthesis</a:t>
            </a:r>
            <a:endParaRPr lang="en-US" sz="1000" dirty="0"/>
          </a:p>
        </p:txBody>
      </p:sp>
      <p:sp>
        <p:nvSpPr>
          <p:cNvPr id="9" name="Text 7"/>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B85042"/>
                </a:solidFill>
                <a:latin typeface="Calibri" pitchFamily="34" charset="0"/>
                <a:ea typeface="Calibri" pitchFamily="34" charset="-122"/>
                <a:cs typeface="Calibri" pitchFamily="34" charset="-120"/>
              </a:rPr>
              <a:t>THEME 02</a:t>
            </a:r>
            <a:endParaRPr lang="en-US" sz="1100" dirty="0"/>
          </a:p>
        </p:txBody>
      </p:sp>
      <p:sp>
        <p:nvSpPr>
          <p:cNvPr id="4" name="Text 2"/>
          <p:cNvSpPr/>
          <p:nvPr/>
        </p:nvSpPr>
        <p:spPr>
          <a:xfrm>
            <a:off x="548640" y="777240"/>
            <a:ext cx="11064240" cy="14630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Refusal Without Alternatives Is Half a Job</a:t>
            </a:r>
            <a:endParaRPr lang="en-US" sz="2800" dirty="0"/>
          </a:p>
        </p:txBody>
      </p:sp>
      <p:sp>
        <p:nvSpPr>
          <p:cNvPr id="5" name="Shape 3"/>
          <p:cNvSpPr/>
          <p:nvPr/>
        </p:nvSpPr>
        <p:spPr>
          <a:xfrm>
            <a:off x="548640" y="2743200"/>
            <a:ext cx="91440" cy="2743200"/>
          </a:xfrm>
          <a:prstGeom prst="rect">
            <a:avLst/>
          </a:prstGeom>
          <a:solidFill>
            <a:srgbClr val="B85042"/>
          </a:solidFill>
          <a:ln w="12700">
            <a:solidFill>
              <a:srgbClr val="B85042"/>
            </a:solidFill>
            <a:prstDash val="solid"/>
          </a:ln>
        </p:spPr>
      </p:sp>
      <p:sp>
        <p:nvSpPr>
          <p:cNvPr id="6" name="Text 4"/>
          <p:cNvSpPr/>
          <p:nvPr/>
        </p:nvSpPr>
        <p:spPr>
          <a:xfrm>
            <a:off x="822960" y="2606040"/>
            <a:ext cx="10789920" cy="3200400"/>
          </a:xfrm>
          <a:prstGeom prst="rect">
            <a:avLst/>
          </a:prstGeom>
          <a:noFill/>
          <a:ln/>
        </p:spPr>
        <p:txBody>
          <a:bodyPr wrap="square" lIns="0" tIns="0" rIns="0" bIns="0" rtlCol="0" anchor="ctr"/>
          <a:lstStyle/>
          <a:p>
            <a:pPr indent="0" marL="0">
              <a:spcAft>
                <a:spcPts val="600"/>
              </a:spcAft>
              <a:buNone/>
            </a:pPr>
            <a:r>
              <a:rPr lang="en-US" sz="1600" dirty="0">
                <a:solidFill>
                  <a:srgbClr val="14193D"/>
                </a:solidFill>
                <a:latin typeface="Calibri" pitchFamily="34" charset="0"/>
                <a:ea typeface="Calibri" pitchFamily="34" charset="-122"/>
                <a:cs typeface="Calibri" pitchFamily="34" charset="-120"/>
              </a:rPr>
              <a:t>The Stickler is right and insufficient. In every scenario, refusing the unethical path without replacing it with a viable ethical path leaves the leader to find a worse follower or a worse path. Effective followership requires not only the courage to disagree but the labor to construct an alternative that meets the leader's underlying need.</a:t>
            </a:r>
            <a:endParaRPr lang="en-US" sz="1600" dirty="0"/>
          </a:p>
        </p:txBody>
      </p:sp>
      <p:sp>
        <p:nvSpPr>
          <p:cNvPr id="7" name="Shape 5"/>
          <p:cNvSpPr/>
          <p:nvPr/>
        </p:nvSpPr>
        <p:spPr>
          <a:xfrm>
            <a:off x="0" y="6803136"/>
            <a:ext cx="12161520" cy="54864"/>
          </a:xfrm>
          <a:prstGeom prst="rect">
            <a:avLst/>
          </a:prstGeom>
          <a:solidFill>
            <a:srgbClr val="1E2761"/>
          </a:solidFill>
          <a:ln w="12700">
            <a:solidFill>
              <a:srgbClr val="1E2761"/>
            </a:solidFill>
            <a:prstDash val="solid"/>
          </a:ln>
        </p:spPr>
      </p:sp>
      <p:sp>
        <p:nvSpPr>
          <p:cNvPr id="8" name="Text 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Cross-Scenario Synthesis</a:t>
            </a:r>
            <a:endParaRPr lang="en-US" sz="1000" dirty="0"/>
          </a:p>
        </p:txBody>
      </p:sp>
      <p:sp>
        <p:nvSpPr>
          <p:cNvPr id="9" name="Text 7"/>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B85042"/>
                </a:solidFill>
                <a:latin typeface="Calibri" pitchFamily="34" charset="0"/>
                <a:ea typeface="Calibri" pitchFamily="34" charset="-122"/>
                <a:cs typeface="Calibri" pitchFamily="34" charset="-120"/>
              </a:rPr>
              <a:t>THEME 03</a:t>
            </a:r>
            <a:endParaRPr lang="en-US" sz="1100" dirty="0"/>
          </a:p>
        </p:txBody>
      </p:sp>
      <p:sp>
        <p:nvSpPr>
          <p:cNvPr id="4" name="Text 2"/>
          <p:cNvSpPr/>
          <p:nvPr/>
        </p:nvSpPr>
        <p:spPr>
          <a:xfrm>
            <a:off x="548640" y="777240"/>
            <a:ext cx="11064240" cy="14630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Best Outcomes Come From Pairing the Right Messenger With the Right Message</a:t>
            </a:r>
            <a:endParaRPr lang="en-US" sz="2800" dirty="0"/>
          </a:p>
        </p:txBody>
      </p:sp>
      <p:sp>
        <p:nvSpPr>
          <p:cNvPr id="5" name="Shape 3"/>
          <p:cNvSpPr/>
          <p:nvPr/>
        </p:nvSpPr>
        <p:spPr>
          <a:xfrm>
            <a:off x="548640" y="2743200"/>
            <a:ext cx="91440" cy="2743200"/>
          </a:xfrm>
          <a:prstGeom prst="rect">
            <a:avLst/>
          </a:prstGeom>
          <a:solidFill>
            <a:srgbClr val="B85042"/>
          </a:solidFill>
          <a:ln w="12700">
            <a:solidFill>
              <a:srgbClr val="B85042"/>
            </a:solidFill>
            <a:prstDash val="solid"/>
          </a:ln>
        </p:spPr>
      </p:sp>
      <p:sp>
        <p:nvSpPr>
          <p:cNvPr id="6" name="Text 4"/>
          <p:cNvSpPr/>
          <p:nvPr/>
        </p:nvSpPr>
        <p:spPr>
          <a:xfrm>
            <a:off x="822960" y="2606040"/>
            <a:ext cx="10789920" cy="3200400"/>
          </a:xfrm>
          <a:prstGeom prst="rect">
            <a:avLst/>
          </a:prstGeom>
          <a:noFill/>
          <a:ln/>
        </p:spPr>
        <p:txBody>
          <a:bodyPr wrap="square" lIns="0" tIns="0" rIns="0" bIns="0" rtlCol="0" anchor="ctr"/>
          <a:lstStyle/>
          <a:p>
            <a:pPr indent="0" marL="0">
              <a:spcAft>
                <a:spcPts val="600"/>
              </a:spcAft>
              <a:buNone/>
            </a:pPr>
            <a:r>
              <a:rPr lang="en-US" sz="1600" dirty="0">
                <a:solidFill>
                  <a:srgbClr val="14193D"/>
                </a:solidFill>
                <a:latin typeface="Calibri" pitchFamily="34" charset="0"/>
                <a:ea typeface="Calibri" pitchFamily="34" charset="-122"/>
                <a:cs typeface="Calibri" pitchFamily="34" charset="-120"/>
              </a:rPr>
              <a:t>Scenarios 3 and 5 turn on the involvement of a Command Sergeant Major or a senior LE staff member who has the standing to deliver hard truths to the principal. The student's most strategic act is sometimes not delivering the truth themselves but recruiting the person who can deliver it credibly.</a:t>
            </a:r>
            <a:endParaRPr lang="en-US" sz="1600" dirty="0"/>
          </a:p>
        </p:txBody>
      </p:sp>
      <p:sp>
        <p:nvSpPr>
          <p:cNvPr id="7" name="Shape 5"/>
          <p:cNvSpPr/>
          <p:nvPr/>
        </p:nvSpPr>
        <p:spPr>
          <a:xfrm>
            <a:off x="0" y="6803136"/>
            <a:ext cx="12161520" cy="54864"/>
          </a:xfrm>
          <a:prstGeom prst="rect">
            <a:avLst/>
          </a:prstGeom>
          <a:solidFill>
            <a:srgbClr val="1E2761"/>
          </a:solidFill>
          <a:ln w="12700">
            <a:solidFill>
              <a:srgbClr val="1E2761"/>
            </a:solidFill>
            <a:prstDash val="solid"/>
          </a:ln>
        </p:spPr>
      </p:sp>
      <p:sp>
        <p:nvSpPr>
          <p:cNvPr id="8" name="Text 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Cross-Scenario Synthesis</a:t>
            </a:r>
            <a:endParaRPr lang="en-US" sz="1000" dirty="0"/>
          </a:p>
        </p:txBody>
      </p:sp>
      <p:sp>
        <p:nvSpPr>
          <p:cNvPr id="9" name="Text 7"/>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1E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B85042"/>
                </a:solidFill>
                <a:latin typeface="Calibri" pitchFamily="34" charset="0"/>
                <a:ea typeface="Calibri" pitchFamily="34" charset="-122"/>
                <a:cs typeface="Calibri" pitchFamily="34" charset="-120"/>
              </a:rPr>
              <a:t>THEME 04</a:t>
            </a:r>
            <a:endParaRPr lang="en-US" sz="1100" dirty="0"/>
          </a:p>
        </p:txBody>
      </p:sp>
      <p:sp>
        <p:nvSpPr>
          <p:cNvPr id="4" name="Text 2"/>
          <p:cNvSpPr/>
          <p:nvPr/>
        </p:nvSpPr>
        <p:spPr>
          <a:xfrm>
            <a:off x="548640" y="777240"/>
            <a:ext cx="11064240" cy="14630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Personal Risk Is Not the Variable That Should Determine the Right Action, But It Cannot Be Ignored Either</a:t>
            </a:r>
            <a:endParaRPr lang="en-US" sz="2800" dirty="0"/>
          </a:p>
        </p:txBody>
      </p:sp>
      <p:sp>
        <p:nvSpPr>
          <p:cNvPr id="5" name="Shape 3"/>
          <p:cNvSpPr/>
          <p:nvPr/>
        </p:nvSpPr>
        <p:spPr>
          <a:xfrm>
            <a:off x="548640" y="2743200"/>
            <a:ext cx="91440" cy="2743200"/>
          </a:xfrm>
          <a:prstGeom prst="rect">
            <a:avLst/>
          </a:prstGeom>
          <a:solidFill>
            <a:srgbClr val="B85042"/>
          </a:solidFill>
          <a:ln w="12700">
            <a:solidFill>
              <a:srgbClr val="B85042"/>
            </a:solidFill>
            <a:prstDash val="solid"/>
          </a:ln>
        </p:spPr>
      </p:sp>
      <p:sp>
        <p:nvSpPr>
          <p:cNvPr id="6" name="Text 4"/>
          <p:cNvSpPr/>
          <p:nvPr/>
        </p:nvSpPr>
        <p:spPr>
          <a:xfrm>
            <a:off x="822960" y="2606040"/>
            <a:ext cx="10789920" cy="3200400"/>
          </a:xfrm>
          <a:prstGeom prst="rect">
            <a:avLst/>
          </a:prstGeom>
          <a:noFill/>
          <a:ln/>
        </p:spPr>
        <p:txBody>
          <a:bodyPr wrap="square" lIns="0" tIns="0" rIns="0" bIns="0" rtlCol="0" anchor="ctr"/>
          <a:lstStyle/>
          <a:p>
            <a:pPr indent="0" marL="0">
              <a:spcAft>
                <a:spcPts val="600"/>
              </a:spcAft>
              <a:buNone/>
            </a:pPr>
            <a:r>
              <a:rPr lang="en-US" sz="1600" dirty="0">
                <a:solidFill>
                  <a:srgbClr val="14193D"/>
                </a:solidFill>
                <a:latin typeface="Calibri" pitchFamily="34" charset="0"/>
                <a:ea typeface="Calibri" pitchFamily="34" charset="-122"/>
                <a:cs typeface="Calibri" pitchFamily="34" charset="-120"/>
              </a:rPr>
              <a:t>Each scenario varies the student's risk profile (career, criminal, civil, reputational). The right action does not change as a function of personal risk, but the manner of delivering the right action does. Path C in most scenarios (Stickler-only) protects the institution at the cost of the student. Path D (Partner) protects both. The discipline is to find Path D.</a:t>
            </a:r>
            <a:endParaRPr lang="en-US" sz="1600" dirty="0"/>
          </a:p>
        </p:txBody>
      </p:sp>
      <p:sp>
        <p:nvSpPr>
          <p:cNvPr id="7" name="Shape 5"/>
          <p:cNvSpPr/>
          <p:nvPr/>
        </p:nvSpPr>
        <p:spPr>
          <a:xfrm>
            <a:off x="0" y="6803136"/>
            <a:ext cx="12161520" cy="54864"/>
          </a:xfrm>
          <a:prstGeom prst="rect">
            <a:avLst/>
          </a:prstGeom>
          <a:solidFill>
            <a:srgbClr val="1E2761"/>
          </a:solidFill>
          <a:ln w="12700">
            <a:solidFill>
              <a:srgbClr val="1E2761"/>
            </a:solidFill>
            <a:prstDash val="solid"/>
          </a:ln>
        </p:spPr>
      </p:sp>
      <p:sp>
        <p:nvSpPr>
          <p:cNvPr id="8" name="Text 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Cross-Scenario Synthesis</a:t>
            </a:r>
            <a:endParaRPr lang="en-US" sz="1000" dirty="0"/>
          </a:p>
        </p:txBody>
      </p:sp>
      <p:sp>
        <p:nvSpPr>
          <p:cNvPr id="9" name="Text 7"/>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57200"/>
            <a:ext cx="5486400" cy="274320"/>
          </a:xfrm>
          <a:prstGeom prst="rect">
            <a:avLst/>
          </a:prstGeom>
          <a:noFill/>
          <a:ln/>
        </p:spPr>
        <p:txBody>
          <a:bodyPr wrap="square" lIns="0" tIns="0" rIns="0" bIns="0" rtlCol="0" anchor="ctr"/>
          <a:lstStyle/>
          <a:p>
            <a:pPr indent="0" marL="0">
              <a:buNone/>
            </a:pPr>
            <a:r>
              <a:rPr lang="en-US" sz="1100" b="1" spc="500" kern="0" dirty="0">
                <a:solidFill>
                  <a:srgbClr val="B85042"/>
                </a:solidFill>
                <a:latin typeface="Calibri" pitchFamily="34" charset="0"/>
                <a:ea typeface="Calibri" pitchFamily="34" charset="-122"/>
                <a:cs typeface="Calibri" pitchFamily="34" charset="-120"/>
              </a:rPr>
              <a:t>THEME 05</a:t>
            </a:r>
            <a:endParaRPr lang="en-US" sz="1100" dirty="0"/>
          </a:p>
        </p:txBody>
      </p:sp>
      <p:sp>
        <p:nvSpPr>
          <p:cNvPr id="4" name="Text 2"/>
          <p:cNvSpPr/>
          <p:nvPr/>
        </p:nvSpPr>
        <p:spPr>
          <a:xfrm>
            <a:off x="548640" y="777240"/>
            <a:ext cx="11064240" cy="14630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Ethical Drift Compounds</a:t>
            </a:r>
            <a:endParaRPr lang="en-US" sz="2800" dirty="0"/>
          </a:p>
        </p:txBody>
      </p:sp>
      <p:sp>
        <p:nvSpPr>
          <p:cNvPr id="5" name="Shape 3"/>
          <p:cNvSpPr/>
          <p:nvPr/>
        </p:nvSpPr>
        <p:spPr>
          <a:xfrm>
            <a:off x="548640" y="2743200"/>
            <a:ext cx="91440" cy="2743200"/>
          </a:xfrm>
          <a:prstGeom prst="rect">
            <a:avLst/>
          </a:prstGeom>
          <a:solidFill>
            <a:srgbClr val="B85042"/>
          </a:solidFill>
          <a:ln w="12700">
            <a:solidFill>
              <a:srgbClr val="B85042"/>
            </a:solidFill>
            <a:prstDash val="solid"/>
          </a:ln>
        </p:spPr>
      </p:sp>
      <p:sp>
        <p:nvSpPr>
          <p:cNvPr id="6" name="Text 4"/>
          <p:cNvSpPr/>
          <p:nvPr/>
        </p:nvSpPr>
        <p:spPr>
          <a:xfrm>
            <a:off x="822960" y="2606040"/>
            <a:ext cx="10789920" cy="3200400"/>
          </a:xfrm>
          <a:prstGeom prst="rect">
            <a:avLst/>
          </a:prstGeom>
          <a:noFill/>
          <a:ln/>
        </p:spPr>
        <p:txBody>
          <a:bodyPr wrap="square" lIns="0" tIns="0" rIns="0" bIns="0" rtlCol="0" anchor="ctr"/>
          <a:lstStyle/>
          <a:p>
            <a:pPr indent="0" marL="0">
              <a:spcAft>
                <a:spcPts val="600"/>
              </a:spcAft>
              <a:buNone/>
            </a:pPr>
            <a:r>
              <a:rPr lang="en-US" sz="1600" dirty="0">
                <a:solidFill>
                  <a:srgbClr val="14193D"/>
                </a:solidFill>
                <a:latin typeface="Calibri" pitchFamily="34" charset="0"/>
                <a:ea typeface="Calibri" pitchFamily="34" charset="-122"/>
                <a:cs typeface="Calibri" pitchFamily="34" charset="-120"/>
              </a:rPr>
              <a:t>Scenario 4 surfaces the cumulative culpability of inaction over time: the building has been signed off as 'monitored' for three years. Scenario 5 surfaces the aggregation of individually defensible moves into collectively fraudulent action. In both cases, the moral weight is hidden in the pattern, not the single act. The discipline is to look at the pattern.</a:t>
            </a:r>
            <a:endParaRPr lang="en-US" sz="1600" dirty="0"/>
          </a:p>
        </p:txBody>
      </p:sp>
      <p:sp>
        <p:nvSpPr>
          <p:cNvPr id="7" name="Shape 5"/>
          <p:cNvSpPr/>
          <p:nvPr/>
        </p:nvSpPr>
        <p:spPr>
          <a:xfrm>
            <a:off x="0" y="6803136"/>
            <a:ext cx="12161520" cy="54864"/>
          </a:xfrm>
          <a:prstGeom prst="rect">
            <a:avLst/>
          </a:prstGeom>
          <a:solidFill>
            <a:srgbClr val="1E2761"/>
          </a:solidFill>
          <a:ln w="12700">
            <a:solidFill>
              <a:srgbClr val="1E2761"/>
            </a:solidFill>
            <a:prstDash val="solid"/>
          </a:ln>
        </p:spPr>
      </p:sp>
      <p:sp>
        <p:nvSpPr>
          <p:cNvPr id="8" name="Text 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Cross-Scenario Synthesis</a:t>
            </a:r>
            <a:endParaRPr lang="en-US" sz="1000" dirty="0"/>
          </a:p>
        </p:txBody>
      </p:sp>
      <p:sp>
        <p:nvSpPr>
          <p:cNvPr id="9" name="Text 7"/>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548640" y="411480"/>
            <a:ext cx="11064240" cy="256032"/>
          </a:xfrm>
          <a:prstGeom prst="rect">
            <a:avLst/>
          </a:prstGeom>
          <a:noFill/>
          <a:ln/>
        </p:spPr>
        <p:txBody>
          <a:bodyPr wrap="square" lIns="0" tIns="0" rIns="0" bIns="0" rtlCol="0" anchor="ctr"/>
          <a:lstStyle/>
          <a:p>
            <a:pPr indent="0" marL="0">
              <a:buNone/>
            </a:pPr>
            <a:r>
              <a:rPr lang="en-US" sz="1100" b="1" spc="400" kern="0" dirty="0">
                <a:solidFill>
                  <a:srgbClr val="B85042"/>
                </a:solidFill>
                <a:latin typeface="Calibri" pitchFamily="34" charset="0"/>
                <a:ea typeface="Calibri" pitchFamily="34" charset="-122"/>
                <a:cs typeface="Calibri" pitchFamily="34" charset="-120"/>
              </a:rPr>
              <a:t>FACILITATOR QUICK REFERENCE</a:t>
            </a:r>
            <a:endParaRPr lang="en-US" sz="1100" dirty="0"/>
          </a:p>
        </p:txBody>
      </p:sp>
      <p:sp>
        <p:nvSpPr>
          <p:cNvPr id="4" name="Text 2"/>
          <p:cNvSpPr/>
          <p:nvPr/>
        </p:nvSpPr>
        <p:spPr>
          <a:xfrm>
            <a:off x="548640" y="713232"/>
            <a:ext cx="11064240" cy="8686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Each scenario at a glance</a:t>
            </a:r>
            <a:endParaRPr lang="en-US" sz="3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48640"/>
                <a:gridCol w="3108960"/>
                <a:gridCol w="2377440"/>
                <a:gridCol w="2560320"/>
                <a:gridCol w="2468880"/>
              </a:tblGrid>
              <a:tr h="777240">
                <a:tc>
                  <a:txBody>
                    <a:bodyPr/>
                    <a:lstStyle/>
                    <a:p>
                      <a:pPr algn="ctr" indent="0" marL="0">
                        <a:buNone/>
                      </a:pPr>
                      <a:r>
                        <a:rPr lang="en-US" sz="1100" b="1" dirty="0">
                          <a:solidFill>
                            <a:srgbClr val="FFFFFF"/>
                          </a:solidFill>
                        </a:rPr>
                        <a:t>#</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rPr>
                        <a:t>Scenario</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rPr>
                        <a:t>Domain</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rPr>
                        <a:t>Dominant Risk</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rPr>
                        <a:t>Critical Move</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777240">
                <a:tc>
                  <a:txBody>
                    <a:bodyPr/>
                    <a:lstStyle/>
                    <a:p>
                      <a:pPr algn="ctr" indent="0" marL="0">
                        <a:buNone/>
                      </a:pPr>
                      <a:r>
                        <a:rPr lang="en-US" sz="1600" b="1" dirty="0">
                          <a:solidFill>
                            <a:srgbClr val="B85042"/>
                          </a:solidFill>
                          <a:latin typeface="Cambria" pitchFamily="34" charset="0"/>
                          <a:ea typeface="Cambria" pitchFamily="34" charset="-122"/>
                          <a:cs typeface="Cambria" pitchFamily="34" charset="-120"/>
                        </a:rPr>
                        <a:t>1</a:t>
                      </a:r>
                      <a:endParaRPr lang="en-US" sz="16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Manipulating the Collateral Damage Estimate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i="1" dirty="0">
                          <a:solidFill>
                            <a:srgbClr val="14193D"/>
                          </a:solidFill>
                          <a:latin typeface="Calibri" pitchFamily="34" charset="0"/>
                          <a:ea typeface="Calibri" pitchFamily="34" charset="-122"/>
                          <a:cs typeface="Calibri" pitchFamily="34" charset="-120"/>
                        </a:rPr>
                        <a:t>Joint Targeting / Air Operations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Career risk (promotion, school, evaluation) with downstream legal exposure if data is falsified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Path 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r>
              <a:tr h="777240">
                <a:tc>
                  <a:txBody>
                    <a:bodyPr/>
                    <a:lstStyle/>
                    <a:p>
                      <a:pPr algn="ctr" indent="0" marL="0">
                        <a:buNone/>
                      </a:pPr>
                      <a:r>
                        <a:rPr lang="en-US" sz="1600" b="1" dirty="0">
                          <a:solidFill>
                            <a:srgbClr val="B85042"/>
                          </a:solidFill>
                          <a:latin typeface="Cambria" pitchFamily="34" charset="0"/>
                          <a:ea typeface="Cambria" pitchFamily="34" charset="-122"/>
                          <a:cs typeface="Cambria" pitchFamily="34" charset="-120"/>
                        </a:rPr>
                        <a:t>2</a:t>
                      </a:r>
                      <a:endParaRPr lang="en-US" sz="16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MV-22 Readiness Manipulation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i="1" dirty="0">
                          <a:solidFill>
                            <a:srgbClr val="14193D"/>
                          </a:solidFill>
                          <a:latin typeface="Calibri" pitchFamily="34" charset="0"/>
                          <a:ea typeface="Calibri" pitchFamily="34" charset="-122"/>
                          <a:cs typeface="Calibri" pitchFamily="34" charset="-120"/>
                        </a:rPr>
                        <a:t>Marine Aviation Maintenance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Career and criminal exposure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Path C.</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77240">
                <a:tc>
                  <a:txBody>
                    <a:bodyPr/>
                    <a:lstStyle/>
                    <a:p>
                      <a:pPr algn="ctr" indent="0" marL="0">
                        <a:buNone/>
                      </a:pPr>
                      <a:r>
                        <a:rPr lang="en-US" sz="1600" b="1" dirty="0">
                          <a:solidFill>
                            <a:srgbClr val="B85042"/>
                          </a:solidFill>
                          <a:latin typeface="Cambria" pitchFamily="34" charset="0"/>
                          <a:ea typeface="Cambria" pitchFamily="34" charset="-122"/>
                          <a:cs typeface="Cambria" pitchFamily="34" charset="-120"/>
                        </a:rPr>
                        <a:t>3</a:t>
                      </a:r>
                      <a:endParaRPr lang="en-US" sz="16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The General's Personal-Travel TDY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i="1" dirty="0">
                          <a:solidFill>
                            <a:srgbClr val="14193D"/>
                          </a:solidFill>
                          <a:latin typeface="Calibri" pitchFamily="34" charset="0"/>
                          <a:ea typeface="Calibri" pitchFamily="34" charset="-122"/>
                          <a:cs typeface="Calibri" pitchFamily="34" charset="-120"/>
                        </a:rPr>
                        <a:t>General Officer Travel / Joint Travel Regulations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Legal exposure as the primary risk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Path 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r>
              <a:tr h="777240">
                <a:tc>
                  <a:txBody>
                    <a:bodyPr/>
                    <a:lstStyle/>
                    <a:p>
                      <a:pPr algn="ctr" indent="0" marL="0">
                        <a:buNone/>
                      </a:pPr>
                      <a:r>
                        <a:rPr lang="en-US" sz="1600" b="1" dirty="0">
                          <a:solidFill>
                            <a:srgbClr val="B85042"/>
                          </a:solidFill>
                          <a:latin typeface="Cambria" pitchFamily="34" charset="0"/>
                          <a:ea typeface="Cambria" pitchFamily="34" charset="-122"/>
                          <a:cs typeface="Cambria" pitchFamily="34" charset="-120"/>
                        </a:rPr>
                        <a:t>4</a:t>
                      </a:r>
                      <a:endParaRPr lang="en-US" sz="16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The Inherited Earthquake-Risk Apartment Building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i="1" dirty="0">
                          <a:solidFill>
                            <a:srgbClr val="14193D"/>
                          </a:solidFill>
                          <a:latin typeface="Calibri" pitchFamily="34" charset="0"/>
                          <a:ea typeface="Calibri" pitchFamily="34" charset="-122"/>
                          <a:cs typeface="Calibri" pitchFamily="34" charset="-120"/>
                        </a:rPr>
                        <a:t>Embassy Facility Operations / Diplomatic Security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Mixed: career, legal, and moral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Path 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77240">
                <a:tc>
                  <a:txBody>
                    <a:bodyPr/>
                    <a:lstStyle/>
                    <a:p>
                      <a:pPr algn="ctr" indent="0" marL="0">
                        <a:buNone/>
                      </a:pPr>
                      <a:r>
                        <a:rPr lang="en-US" sz="1600" b="1" dirty="0">
                          <a:solidFill>
                            <a:srgbClr val="B85042"/>
                          </a:solidFill>
                          <a:latin typeface="Cambria" pitchFamily="34" charset="0"/>
                          <a:ea typeface="Cambria" pitchFamily="34" charset="-122"/>
                          <a:cs typeface="Cambria" pitchFamily="34" charset="-120"/>
                        </a:rPr>
                        <a:t>5</a:t>
                      </a:r>
                      <a:endParaRPr lang="en-US" sz="1600" dirty="0">
                        <a:latin typeface="Cambria" charset="0"/>
                        <a:ea typeface="Cambria" charset="0"/>
                        <a:cs typeface="Cambr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Battalion Body Composition Pre-Inspection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i="1" dirty="0">
                          <a:solidFill>
                            <a:srgbClr val="14193D"/>
                          </a:solidFill>
                          <a:latin typeface="Calibri" pitchFamily="34" charset="0"/>
                          <a:ea typeface="Calibri" pitchFamily="34" charset="-122"/>
                          <a:cs typeface="Calibri" pitchFamily="34" charset="-120"/>
                        </a:rPr>
                        <a:t>Army Body Composition Program (AR 600-9)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Career risk dominant, with material legal exposure if the manipulation is discovered or, worse, if a Soldier is harmed downstream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c>
                  <a:txBody>
                    <a:bodyPr/>
                    <a:lstStyle/>
                    <a:p>
                      <a:pPr indent="0" marL="0">
                        <a:buNone/>
                      </a:pPr>
                      <a:r>
                        <a:rPr lang="en-US" sz="1000" dirty="0">
                          <a:solidFill>
                            <a:srgbClr val="14193D"/>
                          </a:solidFill>
                          <a:latin typeface="Calibri" pitchFamily="34" charset="0"/>
                          <a:ea typeface="Calibri" pitchFamily="34" charset="-122"/>
                          <a:cs typeface="Calibri" pitchFamily="34" charset="-120"/>
                        </a:rPr>
                        <a:t>Path 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1EC"/>
                    </a:solidFill>
                  </a:tcPr>
                </a:tc>
              </a:tr>
            </a:tbl>
          </a:graphicData>
        </a:graphic>
      </p:graphicFrame>
      <p:sp>
        <p:nvSpPr>
          <p:cNvPr id="6" name="Shape 3"/>
          <p:cNvSpPr/>
          <p:nvPr/>
        </p:nvSpPr>
        <p:spPr>
          <a:xfrm>
            <a:off x="0" y="6803136"/>
            <a:ext cx="12161520" cy="54864"/>
          </a:xfrm>
          <a:prstGeom prst="rect">
            <a:avLst/>
          </a:prstGeom>
          <a:solidFill>
            <a:srgbClr val="1E2761"/>
          </a:solidFill>
          <a:ln w="12700">
            <a:solidFill>
              <a:srgbClr val="1E2761"/>
            </a:solidFill>
            <a:prstDash val="solid"/>
          </a:ln>
        </p:spPr>
      </p:sp>
      <p:sp>
        <p:nvSpPr>
          <p:cNvPr id="7" name="Text 4"/>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Facilitator Quick Reference</a:t>
            </a:r>
            <a:endParaRPr lang="en-US" sz="1000" dirty="0"/>
          </a:p>
        </p:txBody>
      </p:sp>
      <p:sp>
        <p:nvSpPr>
          <p:cNvPr id="8" name="Text 5"/>
          <p:cNvSpPr/>
          <p:nvPr/>
        </p:nvSpPr>
        <p:spPr>
          <a:xfrm>
            <a:off x="8046720" y="6473952"/>
            <a:ext cx="36576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Ethical Decision-Making Simulator</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193D"/>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5042"/>
          </a:solidFill>
          <a:ln w="12700">
            <a:solidFill>
              <a:srgbClr val="B85042"/>
            </a:solidFill>
            <a:prstDash val="solid"/>
          </a:ln>
        </p:spPr>
      </p:sp>
      <p:sp>
        <p:nvSpPr>
          <p:cNvPr id="3" name="Text 1"/>
          <p:cNvSpPr/>
          <p:nvPr/>
        </p:nvSpPr>
        <p:spPr>
          <a:xfrm>
            <a:off x="914400" y="1645920"/>
            <a:ext cx="10515600" cy="365760"/>
          </a:xfrm>
          <a:prstGeom prst="rect">
            <a:avLst/>
          </a:prstGeom>
          <a:noFill/>
          <a:ln/>
        </p:spPr>
        <p:txBody>
          <a:bodyPr wrap="square" lIns="0" tIns="0" rIns="0" bIns="0" rtlCol="0" anchor="ctr"/>
          <a:lstStyle/>
          <a:p>
            <a:pPr indent="0" marL="0">
              <a:buNone/>
            </a:pPr>
            <a:r>
              <a:rPr lang="en-US" sz="1200" b="1" spc="600" kern="0" dirty="0">
                <a:solidFill>
                  <a:srgbClr val="B85042"/>
                </a:solidFill>
                <a:latin typeface="Calibri" pitchFamily="34" charset="0"/>
                <a:ea typeface="Calibri" pitchFamily="34" charset="-122"/>
                <a:cs typeface="Calibri" pitchFamily="34" charset="-120"/>
              </a:rPr>
              <a:t>A CLOSING THOUGHT</a:t>
            </a:r>
            <a:endParaRPr lang="en-US" sz="1200" dirty="0"/>
          </a:p>
        </p:txBody>
      </p:sp>
      <p:sp>
        <p:nvSpPr>
          <p:cNvPr id="4" name="Shape 2"/>
          <p:cNvSpPr/>
          <p:nvPr/>
        </p:nvSpPr>
        <p:spPr>
          <a:xfrm>
            <a:off x="914400" y="2194560"/>
            <a:ext cx="146304" cy="3291840"/>
          </a:xfrm>
          <a:prstGeom prst="rect">
            <a:avLst/>
          </a:prstGeom>
          <a:solidFill>
            <a:srgbClr val="B85042"/>
          </a:solidFill>
          <a:ln w="12700">
            <a:solidFill>
              <a:srgbClr val="B85042"/>
            </a:solidFill>
            <a:prstDash val="solid"/>
          </a:ln>
        </p:spPr>
      </p:sp>
      <p:sp>
        <p:nvSpPr>
          <p:cNvPr id="5" name="Text 3"/>
          <p:cNvSpPr/>
          <p:nvPr/>
        </p:nvSpPr>
        <p:spPr>
          <a:xfrm>
            <a:off x="1280160" y="2194560"/>
            <a:ext cx="10058400" cy="2743200"/>
          </a:xfrm>
          <a:prstGeom prst="rect">
            <a:avLst/>
          </a:prstGeom>
          <a:noFill/>
          <a:ln/>
        </p:spPr>
        <p:txBody>
          <a:bodyPr wrap="square" lIns="0" tIns="0" rIns="0" bIns="0" rtlCol="0" anchor="ctr"/>
          <a:lstStyle/>
          <a:p>
            <a:pPr indent="0" marL="0">
              <a:buNone/>
            </a:pPr>
            <a:r>
              <a:rPr lang="en-US" sz="3200" b="1" i="1" dirty="0">
                <a:solidFill>
                  <a:srgbClr val="FFFFFF"/>
                </a:solidFill>
                <a:latin typeface="Cambria" pitchFamily="34" charset="0"/>
                <a:ea typeface="Cambria" pitchFamily="34" charset="-122"/>
                <a:cs typeface="Cambria" pitchFamily="34" charset="-120"/>
              </a:rPr>
              <a:t>“The duty of a follower is not to please the leader. It is to keep the leader in a position to lead.”</a:t>
            </a:r>
            <a:endParaRPr lang="en-US" sz="3200" dirty="0"/>
          </a:p>
        </p:txBody>
      </p:sp>
      <p:sp>
        <p:nvSpPr>
          <p:cNvPr id="6" name="Text 4"/>
          <p:cNvSpPr/>
          <p:nvPr/>
        </p:nvSpPr>
        <p:spPr>
          <a:xfrm>
            <a:off x="1280160" y="5029200"/>
            <a:ext cx="100584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 Adapted from Chaleff, The Courageous Follower</a:t>
            </a:r>
            <a:endParaRPr lang="en-US" sz="1400" dirty="0"/>
          </a:p>
        </p:txBody>
      </p:sp>
      <p:sp>
        <p:nvSpPr>
          <p:cNvPr id="7" name="Text 5"/>
          <p:cNvSpPr/>
          <p:nvPr/>
        </p:nvSpPr>
        <p:spPr>
          <a:xfrm>
            <a:off x="914400" y="6035040"/>
            <a:ext cx="10332720" cy="274320"/>
          </a:xfrm>
          <a:prstGeom prst="rect">
            <a:avLst/>
          </a:prstGeom>
          <a:noFill/>
          <a:ln/>
        </p:spPr>
        <p:txBody>
          <a:bodyPr wrap="square" lIns="0" tIns="0" rIns="0" bIns="0" rtlCol="0" anchor="ctr"/>
          <a:lstStyle/>
          <a:p>
            <a:pPr indent="0" marL="0">
              <a:buNone/>
            </a:pPr>
            <a:r>
              <a:rPr lang="en-US" sz="1100" spc="300" kern="0" dirty="0">
                <a:solidFill>
                  <a:srgbClr val="94A3B8"/>
                </a:solidFill>
                <a:latin typeface="Calibri" pitchFamily="34" charset="0"/>
                <a:ea typeface="Calibri" pitchFamily="34" charset="-122"/>
                <a:cs typeface="Calibri" pitchFamily="34" charset="-120"/>
              </a:rPr>
              <a:t>End of course package  |  v1.0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Decision-Making Simulator</dc:title>
  <dc:subject>PptxGenJS Presentation</dc:subject>
  <dc:creator>Course Development</dc:creator>
  <cp:lastModifiedBy>Course Development</cp:lastModifiedBy>
  <cp:revision>1</cp:revision>
  <dcterms:created xsi:type="dcterms:W3CDTF">2026-04-28T16:04:39Z</dcterms:created>
  <dcterms:modified xsi:type="dcterms:W3CDTF">2026-04-28T16:04:39Z</dcterms:modified>
</cp:coreProperties>
</file>